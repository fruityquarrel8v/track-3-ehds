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17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itch (3 minutes)" id="{a286ff6b-cec8-f438-5ec4-26517b8e0071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Backup (questions only)" id="{36b52327-fe30-0063-ebe0-4555effa0727}">
          <p14:sldIdLst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HERO_OPEN-image-1.jpeg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HERO_CLOSE-image-1.jpeg"/><Relationship Id="rId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_OPE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48640"/>
            <a:ext cx="10817352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spc="200" kern="0" dirty="0">
                <a:solidFill>
                  <a:srgbClr val="BDB3F6"/>
                </a:solidFill>
                <a:latin typeface="IBM Plex Mono" panose="020B0509050203000203" pitchFamily="49" charset="0"/>
                <a:ea typeface="IBM Plex Mono" panose="020B0509050203000203" pitchFamily="49" charset="-122"/>
                <a:cs typeface="IBM Plex Mono" panose="020B0509050203000203" pitchFamily="49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600200"/>
            <a:ext cx="7269480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2000"/>
              </a:lnSpc>
              <a:buNone/>
              <a:defRPr lang="en-US" sz="7600" dirty="0">
                <a:solidFill>
                  <a:srgbClr val="FAFAF8"/>
                </a:solidFill>
                <a:latin typeface="Instrument Serif" panose="02020603050405020304" pitchFamily="18" charset="0"/>
                <a:ea typeface="Instrument Serif" panose="02020603050405020304" pitchFamily="18" charset="-122"/>
                <a:cs typeface="Instrument Serif" panose="02020603050405020304" pitchFamily="18" charset="-120"/>
              </a:defRPr>
            </a:lvl1pPr>
          </a:lstStyle>
          <a:p>
            <a:pPr algn="l" indent="0" marL="0">
              <a:lnSpc>
                <a:spcPct val="92000"/>
              </a:lnSpc>
              <a:buNone/>
            </a:pPr>
            <a:endParaRPr lang="en-US" sz="7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_CLOS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48640"/>
            <a:ext cx="10817352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spc="200" kern="0" dirty="0">
                <a:solidFill>
                  <a:srgbClr val="BDB3F6"/>
                </a:solidFill>
                <a:latin typeface="IBM Plex Mono" panose="020B0509050203000203" pitchFamily="49" charset="0"/>
                <a:ea typeface="IBM Plex Mono" panose="020B0509050203000203" pitchFamily="49" charset="-122"/>
                <a:cs typeface="IBM Plex Mono" panose="020B0509050203000203" pitchFamily="49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051560"/>
            <a:ext cx="10817352" cy="1783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5000" dirty="0">
                <a:solidFill>
                  <a:srgbClr val="FAFAF8"/>
                </a:solidFill>
                <a:latin typeface="Instrument Serif" panose="02020603050405020304" pitchFamily="18" charset="0"/>
                <a:ea typeface="Instrument Serif" panose="02020603050405020304" pitchFamily="18" charset="-122"/>
                <a:cs typeface="Instrument Serif" panose="02020603050405020304" pitchFamily="18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5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E2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7336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A3B1C8"/>
                </a:solidFill>
                <a:latin typeface="IBM Plex Mono" panose="020B0509050203000203" pitchFamily="49" charset="0"/>
                <a:ea typeface="IBM Plex Mono" panose="020B0509050203000203" pitchFamily="49" charset="-122"/>
                <a:cs typeface="IBM Plex Mono" panose="020B0509050203000203" pitchFamily="49" charset="-120"/>
              </a:rPr>
              <a:t>HEALTHCARE ROCKET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309360" y="63733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20" kern="0" dirty="0">
                <a:solidFill>
                  <a:srgbClr val="A3B1C8"/>
                </a:solidFill>
                <a:latin typeface="IBM Plex Mono" panose="020B0509050203000203" pitchFamily="49" charset="0"/>
                <a:ea typeface="IBM Plex Mono" panose="020B0509050203000203" pitchFamily="49" charset="-122"/>
                <a:cs typeface="IBM Plex Mono" panose="020B0509050203000203" pitchFamily="49" charset="-120"/>
              </a:rPr>
              <a:t>TRACK 3  ·  EUROPEAN HEALTH DATA SPACE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spc="200" kern="0" dirty="0">
                <a:solidFill>
                  <a:srgbClr val="BDB3F6"/>
                </a:solidFill>
                <a:latin typeface="IBM Plex Mono" panose="020B0509050203000203" pitchFamily="49" charset="0"/>
                <a:ea typeface="IBM Plex Mono" panose="020B0509050203000203" pitchFamily="49" charset="-122"/>
                <a:cs typeface="IBM Plex Mono" panose="020B0509050203000203" pitchFamily="49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685800" y="822960"/>
            <a:ext cx="10817352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2000"/>
              </a:lnSpc>
              <a:buNone/>
              <a:defRPr lang="en-US" sz="4600" dirty="0">
                <a:solidFill>
                  <a:srgbClr val="FAFAF8"/>
                </a:solidFill>
                <a:latin typeface="Instrument Serif" panose="02020603050405020304" pitchFamily="18" charset="0"/>
                <a:ea typeface="Instrument Serif" panose="02020603050405020304" pitchFamily="18" charset="-122"/>
                <a:cs typeface="Instrument Serif" panose="02020603050405020304" pitchFamily="18" charset="-120"/>
              </a:defRPr>
            </a:lvl1pPr>
          </a:lstStyle>
          <a:p>
            <a:pPr algn="l" indent="0" marL="0">
              <a:lnSpc>
                <a:spcPct val="92000"/>
              </a:lnSpc>
              <a:buNone/>
            </a:pPr>
            <a:endParaRPr lang="en-US" sz="4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733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A3B1C8"/>
                </a:solidFill>
                <a:latin typeface="IBM Plex Mono" panose="020B0509050203000203" pitchFamily="49" charset="0"/>
                <a:ea typeface="IBM Plex Mono" panose="020B0509050203000203" pitchFamily="49" charset="0"/>
                <a:cs typeface="IBM Plex Mono" panose="020B0509050203000203" pitchFamily="49" charset="0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SPLIT">
    <p:bg>
      <p:bgPr>
        <a:solidFill>
          <a:srgbClr val="0E2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7336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A3B1C8"/>
                </a:solidFill>
                <a:latin typeface="IBM Plex Mono" panose="020B0509050203000203" pitchFamily="49" charset="0"/>
                <a:ea typeface="IBM Plex Mono" panose="020B0509050203000203" pitchFamily="49" charset="-122"/>
                <a:cs typeface="IBM Plex Mono" panose="020B0509050203000203" pitchFamily="49" charset="-120"/>
              </a:rPr>
              <a:t>HEALTHCARE ROCKET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309360" y="63733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20" kern="0" dirty="0">
                <a:solidFill>
                  <a:srgbClr val="A3B1C8"/>
                </a:solidFill>
                <a:latin typeface="IBM Plex Mono" panose="020B0509050203000203" pitchFamily="49" charset="0"/>
                <a:ea typeface="IBM Plex Mono" panose="020B0509050203000203" pitchFamily="49" charset="-122"/>
                <a:cs typeface="IBM Plex Mono" panose="020B0509050203000203" pitchFamily="49" charset="-120"/>
              </a:rPr>
              <a:t>TRACK 3  ·  EUROPEAN HEALTH DATA SPACE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685800" y="502920"/>
            <a:ext cx="44805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spc="200" kern="0" dirty="0">
                <a:solidFill>
                  <a:srgbClr val="BDB3F6"/>
                </a:solidFill>
                <a:latin typeface="IBM Plex Mono" panose="020B0509050203000203" pitchFamily="49" charset="0"/>
                <a:ea typeface="IBM Plex Mono" panose="020B0509050203000203" pitchFamily="49" charset="-122"/>
                <a:cs typeface="IBM Plex Mono" panose="020B0509050203000203" pitchFamily="49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685800" y="822960"/>
            <a:ext cx="45720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2000"/>
              </a:lnSpc>
              <a:buNone/>
              <a:defRPr lang="en-US" sz="4600" dirty="0">
                <a:solidFill>
                  <a:srgbClr val="FAFAF8"/>
                </a:solidFill>
                <a:latin typeface="Instrument Serif" panose="02020603050405020304" pitchFamily="18" charset="0"/>
                <a:ea typeface="Instrument Serif" panose="02020603050405020304" pitchFamily="18" charset="-122"/>
                <a:cs typeface="Instrument Serif" panose="02020603050405020304" pitchFamily="18" charset="-120"/>
              </a:defRPr>
            </a:lvl1pPr>
          </a:lstStyle>
          <a:p>
            <a:pPr algn="l" indent="0" marL="0">
              <a:lnSpc>
                <a:spcPct val="92000"/>
              </a:lnSpc>
              <a:buNone/>
            </a:pPr>
            <a:endParaRPr lang="en-US" sz="4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733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A3B1C8"/>
                </a:solidFill>
                <a:latin typeface="IBM Plex Mono" panose="020B0509050203000203" pitchFamily="49" charset="0"/>
                <a:ea typeface="IBM Plex Mono" panose="020B0509050203000203" pitchFamily="49" charset="0"/>
                <a:cs typeface="IBM Plex Mono" panose="020B0509050203000203" pitchFamily="49" charset="0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STAGE">
    <p:bg>
      <p:bgPr>
        <a:solidFill>
          <a:srgbClr val="0E2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7336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A3B1C8"/>
                </a:solidFill>
                <a:latin typeface="IBM Plex Mono" panose="020B0509050203000203" pitchFamily="49" charset="0"/>
                <a:ea typeface="IBM Plex Mono" panose="020B0509050203000203" pitchFamily="49" charset="-122"/>
                <a:cs typeface="IBM Plex Mono" panose="020B0509050203000203" pitchFamily="49" charset="-120"/>
              </a:rPr>
              <a:t>HEALTHCARE ROCKET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309360" y="63733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20" kern="0" dirty="0">
                <a:solidFill>
                  <a:srgbClr val="A3B1C8"/>
                </a:solidFill>
                <a:latin typeface="IBM Plex Mono" panose="020B0509050203000203" pitchFamily="49" charset="0"/>
                <a:ea typeface="IBM Plex Mono" panose="020B0509050203000203" pitchFamily="49" charset="-122"/>
                <a:cs typeface="IBM Plex Mono" panose="020B0509050203000203" pitchFamily="49" charset="-120"/>
              </a:rPr>
              <a:t>TRACK 3  ·  EUROPEAN HEALTH DATA SPACE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685800" y="502920"/>
            <a:ext cx="60350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spc="200" kern="0" dirty="0">
                <a:solidFill>
                  <a:srgbClr val="BDB3F6"/>
                </a:solidFill>
                <a:latin typeface="IBM Plex Mono" panose="020B0509050203000203" pitchFamily="49" charset="0"/>
                <a:ea typeface="IBM Plex Mono" panose="020B0509050203000203" pitchFamily="49" charset="-122"/>
                <a:cs typeface="IBM Plex Mono" panose="020B0509050203000203" pitchFamily="49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685800" y="4443984"/>
            <a:ext cx="10817352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4000" dirty="0">
                <a:solidFill>
                  <a:srgbClr val="FAFAF8"/>
                </a:solidFill>
                <a:latin typeface="Instrument Serif" panose="02020603050405020304" pitchFamily="18" charset="0"/>
                <a:ea typeface="Instrument Serif" panose="02020603050405020304" pitchFamily="18" charset="-122"/>
                <a:cs typeface="Instrument Serif" panose="02020603050405020304" pitchFamily="18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733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A3B1C8"/>
                </a:solidFill>
                <a:latin typeface="IBM Plex Mono" panose="020B0509050203000203" pitchFamily="49" charset="0"/>
                <a:ea typeface="IBM Plex Mono" panose="020B0509050203000203" pitchFamily="49" charset="0"/>
                <a:cs typeface="IBM Plex Mono" panose="020B0509050203000203" pitchFamily="49" charset="0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BACKUP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7336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5B6577"/>
                </a:solidFill>
                <a:latin typeface="IBM Plex Mono" panose="020B0509050203000203" pitchFamily="49" charset="0"/>
                <a:ea typeface="IBM Plex Mono" panose="020B0509050203000203" pitchFamily="49" charset="-122"/>
                <a:cs typeface="IBM Plex Mono" panose="020B0509050203000203" pitchFamily="49" charset="-120"/>
              </a:rPr>
              <a:t>BACKUP  ·  HEALTHCARE ROCKET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309360" y="63733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20" kern="0" dirty="0">
                <a:solidFill>
                  <a:srgbClr val="5B6577"/>
                </a:solidFill>
                <a:latin typeface="IBM Plex Mono" panose="020B0509050203000203" pitchFamily="49" charset="0"/>
                <a:ea typeface="IBM Plex Mono" panose="020B0509050203000203" pitchFamily="49" charset="-122"/>
                <a:cs typeface="IBM Plex Mono" panose="020B0509050203000203" pitchFamily="49" charset="-120"/>
              </a:rPr>
              <a:t>TRACK 3  ·  EUROPEAN HEALTH DATA SPACE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685800" y="457200"/>
            <a:ext cx="10817352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spc="200" kern="0" dirty="0">
                <a:solidFill>
                  <a:srgbClr val="4B4DB8"/>
                </a:solidFill>
                <a:latin typeface="IBM Plex Mono" panose="020B0509050203000203" pitchFamily="49" charset="0"/>
                <a:ea typeface="IBM Plex Mono" panose="020B0509050203000203" pitchFamily="49" charset="-122"/>
                <a:cs typeface="IBM Plex Mono" panose="020B0509050203000203" pitchFamily="49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685800" y="749808"/>
            <a:ext cx="1081735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rgbClr val="0E2848"/>
                </a:solidFill>
                <a:latin typeface="Instrument Serif" panose="02020603050405020304" pitchFamily="18" charset="0"/>
                <a:ea typeface="Instrument Serif" panose="02020603050405020304" pitchFamily="18" charset="-122"/>
                <a:cs typeface="Instrument Serif" panose="02020603050405020304" pitchFamily="18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733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5B6577"/>
                </a:solidFill>
                <a:latin typeface="IBM Plex Mono" panose="020B0509050203000203" pitchFamily="49" charset="0"/>
                <a:ea typeface="IBM Plex Mono" panose="020B0509050203000203" pitchFamily="49" charset="0"/>
                <a:cs typeface="IBM Plex Mono" panose="020B0509050203000203" pitchFamily="49" charset="0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733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A3B1C8"/>
                </a:solidFill>
                <a:latin typeface="IBM Plex Mono" panose="020B0509050203000203" pitchFamily="49" charset="0"/>
                <a:ea typeface="IBM Plex Mono" panose="020B0509050203000203" pitchFamily="49" charset="0"/>
                <a:cs typeface="IBM Plex Mono" panose="020B0509050203000203" pitchFamily="49" charset="0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ONE-MINUTE PITCH  ·  AIM HEALTHCARE HACKATHON VIENNA 2026  ·  TRACK 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>
          <a:xfrm>
            <a:off x="731520" y="822960"/>
            <a:ext cx="7315200" cy="822960"/>
          </a:xfrm>
        </p:spPr>
        <p:txBody>
          <a:bodyPr/>
          <a:lstStyle/>
          <a:p>
            <a:r>
              <a:rPr sz="4800"/>
              <a:t>HealthCare Rocket</a:t>
            </a:r>
          </a:p>
        </p:txBody>
      </p:sp>
      <p:pic>
        <p:nvPicPr>
          <p:cNvPr id="4" name="Picture 3" descr="ro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914400"/>
            <a:ext cx="562281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5544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i="1">
                <a:solidFill>
                  <a:srgbClr val="B8B4F5"/>
                </a:solidFill>
                <a:latin typeface="Instrument Serif"/>
              </a:rPr>
              <a:t>As fast as a rocket. Without the complexity.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3566160" cy="3383280"/>
          </a:xfrm>
          <a:prstGeom prst="rect">
            <a:avLst/>
          </a:prstGeom>
          <a:solidFill>
            <a:srgbClr val="1E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/>
          <a:lstStyle/>
          <a:p>
            <a:pPr algn="ctr"/>
            <a:r>
              <a:rPr sz="1100" b="1">
                <a:solidFill>
                  <a:srgbClr val="F26B5E"/>
                </a:solidFill>
                <a:latin typeface="Inter"/>
              </a:rPr>
              <a:t>THE PROBLEM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FFFFFF"/>
                </a:solidFill>
                <a:latin typeface="Inter"/>
              </a:rPr>
              <a:t>Two safe answers can reveal a secret.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FFFFFF"/>
                </a:solidFill>
                <a:latin typeface="Inter"/>
              </a:rPr>
              <a:t>Women 45–74 with breast cancer: Austria 72, without Burgenland 71 → one identifiable woman. Both pass the “&lt;10” rule.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FFFFFF"/>
                </a:solidFill>
                <a:latin typeface="Inter"/>
              </a:rPr>
              <a:t>Researchers also face JSON, code systems and slow processes.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2103120"/>
            <a:ext cx="3566160" cy="3383280"/>
          </a:xfrm>
          <a:prstGeom prst="rect">
            <a:avLst/>
          </a:prstGeom>
          <a:solidFill>
            <a:srgbClr val="1E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/>
          <a:lstStyle/>
          <a:p>
            <a:pPr algn="ctr"/>
            <a:r>
              <a:rPr sz="1100" b="1">
                <a:solidFill>
                  <a:srgbClr val="F26B5E"/>
                </a:solidFill>
                <a:latin typeface="Inter"/>
              </a:rPr>
              <a:t>WHAT WE BUILT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FFFFFF"/>
                </a:solidFill>
                <a:latin typeface="Inter"/>
              </a:rPr>
              <a:t>Ask in plain language → rule-based interpretation (ICD-10 · ATC · LOINC) → EHDS decision (Art. 53/54 first) → deterministic statistics → small-cell rule → disclosure ledger that withholds differencing results → decision with reasons.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FFFFFF"/>
                </a:solidFill>
                <a:latin typeface="Inter"/>
              </a:rPr>
              <a:t>No AI model touches patient data; nothing leaves the machine.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2103120"/>
            <a:ext cx="3200400" cy="3383280"/>
          </a:xfrm>
          <a:prstGeom prst="rect">
            <a:avLst/>
          </a:prstGeom>
          <a:solidFill>
            <a:srgbClr val="1E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/>
          <a:lstStyle/>
          <a:p>
            <a:pPr algn="ctr"/>
            <a:r>
              <a:rPr sz="1100" b="1">
                <a:solidFill>
                  <a:srgbClr val="F26B5E"/>
                </a:solidFill>
                <a:latin typeface="Inter"/>
              </a:rPr>
              <a:t>MEASURED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FFFFFF"/>
                </a:solidFill>
                <a:latin typeface="Inter"/>
              </a:rPr>
              <a:t>Decisions 10 of 10 · Numbers 6 of 6 · Privacy leaks 0 · Consistency 10 of 10 · Slowest answer 0.25 s · 208 automated tests pass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FFFFFF"/>
                </a:solidFill>
                <a:latin typeface="Inter"/>
              </a:rPr>
              <a:t>Working: everything above, on synthetic data. Simulated: HDAB decisions, SPE. Future: AI adapters, OMOP/FHIR, pilot with access bodies.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/>
          <a:lstStyle/>
          <a:p>
            <a:pPr algn="ctr"/>
            <a:r>
              <a:rPr sz="1100" b="1">
                <a:solidFill>
                  <a:srgbClr val="F26B5E"/>
                </a:solidFill>
                <a:latin typeface="Inter"/>
              </a:rPr>
              <a:t>Synthetic data only  ·  decisions are a demonstration, not legally binding  ·  github.com/fruityquarrel8v/TRACK-3-ehds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teway Pitch">
  <a:themeElements>
    <a:clrScheme name="Gateway Pitch">
      <a:dk1>
        <a:srgbClr val="0E2848"/>
      </a:dk1>
      <a:lt1>
        <a:srgbClr val="FAFAF8"/>
      </a:lt1>
      <a:dk2>
        <a:srgbClr val="15335A"/>
      </a:dk2>
      <a:lt2>
        <a:srgbClr val="F0EEEA"/>
      </a:lt2>
      <a:accent1>
        <a:srgbClr val="BDB3F6"/>
      </a:accent1>
      <a:accent2>
        <a:srgbClr val="EEEAF8"/>
      </a:accent2>
      <a:accent3>
        <a:srgbClr val="EAF2F0"/>
      </a:accent3>
      <a:accent4>
        <a:srgbClr val="FAEEE8"/>
      </a:accent4>
      <a:accent5>
        <a:srgbClr val="F2675C"/>
      </a:accent5>
      <a:accent6>
        <a:srgbClr val="5A5CC8"/>
      </a:accent6>
      <a:hlink>
        <a:srgbClr val="5A5CC8"/>
      </a:hlink>
      <a:folHlink>
        <a:srgbClr val="4B4DB8"/>
      </a:folHlink>
    </a:clrScheme>
    <a:fontScheme name="Gateway Pitch">
      <a:majorFont>
        <a:latin typeface="Instrument Serif" panose="02020603050405020304" pitchFamily="18" charset="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 panose="02000503000000020004" pitchFamily="34" charset="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Health Data Access Gateway</dc:title>
  <dc:subject>AIM Healthcare Hackathon Vienna 2026, Track 3: European Health Data Space</dc:subject>
  <dc:creator>Intelligent Health Data Access Gateway team</dc:creator>
  <cp:lastModifiedBy>Intelligent Health Data Access Gateway team</cp:lastModifiedBy>
  <cp:revision>1</cp:revision>
  <dcterms:created xsi:type="dcterms:W3CDTF">2026-10-30T09:04:47Z</dcterms:created>
  <dcterms:modified xsi:type="dcterms:W3CDTF">2026-10-30T09:04:47Z</dcterms:modified>
</cp:coreProperties>
</file>