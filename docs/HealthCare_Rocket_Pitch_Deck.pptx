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3 minutes)" id="{a286ff6b-cec8-f438-5ec4-26517b8e0071}">
          <p14:sldIdLst>
            <p14:sldId id="256"/>
            <p14:sldId id="257"/>
            <p14:sldId id="258"/>
            <p14:sldId id="259"/>
            <p14:sldId id="260"/>
            <p14:sldId id="261"/>
          </p14:sldIdLst>
        </p14:section>
        <p14:section name="Backup (questions only)" id="{36b52327-fe30-0063-ebe0-4555effa0727}">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CAN TWO SAFE ANSWERS REVEAL A SECRET?
SCRIPT, about 20 seconds
What if a system follows every privacy rule and still reveals what those rules protect?
The European Health Data Space will open health data for research, mostly as anonymised statistics. One of its simplest safeguards: never publish a count below ten.
Here is why that is not enough.
TRANSITION: Advance on "Here is why".
BEFORE PRESENTING: Pause for a full second after the opening question and look at the jury, not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72 − 71 = 1
SCRIPT, about 37 seconds
Two questions. How many women aged 45 to 74 have breast cancer in Austria? Seventy-two. Above ten, so it is released.
[CLICK] The same question, excluding Burgenland. Seventy-one. Also released.
[CLICK] But seventy-two minus seventy-one is one. Exactly one woman in Burgenland. We don't know who she is, but we have revealed exactly the small number the rule exists to hide. In statistical disclosure control this is called a differencing attack, and these are real counts from the hackathon's synthetic dataset.
Both answers pass the rule. Together, they break the protection.
TRANSITION: Advance while saying "That is why we designed".
BEFORE PRESENTING: Verified on the official dataset: female, ICD-10 C50, aged 45 to 74 on 31 December 2025 (2025 minus birth year), opted-out patients excluded. Austria 72, without Burgenland 71. Without the age band the pair is 114 and 112, a gap of 2. Why 45 to 74: it is the age band of the Austrian breast screening programme. PowerPoint builds this slide in two clicks; the PDF shows everything at once, so skip the click cues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ALLOWED IS NOT THE SAME AS SAFE
SCRIPT, about 32 seconds
That is why we designed the Intelligent Health Data Access Gateway around two checks.
First: is the request allowed? Is the purpose permitted, are statistics enough, what is the minimum data, who has opted out.
Second: is the answer safe, given everything released before? Our prototype already records every release in a disclosure ledger. The goal is to withhold an answer like seventy-one; that part we have not verified yet.
Allowed is not the same as safe.
TRANSITION: "Safety only matters" leads into slide 4.
BEFORE PRESENTING: The ledger exists (Devin's verification); whether it stops differencing attacks is not verified. Keep IN TESTING and "not yet verified" until you have seen it withhold 71 after 72, and never say it prevents differencing attacks before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THE COMPLEXITY SHOULD BE IN THE SYSTEM
SCRIPT, about 37 seconds
Safety only matters if researchers can use the system. I'm a medical researcher myself, and I don't think anyone should need JSON or code just to ask a clinical question.
In our prototype, you describe your question in your own words and see how it was understood. If something is missing, like the purpose or a criterion, the app asks for it. Prefer structure? Build it step by step; the advanced options are still there, just tucked away.
The complexity should be in the system, not in the researcher's experience.
TRANSITION: "Underneath" leads into slide 5.
BEFORE PRESENTING: Markers 1, 3 and 4 point to the real screenshots. Step 5, authorised statistics, is IN TESTING, so make no claim about results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READ THE WORDS. PROTECT THE DATA.
SCRIPT, about 33 seconds
Underneath, interpretation is kept apart from everything that touches patient data.
Today the interpreter is rule-based, using patterns and medical dictionaries; it never sees a patient record or calculates a number. AI model adapters exist for later, but are not connected or tested.
[OPTIONAL, only if accurate] As someone who researches AI safety in healthcare: a model can stay optional, the protection cannot.
After that, everything is deterministic: rules decide access, code computes the statistics, and privacy enforcement hides small numbers and records every release. All of this is built and in testing.
Read the words. Protect the data.
OPTIONAL LINE: Only with verified results, in place of "All of this is built and in testing": "On the ten official requests we reached [X] of 10 correct decisions, [X] of 6 correct numbers and zero privacy leaks." Then update the chips.
TRANSITION: "The European Health Data Space needs" leads into the close.
BEFORE PRESENTING: Verified by Devin: interpretation uses regular expressions and medical dictionaries; no language model is connected; Mistral and Ollama adapters exist but are untested. Never say that AI interprets the question. Still confirm that the interpreter takes only the question text as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MAKING HEALTH DATA ACCESSIBLE WITHOUT MAKING PATIENTS IDENTIFIABLE
SCRIPT, about 21 seconds
The European Health Data Space needs two things at once: researchers who can use it, and patients who can trust it.
We designed our gateway for both. Making health data accessible, without making patients identifiable.
A gateway that knows when to answer, when to ask, and when to say no.
TRANSITION: Pause, then "Thank you." Stay on this slide for questions.
BEFORE PRESENTING: Backup slides 7 to 10 follow for technical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1 · HOW THE GATEWAY IS BUILT
LIKELY QUESTIONS
What works today? Point at the dots: the researcher interface works; rule-based interpretation, decision rules, statistics, small-cell suppression and the disclosure ledger are built and in testing; clarifying questions and an audit record are planned; AI model adapters are a future step.
Do you use a language model? Not in the running prototype. Interpretation is rule-based, with patterns and medical dictionaries. Adapters for Mistral and for local models through Ollama are in the code but are not connected or tested with real models.
Why rules rather than a model? Rules are predictable, explainable and give the same result on every run, which an access body needs. The challenge allows rules, a model or both. A model could later help with unusual wording, but only after it has been tested.
BEFORE PRESENTING: Update each dot from your repository and test run. A dot turns green only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2 · CLINICAL WORDS IN, STANDARD CODES OUT
LIKELY QUESTIONS
How do you map clinical language to codes? The interpreter's medical dictionaries map plain words to ICD-10, ATC and LOINC; the examples come straight from the official requests.
Why would the gateway ask questions? Because wording changes the cohort: "hospitalised for heart failure in 2025" gives 103 patients if heart failure was the main diagnosis of the stay and 123 if any 2025 stay of a patient with heart failure counts. Asking this automatically is planned, not yet built.
Is this ready for real hospital data? No. Synthetic data is cleaner than real records; harmonisation and validation on representative real-world data come first.
BEFORE PRESENTING: 103 and 123 are distinct patients with inpatient stays starting in 2025, opted-out patients excluded, computed on the official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3 · WHAT WE ENFORCE, AND WHERE IT ENDS
LIKELY QUESTIONS
Does the ledger stop differencing attacks? Not verified yet. The prototype records every release in a disclosure ledger; whether it withholds a pair like 72 and 71 still has to be shown. Even then, overlapping queries, longer chains, several applicants combining results and outside knowledge need further measures.
Why include zero? The official rule hides counts below ten including zero, so a difference of zero is also a protected result.
What would you add next? Query budgets, output checks by access-body staff, and noise-based methods for high-risk outputs.
BEFORE PRESENTING: Change the ledger wording only after you have seen it withhold 71 after 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4 · MEASURED RESULTS, THEN THE ROAD AHEAD
LIKELY QUESTIONS
What are your metric results? Read them from your own run of the ten official requests. Do not estimate.
What comes next? Verify the disclosure ledger against differencing scenarios, test the optional AI adapters against the rule-based interpreter, then pilot with access-body staff and researchers on harmonised real-world data.
BEFORE PRESENTING: Replace every bracketed placeholder with measured results, or delete the 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ERO_OPEN-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HERO_CLOSE-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_OPE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17352" cy="274320"/>
          </a:xfrm>
          <a:prstGeom prst="rect">
            <a:avLst/>
          </a:prstGeom>
          <a:noFill/>
          <a:ln/>
        </p:spPr>
        <p:txBody>
          <a:bodyPr wrap="square" rtlCol="0"/>
          <a:lstStyle>
            <a:lvl1pPr indent="0" marL="0">
              <a:buNone/>
              <a:defRPr lang="en-US" sz="1200" spc="200" kern="0" dirty="0">
                <a:solidFill>
                  <a:srgbClr val="BDB3F6"/>
                </a:solidFill>
                <a:latin typeface="IBM Plex Mono" panose="020B0509050203000203" pitchFamily="49" charset="0"/>
                <a:ea typeface="IBM Plex Mono" panose="020B0509050203000203" pitchFamily="49" charset="-122"/>
                <a:cs typeface="IBM Plex Mono" panose="020B0509050203000203" pitchFamily="49" charset="-120"/>
              </a:defRPr>
            </a:lvl1pPr>
          </a:lstStyle>
          <a:p>
            <a:pPr indent="0" marL="0">
              <a:buNone/>
            </a:pPr>
            <a:endParaRPr lang="en-US" sz="1200" dirty="0"/>
          </a:p>
        </p:txBody>
      </p:sp>
      <p:sp>
        <p:nvSpPr>
          <p:cNvPr id="3" name="Text 0"/>
          <p:cNvSpPr/>
          <p:nvPr>
            <p:ph idx="101" type="title" hasCustomPrompt="1"/>
          </p:nvPr>
        </p:nvSpPr>
        <p:spPr>
          <a:xfrm>
            <a:off x="685800" y="1600200"/>
            <a:ext cx="7269480" cy="3291840"/>
          </a:xfrm>
          <a:prstGeom prst="rect">
            <a:avLst/>
          </a:prstGeom>
          <a:noFill/>
          <a:ln/>
        </p:spPr>
        <p:txBody>
          <a:bodyPr wrap="square" rtlCol="0"/>
          <a:lstStyle>
            <a:lvl1pPr algn="l" indent="0" marL="0">
              <a:lnSpc>
                <a:spcPct val="92000"/>
              </a:lnSpc>
              <a:buNone/>
              <a:defRPr lang="en-US" sz="7600" dirty="0">
                <a:solidFill>
                  <a:srgbClr val="FAFAF8"/>
                </a:solidFill>
                <a:latin typeface="Instrument Serif" panose="02020603050405020304" pitchFamily="18" charset="0"/>
                <a:ea typeface="Instrument Serif" panose="02020603050405020304" pitchFamily="18" charset="-122"/>
                <a:cs typeface="Instrument Serif" panose="02020603050405020304" pitchFamily="18" charset="-120"/>
              </a:defRPr>
            </a:lvl1pPr>
          </a:lstStyle>
          <a:p>
            <a:pPr algn="l" indent="0" marL="0">
              <a:lnSpc>
                <a:spcPct val="92000"/>
              </a:lnSpc>
              <a:buNone/>
            </a:pPr>
            <a:endParaRPr lang="en-US" sz="7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_CLO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17352" cy="274320"/>
          </a:xfrm>
          <a:prstGeom prst="rect">
            <a:avLst/>
          </a:prstGeom>
          <a:noFill/>
          <a:ln/>
        </p:spPr>
        <p:txBody>
          <a:bodyPr wrap="square" rtlCol="0"/>
          <a:lstStyle>
            <a:lvl1pPr indent="0" marL="0">
              <a:buNone/>
              <a:defRPr lang="en-US" sz="1200" spc="200" kern="0" dirty="0">
                <a:solidFill>
                  <a:srgbClr val="BDB3F6"/>
                </a:solidFill>
                <a:latin typeface="IBM Plex Mono" panose="020B0509050203000203" pitchFamily="49" charset="0"/>
                <a:ea typeface="IBM Plex Mono" panose="020B0509050203000203" pitchFamily="49" charset="-122"/>
                <a:cs typeface="IBM Plex Mono" panose="020B0509050203000203" pitchFamily="49" charset="-120"/>
              </a:defRPr>
            </a:lvl1pPr>
          </a:lstStyle>
          <a:p>
            <a:pPr indent="0" marL="0">
              <a:buNone/>
            </a:pPr>
            <a:endParaRPr lang="en-US" sz="1200" dirty="0"/>
          </a:p>
        </p:txBody>
      </p:sp>
      <p:sp>
        <p:nvSpPr>
          <p:cNvPr id="3" name="Text 0"/>
          <p:cNvSpPr/>
          <p:nvPr>
            <p:ph idx="101" type="title" hasCustomPrompt="1"/>
          </p:nvPr>
        </p:nvSpPr>
        <p:spPr>
          <a:xfrm>
            <a:off x="685800" y="1051560"/>
            <a:ext cx="10817352" cy="1783080"/>
          </a:xfrm>
          <a:prstGeom prst="rect">
            <a:avLst/>
          </a:prstGeom>
          <a:noFill/>
          <a:ln/>
        </p:spPr>
        <p:txBody>
          <a:bodyPr wrap="square" rtlCol="0"/>
          <a:lstStyle>
            <a:lvl1pPr algn="l" indent="0" marL="0">
              <a:lnSpc>
                <a:spcPct val="95000"/>
              </a:lnSpc>
              <a:buNone/>
              <a:defRPr lang="en-US" sz="5000" dirty="0">
                <a:solidFill>
                  <a:srgbClr val="FAFAF8"/>
                </a:solidFill>
                <a:latin typeface="Instrument Serif" panose="02020603050405020304" pitchFamily="18" charset="0"/>
                <a:ea typeface="Instrument Serif" panose="02020603050405020304" pitchFamily="18" charset="-122"/>
                <a:cs typeface="Instrument Serif" panose="02020603050405020304" pitchFamily="18" charset="-120"/>
              </a:defRPr>
            </a:lvl1pPr>
          </a:lstStyle>
          <a:p>
            <a:pPr algn="l" indent="0" marL="0">
              <a:lnSpc>
                <a:spcPct val="95000"/>
              </a:lnSpc>
              <a:buNone/>
            </a:pPr>
            <a:endParaRPr lang="en-US" sz="5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E2848"/>
        </a:solidFill>
      </p:bgPr>
    </p:bg>
    <p:spTree>
      <p:nvGrpSpPr>
        <p:cNvPr id="1" name=""/>
        <p:cNvGrpSpPr/>
        <p:nvPr/>
      </p:nvGrpSpPr>
      <p:grpSpPr>
        <a:xfrm>
          <a:off x="0" y="0"/>
          <a:ext cx="0" cy="0"/>
          <a:chOff x="0" y="0"/>
          <a:chExt cx="0" cy="0"/>
        </a:xfrm>
      </p:grpSpPr>
      <p:sp>
        <p:nvSpPr>
          <p:cNvPr id="2" name="Text 0"/>
          <p:cNvSpPr/>
          <p:nvPr/>
        </p:nvSpPr>
        <p:spPr>
          <a:xfrm>
            <a:off x="685800" y="6373368"/>
            <a:ext cx="6035040" cy="256032"/>
          </a:xfrm>
          <a:prstGeom prst="rect">
            <a:avLst/>
          </a:prstGeom>
          <a:noFill/>
          <a:ln/>
        </p:spPr>
        <p:txBody>
          <a:bodyPr wrap="square" lIns="0" tIns="0" rIns="0" bIns="0" rtlCol="0" anchor="ctr"/>
          <a:lstStyle/>
          <a:p>
            <a:pPr indent="0" marL="0">
              <a:buNone/>
            </a:pPr>
            <a:r>
              <a:rPr lang="en-US" sz="1000" spc="120" kern="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HEALTHCARE ROCKET</a:t>
            </a:r>
            <a:endParaRPr lang="en-US" sz="1000" dirty="0"/>
          </a:p>
        </p:txBody>
      </p:sp>
      <p:sp>
        <p:nvSpPr>
          <p:cNvPr id="3" name="Text 1"/>
          <p:cNvSpPr/>
          <p:nvPr/>
        </p:nvSpPr>
        <p:spPr>
          <a:xfrm>
            <a:off x="6309360" y="6373368"/>
            <a:ext cx="4617720" cy="256032"/>
          </a:xfrm>
          <a:prstGeom prst="rect">
            <a:avLst/>
          </a:prstGeom>
          <a:noFill/>
          <a:ln/>
        </p:spPr>
        <p:txBody>
          <a:bodyPr wrap="square" lIns="0" tIns="0" rIns="0" bIns="0" rtlCol="0" anchor="ctr"/>
          <a:lstStyle/>
          <a:p>
            <a:pPr algn="r" indent="0" marL="0">
              <a:buNone/>
            </a:pPr>
            <a:r>
              <a:rPr lang="en-US" sz="1000" spc="120" kern="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TRACK 3  ·  EUROPEAN HEALTH DATA SPACE</a:t>
            </a:r>
            <a:endParaRPr lang="en-US" sz="1000" dirty="0"/>
          </a:p>
        </p:txBody>
      </p:sp>
      <p:sp>
        <p:nvSpPr>
          <p:cNvPr id="4" name="Text 2"/>
          <p:cNvSpPr/>
          <p:nvPr>
            <p:ph idx="102" type="body" hasCustomPrompt="1"/>
          </p:nvPr>
        </p:nvSpPr>
        <p:spPr>
          <a:xfrm>
            <a:off x="685800" y="502920"/>
            <a:ext cx="10817352" cy="274320"/>
          </a:xfrm>
          <a:prstGeom prst="rect">
            <a:avLst/>
          </a:prstGeom>
          <a:noFill/>
          <a:ln/>
        </p:spPr>
        <p:txBody>
          <a:bodyPr wrap="square" rtlCol="0"/>
          <a:lstStyle>
            <a:lvl1pPr indent="0" marL="0">
              <a:buNone/>
              <a:defRPr lang="en-US" sz="1200" spc="200" kern="0" dirty="0">
                <a:solidFill>
                  <a:srgbClr val="BDB3F6"/>
                </a:solidFill>
                <a:latin typeface="IBM Plex Mono" panose="020B0509050203000203" pitchFamily="49" charset="0"/>
                <a:ea typeface="IBM Plex Mono" panose="020B0509050203000203" pitchFamily="49" charset="-122"/>
                <a:cs typeface="IBM Plex Mono" panose="020B0509050203000203" pitchFamily="49" charset="-120"/>
              </a:defRPr>
            </a:lvl1pPr>
          </a:lstStyle>
          <a:p>
            <a:pPr indent="0" marL="0">
              <a:buNone/>
            </a:pPr>
            <a:endParaRPr lang="en-US" sz="1200" dirty="0"/>
          </a:p>
        </p:txBody>
      </p:sp>
      <p:sp>
        <p:nvSpPr>
          <p:cNvPr id="5" name="Text 2"/>
          <p:cNvSpPr/>
          <p:nvPr>
            <p:ph idx="103" type="title" hasCustomPrompt="1"/>
          </p:nvPr>
        </p:nvSpPr>
        <p:spPr>
          <a:xfrm>
            <a:off x="685800" y="822960"/>
            <a:ext cx="10817352" cy="1371600"/>
          </a:xfrm>
          <a:prstGeom prst="rect">
            <a:avLst/>
          </a:prstGeom>
          <a:noFill/>
          <a:ln/>
        </p:spPr>
        <p:txBody>
          <a:bodyPr wrap="square" rtlCol="0"/>
          <a:lstStyle>
            <a:lvl1pPr algn="l" indent="0" marL="0">
              <a:lnSpc>
                <a:spcPct val="92000"/>
              </a:lnSpc>
              <a:buNone/>
              <a:defRPr lang="en-US" sz="4600" dirty="0">
                <a:solidFill>
                  <a:srgbClr val="FAFAF8"/>
                </a:solidFill>
                <a:latin typeface="Instrument Serif" panose="02020603050405020304" pitchFamily="18" charset="0"/>
                <a:ea typeface="Instrument Serif" panose="02020603050405020304" pitchFamily="18" charset="-122"/>
                <a:cs typeface="Instrument Serif" panose="02020603050405020304" pitchFamily="18" charset="-120"/>
              </a:defRPr>
            </a:lvl1pPr>
          </a:lstStyle>
          <a:p>
            <a:pPr algn="l" indent="0" marL="0">
              <a:lnSpc>
                <a:spcPct val="92000"/>
              </a:lnSpc>
              <a:buNone/>
            </a:pPr>
            <a:endParaRPr lang="en-US" sz="4600" dirty="0"/>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3B1C8"/>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SPLIT">
    <p:bg>
      <p:bgPr>
        <a:solidFill>
          <a:srgbClr val="0E2848"/>
        </a:solidFill>
      </p:bgPr>
    </p:bg>
    <p:spTree>
      <p:nvGrpSpPr>
        <p:cNvPr id="1" name=""/>
        <p:cNvGrpSpPr/>
        <p:nvPr/>
      </p:nvGrpSpPr>
      <p:grpSpPr>
        <a:xfrm>
          <a:off x="0" y="0"/>
          <a:ext cx="0" cy="0"/>
          <a:chOff x="0" y="0"/>
          <a:chExt cx="0" cy="0"/>
        </a:xfrm>
      </p:grpSpPr>
      <p:sp>
        <p:nvSpPr>
          <p:cNvPr id="2" name="Text 0"/>
          <p:cNvSpPr/>
          <p:nvPr/>
        </p:nvSpPr>
        <p:spPr>
          <a:xfrm>
            <a:off x="685800" y="6373368"/>
            <a:ext cx="6035040" cy="256032"/>
          </a:xfrm>
          <a:prstGeom prst="rect">
            <a:avLst/>
          </a:prstGeom>
          <a:noFill/>
          <a:ln/>
        </p:spPr>
        <p:txBody>
          <a:bodyPr wrap="square" lIns="0" tIns="0" rIns="0" bIns="0" rtlCol="0" anchor="ctr"/>
          <a:lstStyle/>
          <a:p>
            <a:pPr indent="0" marL="0">
              <a:buNone/>
            </a:pPr>
            <a:r>
              <a:rPr lang="en-US" sz="1000" spc="120" kern="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HEALTHCARE ROCKET</a:t>
            </a:r>
            <a:endParaRPr lang="en-US" sz="1000" dirty="0"/>
          </a:p>
        </p:txBody>
      </p:sp>
      <p:sp>
        <p:nvSpPr>
          <p:cNvPr id="3" name="Text 1"/>
          <p:cNvSpPr/>
          <p:nvPr/>
        </p:nvSpPr>
        <p:spPr>
          <a:xfrm>
            <a:off x="6309360" y="6373368"/>
            <a:ext cx="4617720" cy="256032"/>
          </a:xfrm>
          <a:prstGeom prst="rect">
            <a:avLst/>
          </a:prstGeom>
          <a:noFill/>
          <a:ln/>
        </p:spPr>
        <p:txBody>
          <a:bodyPr wrap="square" lIns="0" tIns="0" rIns="0" bIns="0" rtlCol="0" anchor="ctr"/>
          <a:lstStyle/>
          <a:p>
            <a:pPr algn="r" indent="0" marL="0">
              <a:buNone/>
            </a:pPr>
            <a:r>
              <a:rPr lang="en-US" sz="1000" spc="120" kern="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TRACK 3  ·  EUROPEAN HEALTH DATA SPACE</a:t>
            </a:r>
            <a:endParaRPr lang="en-US" sz="1000" dirty="0"/>
          </a:p>
        </p:txBody>
      </p:sp>
      <p:sp>
        <p:nvSpPr>
          <p:cNvPr id="4" name="Text 2"/>
          <p:cNvSpPr/>
          <p:nvPr>
            <p:ph idx="102" type="body" hasCustomPrompt="1"/>
          </p:nvPr>
        </p:nvSpPr>
        <p:spPr>
          <a:xfrm>
            <a:off x="685800" y="502920"/>
            <a:ext cx="4480560" cy="274320"/>
          </a:xfrm>
          <a:prstGeom prst="rect">
            <a:avLst/>
          </a:prstGeom>
          <a:noFill/>
          <a:ln/>
        </p:spPr>
        <p:txBody>
          <a:bodyPr wrap="square" rtlCol="0"/>
          <a:lstStyle>
            <a:lvl1pPr indent="0" marL="0">
              <a:buNone/>
              <a:defRPr lang="en-US" sz="1200" spc="200" kern="0" dirty="0">
                <a:solidFill>
                  <a:srgbClr val="BDB3F6"/>
                </a:solidFill>
                <a:latin typeface="IBM Plex Mono" panose="020B0509050203000203" pitchFamily="49" charset="0"/>
                <a:ea typeface="IBM Plex Mono" panose="020B0509050203000203" pitchFamily="49" charset="-122"/>
                <a:cs typeface="IBM Plex Mono" panose="020B0509050203000203" pitchFamily="49" charset="-120"/>
              </a:defRPr>
            </a:lvl1pPr>
          </a:lstStyle>
          <a:p>
            <a:pPr indent="0" marL="0">
              <a:buNone/>
            </a:pPr>
            <a:endParaRPr lang="en-US" sz="1200" dirty="0"/>
          </a:p>
        </p:txBody>
      </p:sp>
      <p:sp>
        <p:nvSpPr>
          <p:cNvPr id="5" name="Text 2"/>
          <p:cNvSpPr/>
          <p:nvPr>
            <p:ph idx="103" type="title" hasCustomPrompt="1"/>
          </p:nvPr>
        </p:nvSpPr>
        <p:spPr>
          <a:xfrm>
            <a:off x="685800" y="822960"/>
            <a:ext cx="4572000" cy="1371600"/>
          </a:xfrm>
          <a:prstGeom prst="rect">
            <a:avLst/>
          </a:prstGeom>
          <a:noFill/>
          <a:ln/>
        </p:spPr>
        <p:txBody>
          <a:bodyPr wrap="square" rtlCol="0"/>
          <a:lstStyle>
            <a:lvl1pPr algn="l" indent="0" marL="0">
              <a:lnSpc>
                <a:spcPct val="92000"/>
              </a:lnSpc>
              <a:buNone/>
              <a:defRPr lang="en-US" sz="4600" dirty="0">
                <a:solidFill>
                  <a:srgbClr val="FAFAF8"/>
                </a:solidFill>
                <a:latin typeface="Instrument Serif" panose="02020603050405020304" pitchFamily="18" charset="0"/>
                <a:ea typeface="Instrument Serif" panose="02020603050405020304" pitchFamily="18" charset="-122"/>
                <a:cs typeface="Instrument Serif" panose="02020603050405020304" pitchFamily="18" charset="-120"/>
              </a:defRPr>
            </a:lvl1pPr>
          </a:lstStyle>
          <a:p>
            <a:pPr algn="l" indent="0" marL="0">
              <a:lnSpc>
                <a:spcPct val="92000"/>
              </a:lnSpc>
              <a:buNone/>
            </a:pPr>
            <a:endParaRPr lang="en-US" sz="4600" dirty="0"/>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3B1C8"/>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_STAGE">
    <p:bg>
      <p:bgPr>
        <a:solidFill>
          <a:srgbClr val="0E2848"/>
        </a:solidFill>
      </p:bgPr>
    </p:bg>
    <p:spTree>
      <p:nvGrpSpPr>
        <p:cNvPr id="1" name=""/>
        <p:cNvGrpSpPr/>
        <p:nvPr/>
      </p:nvGrpSpPr>
      <p:grpSpPr>
        <a:xfrm>
          <a:off x="0" y="0"/>
          <a:ext cx="0" cy="0"/>
          <a:chOff x="0" y="0"/>
          <a:chExt cx="0" cy="0"/>
        </a:xfrm>
      </p:grpSpPr>
      <p:sp>
        <p:nvSpPr>
          <p:cNvPr id="2" name="Text 0"/>
          <p:cNvSpPr/>
          <p:nvPr/>
        </p:nvSpPr>
        <p:spPr>
          <a:xfrm>
            <a:off x="685800" y="6373368"/>
            <a:ext cx="6035040" cy="256032"/>
          </a:xfrm>
          <a:prstGeom prst="rect">
            <a:avLst/>
          </a:prstGeom>
          <a:noFill/>
          <a:ln/>
        </p:spPr>
        <p:txBody>
          <a:bodyPr wrap="square" lIns="0" tIns="0" rIns="0" bIns="0" rtlCol="0" anchor="ctr"/>
          <a:lstStyle/>
          <a:p>
            <a:pPr indent="0" marL="0">
              <a:buNone/>
            </a:pPr>
            <a:r>
              <a:rPr lang="en-US" sz="1000" spc="120" kern="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HEALTHCARE ROCKET</a:t>
            </a:r>
            <a:endParaRPr lang="en-US" sz="1000" dirty="0"/>
          </a:p>
        </p:txBody>
      </p:sp>
      <p:sp>
        <p:nvSpPr>
          <p:cNvPr id="3" name="Text 1"/>
          <p:cNvSpPr/>
          <p:nvPr/>
        </p:nvSpPr>
        <p:spPr>
          <a:xfrm>
            <a:off x="6309360" y="6373368"/>
            <a:ext cx="4617720" cy="256032"/>
          </a:xfrm>
          <a:prstGeom prst="rect">
            <a:avLst/>
          </a:prstGeom>
          <a:noFill/>
          <a:ln/>
        </p:spPr>
        <p:txBody>
          <a:bodyPr wrap="square" lIns="0" tIns="0" rIns="0" bIns="0" rtlCol="0" anchor="ctr"/>
          <a:lstStyle/>
          <a:p>
            <a:pPr algn="r" indent="0" marL="0">
              <a:buNone/>
            </a:pPr>
            <a:r>
              <a:rPr lang="en-US" sz="1000" spc="120" kern="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TRACK 3  ·  EUROPEAN HEALTH DATA SPACE</a:t>
            </a:r>
            <a:endParaRPr lang="en-US" sz="1000" dirty="0"/>
          </a:p>
        </p:txBody>
      </p:sp>
      <p:sp>
        <p:nvSpPr>
          <p:cNvPr id="4" name="Text 2"/>
          <p:cNvSpPr/>
          <p:nvPr>
            <p:ph idx="102" type="body" hasCustomPrompt="1"/>
          </p:nvPr>
        </p:nvSpPr>
        <p:spPr>
          <a:xfrm>
            <a:off x="685800" y="502920"/>
            <a:ext cx="6035040" cy="274320"/>
          </a:xfrm>
          <a:prstGeom prst="rect">
            <a:avLst/>
          </a:prstGeom>
          <a:noFill/>
          <a:ln/>
        </p:spPr>
        <p:txBody>
          <a:bodyPr wrap="square" rtlCol="0"/>
          <a:lstStyle>
            <a:lvl1pPr indent="0" marL="0">
              <a:buNone/>
              <a:defRPr lang="en-US" sz="1200" spc="200" kern="0" dirty="0">
                <a:solidFill>
                  <a:srgbClr val="BDB3F6"/>
                </a:solidFill>
                <a:latin typeface="IBM Plex Mono" panose="020B0509050203000203" pitchFamily="49" charset="0"/>
                <a:ea typeface="IBM Plex Mono" panose="020B0509050203000203" pitchFamily="49" charset="-122"/>
                <a:cs typeface="IBM Plex Mono" panose="020B0509050203000203" pitchFamily="49" charset="-120"/>
              </a:defRPr>
            </a:lvl1pPr>
          </a:lstStyle>
          <a:p>
            <a:pPr indent="0" marL="0">
              <a:buNone/>
            </a:pPr>
            <a:endParaRPr lang="en-US" sz="1200" dirty="0"/>
          </a:p>
        </p:txBody>
      </p:sp>
      <p:sp>
        <p:nvSpPr>
          <p:cNvPr id="5" name="Text 2"/>
          <p:cNvSpPr/>
          <p:nvPr>
            <p:ph idx="103" type="title" hasCustomPrompt="1"/>
          </p:nvPr>
        </p:nvSpPr>
        <p:spPr>
          <a:xfrm>
            <a:off x="685800" y="4443984"/>
            <a:ext cx="10817352" cy="1280160"/>
          </a:xfrm>
          <a:prstGeom prst="rect">
            <a:avLst/>
          </a:prstGeom>
          <a:noFill/>
          <a:ln/>
        </p:spPr>
        <p:txBody>
          <a:bodyPr wrap="square" rtlCol="0"/>
          <a:lstStyle>
            <a:lvl1pPr algn="l" indent="0" marL="0">
              <a:lnSpc>
                <a:spcPct val="95000"/>
              </a:lnSpc>
              <a:buNone/>
              <a:defRPr lang="en-US" sz="4000" dirty="0">
                <a:solidFill>
                  <a:srgbClr val="FAFAF8"/>
                </a:solidFill>
                <a:latin typeface="Instrument Serif" panose="02020603050405020304" pitchFamily="18" charset="0"/>
                <a:ea typeface="Instrument Serif" panose="02020603050405020304" pitchFamily="18" charset="-122"/>
                <a:cs typeface="Instrument Serif" panose="02020603050405020304" pitchFamily="18" charset="-120"/>
              </a:defRPr>
            </a:lvl1pPr>
          </a:lstStyle>
          <a:p>
            <a:pPr algn="l" indent="0" marL="0">
              <a:lnSpc>
                <a:spcPct val="95000"/>
              </a:lnSpc>
              <a:buNone/>
            </a:pPr>
            <a:endParaRPr lang="en-US" sz="4000" dirty="0"/>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3B1C8"/>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IGHT_BACKUP">
    <p:bg>
      <p:bgPr>
        <a:solidFill>
          <a:srgbClr val="FAFAF8"/>
        </a:solidFill>
      </p:bgPr>
    </p:bg>
    <p:spTree>
      <p:nvGrpSpPr>
        <p:cNvPr id="1" name=""/>
        <p:cNvGrpSpPr/>
        <p:nvPr/>
      </p:nvGrpSpPr>
      <p:grpSpPr>
        <a:xfrm>
          <a:off x="0" y="0"/>
          <a:ext cx="0" cy="0"/>
          <a:chOff x="0" y="0"/>
          <a:chExt cx="0" cy="0"/>
        </a:xfrm>
      </p:grpSpPr>
      <p:sp>
        <p:nvSpPr>
          <p:cNvPr id="2" name="Text 0"/>
          <p:cNvSpPr/>
          <p:nvPr/>
        </p:nvSpPr>
        <p:spPr>
          <a:xfrm>
            <a:off x="685800" y="6373368"/>
            <a:ext cx="6035040" cy="256032"/>
          </a:xfrm>
          <a:prstGeom prst="rect">
            <a:avLst/>
          </a:prstGeom>
          <a:noFill/>
          <a:ln/>
        </p:spPr>
        <p:txBody>
          <a:bodyPr wrap="square" lIns="0" tIns="0" rIns="0" bIns="0" rtlCol="0" anchor="ctr"/>
          <a:lstStyle/>
          <a:p>
            <a:pPr indent="0" marL="0">
              <a:buNone/>
            </a:pPr>
            <a:r>
              <a:rPr lang="en-US" sz="1000" spc="120" kern="0" dirty="0">
                <a:solidFill>
                  <a:srgbClr val="5B6577"/>
                </a:solidFill>
                <a:latin typeface="IBM Plex Mono" panose="020B0509050203000203" pitchFamily="49" charset="0"/>
                <a:ea typeface="IBM Plex Mono" panose="020B0509050203000203" pitchFamily="49" charset="-122"/>
                <a:cs typeface="IBM Plex Mono" panose="020B0509050203000203" pitchFamily="49" charset="-120"/>
              </a:rPr>
              <a:t>BACKUP  ·  HEALTHCARE ROCKET</a:t>
            </a:r>
            <a:endParaRPr lang="en-US" sz="1000" dirty="0"/>
          </a:p>
        </p:txBody>
      </p:sp>
      <p:sp>
        <p:nvSpPr>
          <p:cNvPr id="3" name="Text 1"/>
          <p:cNvSpPr/>
          <p:nvPr/>
        </p:nvSpPr>
        <p:spPr>
          <a:xfrm>
            <a:off x="6309360" y="6373368"/>
            <a:ext cx="4617720" cy="256032"/>
          </a:xfrm>
          <a:prstGeom prst="rect">
            <a:avLst/>
          </a:prstGeom>
          <a:noFill/>
          <a:ln/>
        </p:spPr>
        <p:txBody>
          <a:bodyPr wrap="square" lIns="0" tIns="0" rIns="0" bIns="0" rtlCol="0" anchor="ctr"/>
          <a:lstStyle/>
          <a:p>
            <a:pPr algn="r" indent="0" marL="0">
              <a:buNone/>
            </a:pPr>
            <a:r>
              <a:rPr lang="en-US" sz="1000" spc="120" kern="0" dirty="0">
                <a:solidFill>
                  <a:srgbClr val="5B6577"/>
                </a:solidFill>
                <a:latin typeface="IBM Plex Mono" panose="020B0509050203000203" pitchFamily="49" charset="0"/>
                <a:ea typeface="IBM Plex Mono" panose="020B0509050203000203" pitchFamily="49" charset="-122"/>
                <a:cs typeface="IBM Plex Mono" panose="020B0509050203000203" pitchFamily="49" charset="-120"/>
              </a:rPr>
              <a:t>TRACK 3  ·  EUROPEAN HEALTH DATA SPACE</a:t>
            </a:r>
            <a:endParaRPr lang="en-US" sz="1000" dirty="0"/>
          </a:p>
        </p:txBody>
      </p:sp>
      <p:sp>
        <p:nvSpPr>
          <p:cNvPr id="4" name="Text 2"/>
          <p:cNvSpPr/>
          <p:nvPr>
            <p:ph idx="102" type="body" hasCustomPrompt="1"/>
          </p:nvPr>
        </p:nvSpPr>
        <p:spPr>
          <a:xfrm>
            <a:off x="685800" y="457200"/>
            <a:ext cx="10817352" cy="274320"/>
          </a:xfrm>
          <a:prstGeom prst="rect">
            <a:avLst/>
          </a:prstGeom>
          <a:noFill/>
          <a:ln/>
        </p:spPr>
        <p:txBody>
          <a:bodyPr wrap="square" rtlCol="0"/>
          <a:lstStyle>
            <a:lvl1pPr indent="0" marL="0">
              <a:buNone/>
              <a:defRPr lang="en-US" sz="1200" spc="200" kern="0"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defRPr>
            </a:lvl1pPr>
          </a:lstStyle>
          <a:p>
            <a:pPr indent="0" marL="0">
              <a:buNone/>
            </a:pPr>
            <a:endParaRPr lang="en-US" sz="1200" dirty="0"/>
          </a:p>
        </p:txBody>
      </p:sp>
      <p:sp>
        <p:nvSpPr>
          <p:cNvPr id="5" name="Text 2"/>
          <p:cNvSpPr/>
          <p:nvPr>
            <p:ph idx="103" type="title" hasCustomPrompt="1"/>
          </p:nvPr>
        </p:nvSpPr>
        <p:spPr>
          <a:xfrm>
            <a:off x="685800" y="749808"/>
            <a:ext cx="10817352" cy="685800"/>
          </a:xfrm>
          <a:prstGeom prst="rect">
            <a:avLst/>
          </a:prstGeom>
          <a:noFill/>
          <a:ln/>
        </p:spPr>
        <p:txBody>
          <a:bodyPr wrap="square" rtlCol="0"/>
          <a:lstStyle>
            <a:lvl1pPr algn="l" indent="0" marL="0">
              <a:buNone/>
              <a:defRPr lang="en-US" sz="4000" dirty="0">
                <a:solidFill>
                  <a:srgbClr val="0E2848"/>
                </a:solidFill>
                <a:latin typeface="Instrument Serif" panose="02020603050405020304" pitchFamily="18" charset="0"/>
                <a:ea typeface="Instrument Serif" panose="02020603050405020304" pitchFamily="18" charset="-122"/>
                <a:cs typeface="Instrument Serif" panose="02020603050405020304" pitchFamily="18"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577"/>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3B1C8"/>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 Id="rId5" Type="http://schemas.openxmlformats.org/officeDocument/2006/relationships/image" Target="../media/image2.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17352" cy="274320"/>
          </a:xfrm>
          <a:prstGeom prst="rect">
            <a:avLst/>
          </a:prstGeom>
          <a:noFill/>
          <a:ln/>
        </p:spPr>
        <p:txBody>
          <a:bodyPr wrap="square" lIns="0" tIns="0" rIns="0" bIns="0" rtlCol="0" anchor="ctr"/>
          <a:lstStyle/>
          <a:p>
            <a:pPr indent="0" marL="0">
              <a:buNone/>
            </a:pPr>
            <a:r>
              <a:rPr lang="en-US" sz="1200" spc="200" kern="0" dirty="0">
                <a:solidFill>
                  <a:srgbClr val="BDB3F6"/>
                </a:solidFill>
                <a:latin typeface="IBM Plex Mono" panose="020B0509050203000203" pitchFamily="49" charset="0"/>
                <a:ea typeface="IBM Plex Mono" panose="020B0509050203000203" pitchFamily="49" charset="-122"/>
                <a:cs typeface="IBM Plex Mono" panose="020B0509050203000203" pitchFamily="49" charset="-120"/>
              </a:rPr>
              <a:t>AIM HEALTHCARE HACKATHON VIENNA 2026  ·  TRACK 3  ·  EUROPEAN HEALTH DATA SPACE</a:t>
            </a:r>
            <a:endParaRPr lang="en-US" sz="1200" dirty="0"/>
          </a:p>
        </p:txBody>
      </p:sp>
      <p:sp>
        <p:nvSpPr>
          <p:cNvPr id="3" name="Text 0"/>
          <p:cNvSpPr/>
          <p:nvPr>
            <p:ph idx="101" type="title" hasCustomPrompt="1"/>
          </p:nvPr>
        </p:nvSpPr>
        <p:spPr>
          <a:xfrm>
            <a:off x="685800" y="1600200"/>
            <a:ext cx="7269480" cy="3291840"/>
          </a:xfrm>
          <a:prstGeom prst="rect">
            <a:avLst/>
          </a:prstGeom>
          <a:noFill/>
          <a:ln/>
        </p:spPr>
        <p:txBody>
          <a:bodyPr wrap="square" lIns="0" tIns="0" rIns="0" bIns="0" rtlCol="0" anchor="t"/>
          <a:lstStyle/>
          <a:p>
            <a:pPr algn="l" indent="0" marL="0">
              <a:lnSpc>
                <a:spcPct val="92000"/>
              </a:lnSpc>
              <a:buNone/>
            </a:pPr>
            <a:r>
              <a:rPr lang="en-US" sz="7600" dirty="0">
                <a:solidFill>
                  <a:srgbClr val="FAFAF8"/>
                </a:solidFill>
                <a:latin typeface="Instrument Serif" panose="02020603050405020304" pitchFamily="18" charset="0"/>
                <a:ea typeface="Instrument Serif" panose="02020603050405020304" pitchFamily="18" charset="-122"/>
                <a:cs typeface="Instrument Serif" panose="02020603050405020304" pitchFamily="18" charset="-120"/>
              </a:rPr>
              <a:t>Can two safe answers</a:t>
            </a:r>
            <a:endParaRPr lang="en-US" sz="7600" dirty="0"/>
          </a:p>
          <a:p>
            <a:pPr algn="l" indent="0" marL="0">
              <a:lnSpc>
                <a:spcPct val="92000"/>
              </a:lnSpc>
              <a:buNone/>
            </a:pPr>
            <a:r>
              <a:rPr lang="en-US" sz="7600" i="1" dirty="0">
                <a:solidFill>
                  <a:schemeClr val="accent1"/>
                </a:solidFill>
                <a:latin typeface="Instrument Serif" panose="02020603050405020304" pitchFamily="18" charset="0"/>
                <a:ea typeface="Instrument Serif" panose="02020603050405020304" pitchFamily="18" charset="-122"/>
                <a:cs typeface="Instrument Serif" panose="02020603050405020304" pitchFamily="18" charset="-120"/>
              </a:rPr>
              <a:t>reveal a secret?</a:t>
            </a:r>
            <a:endParaRPr lang="en-US" sz="7600" dirty="0"/>
          </a:p>
        </p:txBody>
      </p:sp>
      <p:sp>
        <p:nvSpPr>
          <p:cNvPr id="4" name="Hook motif sliver"/>
          <p:cNvSpPr/>
          <p:nvPr/>
        </p:nvSpPr>
        <p:spPr>
          <a:xfrm>
            <a:off x="8211312" y="1600200"/>
            <a:ext cx="3291840" cy="3291840"/>
          </a:xfrm>
          <a:custGeom>
            <a:avLst/>
            <a:gdLst/>
            <a:ahLst/>
            <a:cxnLst/>
            <a:rect l="l" t="t" r="r" b="b"/>
            <a:pathLst>
              <a:path w="3291840" h="3291840">
                <a:moveTo>
                  <a:pt x="0" y="1645920"/>
                </a:moveTo>
                <a:lnTo>
                  <a:pt x="2256" y="1559779"/>
                </a:lnTo>
                <a:lnTo>
                  <a:pt x="9017" y="1473875"/>
                </a:lnTo>
                <a:lnTo>
                  <a:pt x="20264" y="1388441"/>
                </a:lnTo>
                <a:lnTo>
                  <a:pt x="35967" y="1303714"/>
                </a:lnTo>
                <a:lnTo>
                  <a:pt x="56083" y="1219925"/>
                </a:lnTo>
                <a:lnTo>
                  <a:pt x="80557" y="1137303"/>
                </a:lnTo>
                <a:lnTo>
                  <a:pt x="109321" y="1056075"/>
                </a:lnTo>
                <a:lnTo>
                  <a:pt x="142297" y="976464"/>
                </a:lnTo>
                <a:lnTo>
                  <a:pt x="179395" y="898688"/>
                </a:lnTo>
                <a:lnTo>
                  <a:pt x="220511" y="822960"/>
                </a:lnTo>
                <a:lnTo>
                  <a:pt x="265535" y="749488"/>
                </a:lnTo>
                <a:lnTo>
                  <a:pt x="314343" y="678472"/>
                </a:lnTo>
                <a:lnTo>
                  <a:pt x="366800" y="610109"/>
                </a:lnTo>
                <a:lnTo>
                  <a:pt x="422763" y="544585"/>
                </a:lnTo>
                <a:lnTo>
                  <a:pt x="482079" y="482079"/>
                </a:lnTo>
                <a:lnTo>
                  <a:pt x="544585" y="422763"/>
                </a:lnTo>
                <a:lnTo>
                  <a:pt x="610109" y="366800"/>
                </a:lnTo>
                <a:lnTo>
                  <a:pt x="678472" y="314343"/>
                </a:lnTo>
                <a:lnTo>
                  <a:pt x="749488" y="265535"/>
                </a:lnTo>
                <a:lnTo>
                  <a:pt x="822960" y="220511"/>
                </a:lnTo>
                <a:lnTo>
                  <a:pt x="898688" y="179395"/>
                </a:lnTo>
                <a:lnTo>
                  <a:pt x="976464" y="142297"/>
                </a:lnTo>
                <a:lnTo>
                  <a:pt x="1056075" y="109321"/>
                </a:lnTo>
                <a:lnTo>
                  <a:pt x="1137303" y="80557"/>
                </a:lnTo>
                <a:lnTo>
                  <a:pt x="1219925" y="56083"/>
                </a:lnTo>
                <a:lnTo>
                  <a:pt x="1303714" y="35967"/>
                </a:lnTo>
                <a:lnTo>
                  <a:pt x="1388441" y="20264"/>
                </a:lnTo>
                <a:lnTo>
                  <a:pt x="1473875" y="9017"/>
                </a:lnTo>
                <a:lnTo>
                  <a:pt x="1559779" y="2256"/>
                </a:lnTo>
                <a:lnTo>
                  <a:pt x="1645920" y="0"/>
                </a:lnTo>
                <a:lnTo>
                  <a:pt x="1732061" y="2256"/>
                </a:lnTo>
                <a:lnTo>
                  <a:pt x="1817965" y="9017"/>
                </a:lnTo>
                <a:lnTo>
                  <a:pt x="1903399" y="20264"/>
                </a:lnTo>
                <a:lnTo>
                  <a:pt x="1988126" y="35967"/>
                </a:lnTo>
                <a:lnTo>
                  <a:pt x="2071915" y="56083"/>
                </a:lnTo>
                <a:lnTo>
                  <a:pt x="2154537" y="80557"/>
                </a:lnTo>
                <a:lnTo>
                  <a:pt x="2235765" y="109321"/>
                </a:lnTo>
                <a:lnTo>
                  <a:pt x="2315376" y="142297"/>
                </a:lnTo>
                <a:lnTo>
                  <a:pt x="2393152" y="179395"/>
                </a:lnTo>
                <a:lnTo>
                  <a:pt x="2468880" y="220511"/>
                </a:lnTo>
                <a:lnTo>
                  <a:pt x="2542352" y="265535"/>
                </a:lnTo>
                <a:lnTo>
                  <a:pt x="2613368" y="314343"/>
                </a:lnTo>
                <a:lnTo>
                  <a:pt x="2681731" y="366800"/>
                </a:lnTo>
                <a:lnTo>
                  <a:pt x="2747255" y="422763"/>
                </a:lnTo>
                <a:lnTo>
                  <a:pt x="2809761" y="482079"/>
                </a:lnTo>
                <a:lnTo>
                  <a:pt x="2869077" y="544585"/>
                </a:lnTo>
                <a:lnTo>
                  <a:pt x="2925040" y="610109"/>
                </a:lnTo>
                <a:lnTo>
                  <a:pt x="2977497" y="678472"/>
                </a:lnTo>
                <a:lnTo>
                  <a:pt x="3026305" y="749488"/>
                </a:lnTo>
                <a:lnTo>
                  <a:pt x="3071329" y="822960"/>
                </a:lnTo>
                <a:lnTo>
                  <a:pt x="3112445" y="898688"/>
                </a:lnTo>
                <a:lnTo>
                  <a:pt x="3149543" y="976464"/>
                </a:lnTo>
                <a:lnTo>
                  <a:pt x="3182519" y="1056075"/>
                </a:lnTo>
                <a:lnTo>
                  <a:pt x="3211283" y="1137303"/>
                </a:lnTo>
                <a:lnTo>
                  <a:pt x="3235757" y="1219925"/>
                </a:lnTo>
                <a:lnTo>
                  <a:pt x="3255873" y="1303714"/>
                </a:lnTo>
                <a:lnTo>
                  <a:pt x="3271576" y="1388441"/>
                </a:lnTo>
                <a:lnTo>
                  <a:pt x="3282823" y="1473875"/>
                </a:lnTo>
                <a:lnTo>
                  <a:pt x="3289584" y="1559779"/>
                </a:lnTo>
                <a:lnTo>
                  <a:pt x="3291840" y="1645920"/>
                </a:lnTo>
                <a:lnTo>
                  <a:pt x="3289584" y="1732061"/>
                </a:lnTo>
                <a:lnTo>
                  <a:pt x="3282823" y="1817965"/>
                </a:lnTo>
                <a:lnTo>
                  <a:pt x="3271576" y="1903399"/>
                </a:lnTo>
                <a:lnTo>
                  <a:pt x="3255873" y="1988126"/>
                </a:lnTo>
                <a:lnTo>
                  <a:pt x="3235757" y="2071915"/>
                </a:lnTo>
                <a:lnTo>
                  <a:pt x="3211283" y="2154537"/>
                </a:lnTo>
                <a:lnTo>
                  <a:pt x="3182519" y="2235765"/>
                </a:lnTo>
                <a:lnTo>
                  <a:pt x="3149543" y="2315376"/>
                </a:lnTo>
                <a:lnTo>
                  <a:pt x="3112445" y="2393152"/>
                </a:lnTo>
                <a:lnTo>
                  <a:pt x="3071329" y="2468880"/>
                </a:lnTo>
                <a:lnTo>
                  <a:pt x="3026305" y="2542352"/>
                </a:lnTo>
                <a:lnTo>
                  <a:pt x="2977497" y="2613368"/>
                </a:lnTo>
                <a:lnTo>
                  <a:pt x="2925040" y="2681731"/>
                </a:lnTo>
                <a:lnTo>
                  <a:pt x="2869077" y="2747255"/>
                </a:lnTo>
                <a:lnTo>
                  <a:pt x="2809761" y="2809761"/>
                </a:lnTo>
                <a:lnTo>
                  <a:pt x="2747255" y="2869077"/>
                </a:lnTo>
                <a:lnTo>
                  <a:pt x="2681731" y="2925040"/>
                </a:lnTo>
                <a:lnTo>
                  <a:pt x="2613368" y="2977497"/>
                </a:lnTo>
                <a:lnTo>
                  <a:pt x="2542352" y="3026305"/>
                </a:lnTo>
                <a:lnTo>
                  <a:pt x="2468880" y="3071329"/>
                </a:lnTo>
                <a:lnTo>
                  <a:pt x="2393152" y="3112445"/>
                </a:lnTo>
                <a:lnTo>
                  <a:pt x="2315376" y="3149543"/>
                </a:lnTo>
                <a:lnTo>
                  <a:pt x="2235765" y="3182519"/>
                </a:lnTo>
                <a:lnTo>
                  <a:pt x="2154537" y="3211283"/>
                </a:lnTo>
                <a:lnTo>
                  <a:pt x="2071915" y="3235757"/>
                </a:lnTo>
                <a:lnTo>
                  <a:pt x="1988126" y="3255873"/>
                </a:lnTo>
                <a:lnTo>
                  <a:pt x="1903399" y="3271576"/>
                </a:lnTo>
                <a:lnTo>
                  <a:pt x="1817965" y="3282823"/>
                </a:lnTo>
                <a:lnTo>
                  <a:pt x="1732061" y="3289584"/>
                </a:lnTo>
                <a:lnTo>
                  <a:pt x="1645920" y="3291840"/>
                </a:lnTo>
                <a:lnTo>
                  <a:pt x="1559779" y="3289584"/>
                </a:lnTo>
                <a:lnTo>
                  <a:pt x="1473875" y="3282823"/>
                </a:lnTo>
                <a:lnTo>
                  <a:pt x="1388441" y="3271576"/>
                </a:lnTo>
                <a:lnTo>
                  <a:pt x="1303714" y="3255873"/>
                </a:lnTo>
                <a:lnTo>
                  <a:pt x="1219925" y="3235757"/>
                </a:lnTo>
                <a:lnTo>
                  <a:pt x="1137303" y="3211283"/>
                </a:lnTo>
                <a:lnTo>
                  <a:pt x="1056075" y="3182519"/>
                </a:lnTo>
                <a:lnTo>
                  <a:pt x="976464" y="3149543"/>
                </a:lnTo>
                <a:lnTo>
                  <a:pt x="898688" y="3112445"/>
                </a:lnTo>
                <a:lnTo>
                  <a:pt x="822960" y="3071329"/>
                </a:lnTo>
                <a:lnTo>
                  <a:pt x="749488" y="3026305"/>
                </a:lnTo>
                <a:lnTo>
                  <a:pt x="678472" y="2977497"/>
                </a:lnTo>
                <a:lnTo>
                  <a:pt x="610109" y="2925040"/>
                </a:lnTo>
                <a:lnTo>
                  <a:pt x="544585" y="2869077"/>
                </a:lnTo>
                <a:lnTo>
                  <a:pt x="482079" y="2809761"/>
                </a:lnTo>
                <a:lnTo>
                  <a:pt x="422763" y="2747255"/>
                </a:lnTo>
                <a:lnTo>
                  <a:pt x="366800" y="2681731"/>
                </a:lnTo>
                <a:lnTo>
                  <a:pt x="314343" y="2613368"/>
                </a:lnTo>
                <a:lnTo>
                  <a:pt x="265535" y="2542352"/>
                </a:lnTo>
                <a:lnTo>
                  <a:pt x="220511" y="2468880"/>
                </a:lnTo>
                <a:lnTo>
                  <a:pt x="179395" y="2393152"/>
                </a:lnTo>
                <a:lnTo>
                  <a:pt x="142297" y="2315376"/>
                </a:lnTo>
                <a:lnTo>
                  <a:pt x="109321" y="2235765"/>
                </a:lnTo>
                <a:lnTo>
                  <a:pt x="80557" y="2154537"/>
                </a:lnTo>
                <a:lnTo>
                  <a:pt x="56083" y="2071915"/>
                </a:lnTo>
                <a:lnTo>
                  <a:pt x="35967" y="1988126"/>
                </a:lnTo>
                <a:lnTo>
                  <a:pt x="20264" y="1903399"/>
                </a:lnTo>
                <a:lnTo>
                  <a:pt x="9017" y="1817965"/>
                </a:lnTo>
                <a:lnTo>
                  <a:pt x="2256" y="1732061"/>
                </a:lnTo>
                <a:lnTo>
                  <a:pt x="0" y="1645920"/>
                </a:lnTo>
                <a:lnTo>
                  <a:pt x="2005" y="1722490"/>
                </a:lnTo>
                <a:lnTo>
                  <a:pt x="8015" y="1798849"/>
                </a:lnTo>
                <a:lnTo>
                  <a:pt x="18012" y="1874790"/>
                </a:lnTo>
                <a:lnTo>
                  <a:pt x="31971" y="1950103"/>
                </a:lnTo>
                <a:lnTo>
                  <a:pt x="49852" y="2024583"/>
                </a:lnTo>
                <a:lnTo>
                  <a:pt x="71606" y="2098024"/>
                </a:lnTo>
                <a:lnTo>
                  <a:pt x="97174" y="2170227"/>
                </a:lnTo>
                <a:lnTo>
                  <a:pt x="126486" y="2240992"/>
                </a:lnTo>
                <a:lnTo>
                  <a:pt x="159462" y="2310126"/>
                </a:lnTo>
                <a:lnTo>
                  <a:pt x="196010" y="2377440"/>
                </a:lnTo>
                <a:lnTo>
                  <a:pt x="236031" y="2442749"/>
                </a:lnTo>
                <a:lnTo>
                  <a:pt x="279416" y="2505873"/>
                </a:lnTo>
                <a:lnTo>
                  <a:pt x="326044" y="2566641"/>
                </a:lnTo>
                <a:lnTo>
                  <a:pt x="375789" y="2624885"/>
                </a:lnTo>
                <a:lnTo>
                  <a:pt x="428514" y="2680446"/>
                </a:lnTo>
                <a:lnTo>
                  <a:pt x="484075" y="2733171"/>
                </a:lnTo>
                <a:lnTo>
                  <a:pt x="542319" y="2782916"/>
                </a:lnTo>
                <a:lnTo>
                  <a:pt x="603087" y="2829544"/>
                </a:lnTo>
                <a:lnTo>
                  <a:pt x="666211" y="2872929"/>
                </a:lnTo>
                <a:lnTo>
                  <a:pt x="731520" y="2912950"/>
                </a:lnTo>
                <a:lnTo>
                  <a:pt x="798834" y="2949498"/>
                </a:lnTo>
                <a:lnTo>
                  <a:pt x="867968" y="2982474"/>
                </a:lnTo>
                <a:lnTo>
                  <a:pt x="938733" y="3011786"/>
                </a:lnTo>
                <a:lnTo>
                  <a:pt x="1010936" y="3037354"/>
                </a:lnTo>
                <a:lnTo>
                  <a:pt x="1084377" y="3059108"/>
                </a:lnTo>
                <a:lnTo>
                  <a:pt x="1158857" y="3076989"/>
                </a:lnTo>
                <a:lnTo>
                  <a:pt x="1234170" y="3090948"/>
                </a:lnTo>
                <a:lnTo>
                  <a:pt x="1310111" y="3100945"/>
                </a:lnTo>
                <a:lnTo>
                  <a:pt x="1386470" y="3106955"/>
                </a:lnTo>
                <a:lnTo>
                  <a:pt x="1463040" y="3108960"/>
                </a:lnTo>
                <a:lnTo>
                  <a:pt x="1539610" y="3106955"/>
                </a:lnTo>
                <a:lnTo>
                  <a:pt x="1615969" y="3100945"/>
                </a:lnTo>
                <a:lnTo>
                  <a:pt x="1691910" y="3090948"/>
                </a:lnTo>
                <a:lnTo>
                  <a:pt x="1767223" y="3076989"/>
                </a:lnTo>
                <a:lnTo>
                  <a:pt x="1841703" y="3059108"/>
                </a:lnTo>
                <a:lnTo>
                  <a:pt x="1915144" y="3037354"/>
                </a:lnTo>
                <a:lnTo>
                  <a:pt x="1987347" y="3011786"/>
                </a:lnTo>
                <a:lnTo>
                  <a:pt x="2058112" y="2982474"/>
                </a:lnTo>
                <a:lnTo>
                  <a:pt x="2127246" y="2949498"/>
                </a:lnTo>
                <a:lnTo>
                  <a:pt x="2194560" y="2912950"/>
                </a:lnTo>
                <a:lnTo>
                  <a:pt x="2259869" y="2872929"/>
                </a:lnTo>
                <a:lnTo>
                  <a:pt x="2322993" y="2829544"/>
                </a:lnTo>
                <a:lnTo>
                  <a:pt x="2383761" y="2782916"/>
                </a:lnTo>
                <a:lnTo>
                  <a:pt x="2442005" y="2733171"/>
                </a:lnTo>
                <a:lnTo>
                  <a:pt x="2497566" y="2680446"/>
                </a:lnTo>
                <a:lnTo>
                  <a:pt x="2550291" y="2624885"/>
                </a:lnTo>
                <a:lnTo>
                  <a:pt x="2600036" y="2566641"/>
                </a:lnTo>
                <a:lnTo>
                  <a:pt x="2646664" y="2505873"/>
                </a:lnTo>
                <a:lnTo>
                  <a:pt x="2690049" y="2442749"/>
                </a:lnTo>
                <a:lnTo>
                  <a:pt x="2730070" y="2377440"/>
                </a:lnTo>
                <a:lnTo>
                  <a:pt x="2766618" y="2310126"/>
                </a:lnTo>
                <a:lnTo>
                  <a:pt x="2799594" y="2240992"/>
                </a:lnTo>
                <a:lnTo>
                  <a:pt x="2828906" y="2170227"/>
                </a:lnTo>
                <a:lnTo>
                  <a:pt x="2854474" y="2098024"/>
                </a:lnTo>
                <a:lnTo>
                  <a:pt x="2876228" y="2024583"/>
                </a:lnTo>
                <a:lnTo>
                  <a:pt x="2894109" y="1950103"/>
                </a:lnTo>
                <a:lnTo>
                  <a:pt x="2908068" y="1874790"/>
                </a:lnTo>
                <a:lnTo>
                  <a:pt x="2918065" y="1798849"/>
                </a:lnTo>
                <a:lnTo>
                  <a:pt x="2924075" y="1722490"/>
                </a:lnTo>
                <a:lnTo>
                  <a:pt x="2926080" y="1645920"/>
                </a:lnTo>
                <a:lnTo>
                  <a:pt x="2924075" y="1569350"/>
                </a:lnTo>
                <a:lnTo>
                  <a:pt x="2918065" y="1492991"/>
                </a:lnTo>
                <a:lnTo>
                  <a:pt x="2908068" y="1417050"/>
                </a:lnTo>
                <a:lnTo>
                  <a:pt x="2894109" y="1341737"/>
                </a:lnTo>
                <a:lnTo>
                  <a:pt x="2876228" y="1267257"/>
                </a:lnTo>
                <a:lnTo>
                  <a:pt x="2854474" y="1193816"/>
                </a:lnTo>
                <a:lnTo>
                  <a:pt x="2828906" y="1121613"/>
                </a:lnTo>
                <a:lnTo>
                  <a:pt x="2799594" y="1050848"/>
                </a:lnTo>
                <a:lnTo>
                  <a:pt x="2766618" y="981714"/>
                </a:lnTo>
                <a:lnTo>
                  <a:pt x="2730070" y="914400"/>
                </a:lnTo>
                <a:lnTo>
                  <a:pt x="2690049" y="849091"/>
                </a:lnTo>
                <a:lnTo>
                  <a:pt x="2646664" y="785967"/>
                </a:lnTo>
                <a:lnTo>
                  <a:pt x="2600036" y="725199"/>
                </a:lnTo>
                <a:lnTo>
                  <a:pt x="2550291" y="666955"/>
                </a:lnTo>
                <a:lnTo>
                  <a:pt x="2497566" y="611394"/>
                </a:lnTo>
                <a:lnTo>
                  <a:pt x="2442005" y="558669"/>
                </a:lnTo>
                <a:lnTo>
                  <a:pt x="2383761" y="508924"/>
                </a:lnTo>
                <a:lnTo>
                  <a:pt x="2322993" y="462296"/>
                </a:lnTo>
                <a:lnTo>
                  <a:pt x="2259869" y="418911"/>
                </a:lnTo>
                <a:lnTo>
                  <a:pt x="2194560" y="378890"/>
                </a:lnTo>
                <a:lnTo>
                  <a:pt x="2127246" y="342342"/>
                </a:lnTo>
                <a:lnTo>
                  <a:pt x="2058112" y="309366"/>
                </a:lnTo>
                <a:lnTo>
                  <a:pt x="1987347" y="280054"/>
                </a:lnTo>
                <a:lnTo>
                  <a:pt x="1915144" y="254486"/>
                </a:lnTo>
                <a:lnTo>
                  <a:pt x="1841703" y="232732"/>
                </a:lnTo>
                <a:lnTo>
                  <a:pt x="1767223" y="214851"/>
                </a:lnTo>
                <a:lnTo>
                  <a:pt x="1691910" y="200892"/>
                </a:lnTo>
                <a:lnTo>
                  <a:pt x="1615969" y="190895"/>
                </a:lnTo>
                <a:lnTo>
                  <a:pt x="1539610" y="184885"/>
                </a:lnTo>
                <a:lnTo>
                  <a:pt x="1463040" y="182880"/>
                </a:lnTo>
                <a:lnTo>
                  <a:pt x="1386470" y="184885"/>
                </a:lnTo>
                <a:lnTo>
                  <a:pt x="1310111" y="190895"/>
                </a:lnTo>
                <a:lnTo>
                  <a:pt x="1234170" y="200892"/>
                </a:lnTo>
                <a:lnTo>
                  <a:pt x="1158857" y="214851"/>
                </a:lnTo>
                <a:lnTo>
                  <a:pt x="1084377" y="232732"/>
                </a:lnTo>
                <a:lnTo>
                  <a:pt x="1010936" y="254486"/>
                </a:lnTo>
                <a:lnTo>
                  <a:pt x="938733" y="280054"/>
                </a:lnTo>
                <a:lnTo>
                  <a:pt x="867968" y="309366"/>
                </a:lnTo>
                <a:lnTo>
                  <a:pt x="798834" y="342342"/>
                </a:lnTo>
                <a:lnTo>
                  <a:pt x="731520" y="378890"/>
                </a:lnTo>
                <a:lnTo>
                  <a:pt x="666211" y="418911"/>
                </a:lnTo>
                <a:lnTo>
                  <a:pt x="603087" y="462296"/>
                </a:lnTo>
                <a:lnTo>
                  <a:pt x="542319" y="508924"/>
                </a:lnTo>
                <a:lnTo>
                  <a:pt x="484075" y="558669"/>
                </a:lnTo>
                <a:lnTo>
                  <a:pt x="428514" y="611394"/>
                </a:lnTo>
                <a:lnTo>
                  <a:pt x="375789" y="666955"/>
                </a:lnTo>
                <a:lnTo>
                  <a:pt x="326044" y="725199"/>
                </a:lnTo>
                <a:lnTo>
                  <a:pt x="279416" y="785967"/>
                </a:lnTo>
                <a:lnTo>
                  <a:pt x="236031" y="849091"/>
                </a:lnTo>
                <a:lnTo>
                  <a:pt x="196010" y="914400"/>
                </a:lnTo>
                <a:lnTo>
                  <a:pt x="159462" y="981714"/>
                </a:lnTo>
                <a:lnTo>
                  <a:pt x="126486" y="1050848"/>
                </a:lnTo>
                <a:lnTo>
                  <a:pt x="97174" y="1121613"/>
                </a:lnTo>
                <a:lnTo>
                  <a:pt x="71606" y="1193816"/>
                </a:lnTo>
                <a:lnTo>
                  <a:pt x="49852" y="1267257"/>
                </a:lnTo>
                <a:lnTo>
                  <a:pt x="31971" y="1341737"/>
                </a:lnTo>
                <a:lnTo>
                  <a:pt x="18012" y="1417050"/>
                </a:lnTo>
                <a:lnTo>
                  <a:pt x="8015" y="1492991"/>
                </a:lnTo>
                <a:lnTo>
                  <a:pt x="2005" y="1569350"/>
                </a:lnTo>
                <a:lnTo>
                  <a:pt x="0" y="1645920"/>
                </a:lnTo>
                <a:close/>
              </a:path>
            </a:pathLst>
          </a:custGeom>
          <a:solidFill>
            <a:schemeClr val="accent5"/>
          </a:solidFill>
          <a:ln/>
        </p:spPr>
        <p:txBody>
          <a:bodyPr/>
          <a:p/>
        </p:txBody>
      </p:sp>
      <p:sp>
        <p:nvSpPr>
          <p:cNvPr id="5" name="Hook motif population A"/>
          <p:cNvSpPr/>
          <p:nvPr/>
        </p:nvSpPr>
        <p:spPr>
          <a:xfrm>
            <a:off x="8211312" y="1600200"/>
            <a:ext cx="3291840" cy="3291840"/>
          </a:xfrm>
          <a:prstGeom prst="ellipse">
            <a:avLst/>
          </a:prstGeom>
          <a:ln w="15875">
            <a:solidFill>
              <a:srgbClr val="BDB3F6"/>
            </a:solidFill>
            <a:prstDash val="solid"/>
          </a:ln>
        </p:spPr>
        <p:txBody>
          <a:bodyPr/>
          <a:p/>
        </p:txBody>
      </p:sp>
      <p:sp>
        <p:nvSpPr>
          <p:cNvPr id="6" name="Hook motif population B"/>
          <p:cNvSpPr/>
          <p:nvPr/>
        </p:nvSpPr>
        <p:spPr>
          <a:xfrm>
            <a:off x="8211312" y="1783080"/>
            <a:ext cx="2926080" cy="2926080"/>
          </a:xfrm>
          <a:prstGeom prst="ellipse">
            <a:avLst/>
          </a:prstGeom>
          <a:ln w="15875">
            <a:solidFill>
              <a:srgbClr val="BDB3F6"/>
            </a:solidFill>
            <a:prstDash val="solid"/>
          </a:ln>
        </p:spPr>
        <p:txBody>
          <a:bodyPr/>
          <a:p/>
        </p:txBody>
      </p:sp>
      <p:sp>
        <p:nvSpPr>
          <p:cNvPr id="7" name="Product name"/>
          <p:cNvSpPr txBox="1"/>
          <p:nvPr/>
        </p:nvSpPr>
        <p:spPr>
          <a:xfrm>
            <a:off x="685800" y="5394960"/>
            <a:ext cx="7132320" cy="384048"/>
          </a:xfrm>
          <a:prstGeom prst="rect">
            <a:avLst/>
          </a:prstGeom>
          <a:noFill/>
          <a:ln/>
        </p:spPr>
        <p:txBody>
          <a:bodyPr wrap="square" lIns="0" tIns="0" rIns="0" bIns="0" rtlCol="0" anchor="t"/>
          <a:lstStyle/>
          <a:p>
            <a:pPr indent="0" marL="0">
              <a:buNone/>
            </a:pPr>
            <a:r>
              <a:rPr lang="en-US" sz="2200" b="1" dirty="0">
                <a:solidFill>
                  <a:schemeClr val="bg1"/>
                </a:solidFill>
                <a:latin typeface="Inter" panose="02000503000000020004" pitchFamily="34" charset="0"/>
                <a:ea typeface="Inter" panose="02000503000000020004" pitchFamily="34" charset="-122"/>
                <a:cs typeface="Inter" panose="02000503000000020004" pitchFamily="34" charset="-120"/>
              </a:rPr>
              <a:t>HealthCare Rocket</a:t>
            </a:r>
            <a:endParaRPr lang="en-US" sz="2200" dirty="0"/>
          </a:p>
        </p:txBody>
      </p:sp>
      <p:sp>
        <p:nvSpPr>
          <p:cNvPr id="8" name="Product line"/>
          <p:cNvSpPr txBox="1"/>
          <p:nvPr/>
        </p:nvSpPr>
        <p:spPr>
          <a:xfrm>
            <a:off x="685800" y="5833872"/>
            <a:ext cx="7132320" cy="310896"/>
          </a:xfrm>
          <a:prstGeom prst="rect">
            <a:avLst/>
          </a:prstGeom>
          <a:noFill/>
          <a:ln/>
        </p:spPr>
        <p:txBody>
          <a:bodyPr wrap="square" lIns="0" tIns="0" rIns="0" bIns="0" rtlCol="0" anchor="t"/>
          <a:lstStyle/>
          <a:p>
            <a:pPr indent="0" marL="0">
              <a:buNone/>
            </a:pPr>
            <a:r>
              <a:rPr lang="en-US" sz="1500" dirty="0">
                <a:solidFill>
                  <a:srgbClr val="A3B1C8"/>
                </a:solidFill>
                <a:latin typeface="Inter" panose="02000503000000020004" pitchFamily="34" charset="0"/>
                <a:ea typeface="Inter" panose="02000503000000020004" pitchFamily="34" charset="-122"/>
                <a:cs typeface="Inter" panose="02000503000000020004" pitchFamily="34" charset="-120"/>
              </a:rPr>
              <a:t>As fast as a rocket. Without the complexity.</a:t>
            </a:r>
            <a:endParaRPr lang="en-US" sz="1500" dirty="0"/>
          </a:p>
        </p:txBody>
      </p:sp>
      <p:pic>
        <p:nvPicPr>
          <p:cNvPr id="9" name="Picture 8" descr="rocket.png"/>
          <p:cNvPicPr>
            <a:picLocks noChangeAspect="1"/>
          </p:cNvPicPr>
          <p:nvPr/>
        </p:nvPicPr>
        <p:blipFill>
          <a:blip r:embed="rId3"/>
          <a:stretch>
            <a:fillRect/>
          </a:stretch>
        </p:blipFill>
        <p:spPr>
          <a:xfrm>
            <a:off x="3355848" y="5413248"/>
            <a:ext cx="326486" cy="329184"/>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685800" y="502920"/>
            <a:ext cx="6035040" cy="274320"/>
          </a:xfrm>
          <a:prstGeom prst="rect">
            <a:avLst/>
          </a:prstGeom>
          <a:noFill/>
          <a:ln/>
        </p:spPr>
        <p:txBody>
          <a:bodyPr wrap="square" lIns="0" tIns="0" rIns="0" bIns="0" rtlCol="0" anchor="ctr"/>
          <a:lstStyle/>
          <a:p>
            <a:pPr indent="0" marL="0">
              <a:buNone/>
            </a:pPr>
            <a:r>
              <a:rPr lang="en-US" sz="1200" spc="200" kern="0" dirty="0">
                <a:solidFill>
                  <a:srgbClr val="BDB3F6"/>
                </a:solidFill>
                <a:latin typeface="IBM Plex Mono" panose="020B0509050203000203" pitchFamily="49" charset="0"/>
                <a:ea typeface="IBM Plex Mono" panose="020B0509050203000203" pitchFamily="49" charset="-122"/>
                <a:cs typeface="IBM Plex Mono" panose="020B0509050203000203" pitchFamily="49" charset="-120"/>
              </a:rPr>
              <a:t>THE PROBLEM  ·  A DIFFERENCING ATTACK</a:t>
            </a:r>
            <a:endParaRPr lang="en-US" sz="1200" dirty="0"/>
          </a:p>
        </p:txBody>
      </p:sp>
      <p:sp>
        <p:nvSpPr>
          <p:cNvPr id="3" name="Rule pill"/>
          <p:cNvSpPr/>
          <p:nvPr/>
        </p:nvSpPr>
        <p:spPr>
          <a:xfrm>
            <a:off x="6784848" y="384048"/>
            <a:ext cx="4718304" cy="457200"/>
          </a:xfrm>
          <a:prstGeom prst="roundRect">
            <a:avLst>
              <a:gd name="adj" fmla="val 50000"/>
            </a:avLst>
          </a:prstGeom>
          <a:solidFill>
            <a:schemeClr val="tx2"/>
          </a:solidFill>
          <a:ln w="12700">
            <a:solidFill>
              <a:srgbClr val="2B4A72"/>
            </a:solidFill>
            <a:prstDash val="solid"/>
          </a:ln>
        </p:spPr>
        <p:txBody>
          <a:bodyPr/>
          <a:p/>
        </p:txBody>
      </p:sp>
      <p:sp>
        <p:nvSpPr>
          <p:cNvPr id="4" name="Rule label"/>
          <p:cNvSpPr txBox="1"/>
          <p:nvPr/>
        </p:nvSpPr>
        <p:spPr>
          <a:xfrm>
            <a:off x="7022592" y="384048"/>
            <a:ext cx="1005840" cy="457200"/>
          </a:xfrm>
          <a:prstGeom prst="rect">
            <a:avLst/>
          </a:prstGeom>
          <a:noFill/>
          <a:ln/>
        </p:spPr>
        <p:txBody>
          <a:bodyPr wrap="square" lIns="0" tIns="0" rIns="0" bIns="0" rtlCol="0" anchor="ctr"/>
          <a:lstStyle/>
          <a:p>
            <a:pPr indent="0" marL="0">
              <a:buNone/>
            </a:pPr>
            <a:r>
              <a:rPr lang="en-US" sz="1100" b="1" spc="150" kern="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THE RULE</a:t>
            </a:r>
            <a:endParaRPr lang="en-US" sz="1100" dirty="0"/>
          </a:p>
        </p:txBody>
      </p:sp>
      <p:sp>
        <p:nvSpPr>
          <p:cNvPr id="5" name="Rule text"/>
          <p:cNvSpPr txBox="1"/>
          <p:nvPr/>
        </p:nvSpPr>
        <p:spPr>
          <a:xfrm>
            <a:off x="8028432" y="384048"/>
            <a:ext cx="3310128" cy="457200"/>
          </a:xfrm>
          <a:prstGeom prst="rect">
            <a:avLst/>
          </a:prstGeom>
          <a:noFill/>
          <a:ln/>
        </p:spPr>
        <p:txBody>
          <a:bodyPr wrap="square" lIns="0" tIns="0" rIns="0" bIns="0" rtlCol="0" anchor="ctr"/>
          <a:lstStyle/>
          <a:p>
            <a:pPr indent="0" marL="0">
              <a:buNone/>
            </a:pPr>
            <a:r>
              <a:rPr lang="en-US" sz="1500" dirty="0">
                <a:solidFill>
                  <a:schemeClr val="bg1"/>
                </a:solidFill>
                <a:latin typeface="Inter" panose="02000503000000020004" pitchFamily="34" charset="0"/>
                <a:ea typeface="Inter" panose="02000503000000020004" pitchFamily="34" charset="-122"/>
                <a:cs typeface="Inter" panose="02000503000000020004" pitchFamily="34" charset="-120"/>
              </a:rPr>
              <a:t>Counts below 10 are shown as “&lt;10”</a:t>
            </a:r>
            <a:endParaRPr lang="en-US" sz="1500" dirty="0"/>
          </a:p>
        </p:txBody>
      </p:sp>
      <p:sp>
        <p:nvSpPr>
          <p:cNvPr id="6" name="A card"/>
          <p:cNvSpPr/>
          <p:nvPr/>
        </p:nvSpPr>
        <p:spPr>
          <a:xfrm>
            <a:off x="685800" y="1115568"/>
            <a:ext cx="3246120" cy="2999232"/>
          </a:xfrm>
          <a:prstGeom prst="roundRect">
            <a:avLst>
              <a:gd name="adj" fmla="val 4268"/>
            </a:avLst>
          </a:prstGeom>
          <a:solidFill>
            <a:schemeClr val="accent2"/>
          </a:solidFill>
          <a:ln/>
        </p:spPr>
        <p:txBody>
          <a:bodyPr/>
          <a:p/>
        </p:txBody>
      </p:sp>
      <p:sp>
        <p:nvSpPr>
          <p:cNvPr id="7" name="A label"/>
          <p:cNvSpPr txBox="1"/>
          <p:nvPr/>
        </p:nvSpPr>
        <p:spPr>
          <a:xfrm>
            <a:off x="960120" y="1371600"/>
            <a:ext cx="2697480" cy="256032"/>
          </a:xfrm>
          <a:prstGeom prst="rect">
            <a:avLst/>
          </a:prstGeom>
          <a:noFill/>
          <a:ln/>
        </p:spPr>
        <p:txBody>
          <a:bodyPr wrap="square" lIns="0" tIns="0" rIns="0" bIns="0" rtlCol="0" anchor="t"/>
          <a:lstStyle/>
          <a:p>
            <a:pPr indent="0" marL="0">
              <a:buNone/>
            </a:pPr>
            <a:r>
              <a:rPr lang="en-US" sz="1200" spc="200" kern="0"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REQUEST A</a:t>
            </a:r>
            <a:endParaRPr lang="en-US" sz="1200" dirty="0"/>
          </a:p>
        </p:txBody>
      </p:sp>
      <p:sp>
        <p:nvSpPr>
          <p:cNvPr id="8" name="A question"/>
          <p:cNvSpPr txBox="1"/>
          <p:nvPr/>
        </p:nvSpPr>
        <p:spPr>
          <a:xfrm>
            <a:off x="960120" y="1682496"/>
            <a:ext cx="2743200" cy="512064"/>
          </a:xfrm>
          <a:prstGeom prst="rect">
            <a:avLst/>
          </a:prstGeom>
          <a:noFill/>
          <a:ln/>
        </p:spPr>
        <p:txBody>
          <a:bodyPr wrap="square" lIns="0" tIns="0" rIns="0" bIns="0" rtlCol="0" anchor="t"/>
          <a:lstStyle/>
          <a:p>
            <a:pPr indent="0" marL="0">
              <a:buNone/>
            </a:pPr>
            <a:r>
              <a:rPr lang="en-US" sz="1600" dirty="0">
                <a:solidFill>
                  <a:schemeClr val="tx1"/>
                </a:solidFill>
                <a:latin typeface="Inter" panose="02000503000000020004" pitchFamily="34" charset="0"/>
                <a:ea typeface="Inter" panose="02000503000000020004" pitchFamily="34" charset="-122"/>
                <a:cs typeface="Inter" panose="02000503000000020004" pitchFamily="34" charset="-120"/>
              </a:rPr>
              <a:t>Women aged 45 to 74 with breast cancer</a:t>
            </a:r>
            <a:endParaRPr lang="en-US" sz="1600" dirty="0"/>
          </a:p>
        </p:txBody>
      </p:sp>
      <p:sp>
        <p:nvSpPr>
          <p:cNvPr id="9" name="A scope"/>
          <p:cNvSpPr txBox="1"/>
          <p:nvPr/>
        </p:nvSpPr>
        <p:spPr>
          <a:xfrm>
            <a:off x="960120" y="2249424"/>
            <a:ext cx="2788920" cy="256032"/>
          </a:xfrm>
          <a:prstGeom prst="rect">
            <a:avLst/>
          </a:prstGeom>
          <a:noFill/>
          <a:ln/>
        </p:spPr>
        <p:txBody>
          <a:bodyPr wrap="square" lIns="0" tIns="0" rIns="0" bIns="0" rtlCol="0" anchor="t"/>
          <a:lstStyle/>
          <a:p>
            <a:pPr indent="0" marL="0">
              <a:buNone/>
            </a:pPr>
            <a:r>
              <a:rPr lang="en-US" sz="1200" b="1" spc="10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AUSTRIA</a:t>
            </a:r>
            <a:endParaRPr lang="en-US" sz="1200" dirty="0"/>
          </a:p>
        </p:txBody>
      </p:sp>
      <p:sp>
        <p:nvSpPr>
          <p:cNvPr id="10" name="A number"/>
          <p:cNvSpPr txBox="1"/>
          <p:nvPr/>
        </p:nvSpPr>
        <p:spPr>
          <a:xfrm>
            <a:off x="905256" y="2414016"/>
            <a:ext cx="1737360" cy="1600200"/>
          </a:xfrm>
          <a:prstGeom prst="rect">
            <a:avLst/>
          </a:prstGeom>
          <a:noFill/>
          <a:ln/>
        </p:spPr>
        <p:txBody>
          <a:bodyPr wrap="square" lIns="0" tIns="0" rIns="0" bIns="0" rtlCol="0" anchor="t"/>
          <a:lstStyle/>
          <a:p>
            <a:pPr indent="0" marL="0">
              <a:buNone/>
            </a:pPr>
            <a:r>
              <a:rPr lang="en-US" sz="11000" dirty="0">
                <a:solidFill>
                  <a:schemeClr val="tx1"/>
                </a:solidFill>
                <a:latin typeface="Instrument Serif" panose="02020603050405020304" pitchFamily="18" charset="0"/>
                <a:ea typeface="Instrument Serif" panose="02020603050405020304" pitchFamily="18" charset="-122"/>
                <a:cs typeface="Instrument Serif" panose="02020603050405020304" pitchFamily="18" charset="-120"/>
              </a:rPr>
              <a:t>72</a:t>
            </a:r>
            <a:endParaRPr lang="en-US" sz="11000" dirty="0"/>
          </a:p>
        </p:txBody>
      </p:sp>
      <p:sp>
        <p:nvSpPr>
          <p:cNvPr id="11" name="A chip"/>
          <p:cNvSpPr/>
          <p:nvPr/>
        </p:nvSpPr>
        <p:spPr>
          <a:xfrm>
            <a:off x="2532888" y="3392424"/>
            <a:ext cx="1124712" cy="384048"/>
          </a:xfrm>
          <a:prstGeom prst="roundRect">
            <a:avLst>
              <a:gd name="adj" fmla="val 50000"/>
            </a:avLst>
          </a:prstGeom>
          <a:solidFill>
            <a:schemeClr val="accent3"/>
          </a:solidFill>
          <a:ln/>
        </p:spPr>
        <p:txBody>
          <a:bodyPr/>
          <a:p/>
        </p:txBody>
      </p:sp>
      <p:sp>
        <p:nvSpPr>
          <p:cNvPr id="12" name="A chip text"/>
          <p:cNvSpPr txBox="1"/>
          <p:nvPr/>
        </p:nvSpPr>
        <p:spPr>
          <a:xfrm>
            <a:off x="2532888" y="3392424"/>
            <a:ext cx="1124712" cy="384048"/>
          </a:xfrm>
          <a:prstGeom prst="rect">
            <a:avLst/>
          </a:prstGeom>
          <a:noFill/>
          <a:ln/>
        </p:spPr>
        <p:txBody>
          <a:bodyPr wrap="square" lIns="0" tIns="0" rIns="0" bIns="0" rtlCol="0" anchor="ctr"/>
          <a:lstStyle/>
          <a:p>
            <a:pPr algn="ctr" indent="0" marL="0">
              <a:buNone/>
            </a:pPr>
            <a:r>
              <a:rPr lang="en-US" sz="1300" b="1" dirty="0">
                <a:solidFill>
                  <a:srgbClr val="1E6A55"/>
                </a:solidFill>
                <a:latin typeface="Inter" panose="02000503000000020004" pitchFamily="34" charset="0"/>
                <a:ea typeface="Inter" panose="02000503000000020004" pitchFamily="34" charset="-122"/>
                <a:cs typeface="Inter" panose="02000503000000020004" pitchFamily="34" charset="-120"/>
              </a:rPr>
              <a:t>✓ Released</a:t>
            </a:r>
            <a:endParaRPr lang="en-US" sz="1300" dirty="0"/>
          </a:p>
        </p:txBody>
      </p:sp>
      <p:sp>
        <p:nvSpPr>
          <p:cNvPr id="13" name="Minus sign"/>
          <p:cNvSpPr txBox="1"/>
          <p:nvPr/>
        </p:nvSpPr>
        <p:spPr>
          <a:xfrm>
            <a:off x="3931920" y="2542032"/>
            <a:ext cx="731520" cy="1280160"/>
          </a:xfrm>
          <a:prstGeom prst="rect">
            <a:avLst/>
          </a:prstGeom>
          <a:noFill/>
          <a:ln/>
        </p:spPr>
        <p:txBody>
          <a:bodyPr wrap="square" lIns="0" tIns="0" rIns="0" bIns="0" rtlCol="0" anchor="t"/>
          <a:lstStyle/>
          <a:p>
            <a:pPr algn="ctr" indent="0" marL="0">
              <a:buNone/>
            </a:pPr>
            <a:r>
              <a:rPr lang="en-US" sz="8800" dirty="0">
                <a:solidFill>
                  <a:srgbClr val="A3B1C8"/>
                </a:solidFill>
                <a:latin typeface="Instrument Serif" panose="02020603050405020304" pitchFamily="18" charset="0"/>
                <a:ea typeface="Instrument Serif" panose="02020603050405020304" pitchFamily="18" charset="-122"/>
                <a:cs typeface="Instrument Serif" panose="02020603050405020304" pitchFamily="18" charset="-120"/>
              </a:rPr>
              <a:t>−</a:t>
            </a:r>
            <a:endParaRPr lang="en-US" sz="8800" dirty="0"/>
          </a:p>
        </p:txBody>
      </p:sp>
      <p:sp>
        <p:nvSpPr>
          <p:cNvPr id="14" name="B card"/>
          <p:cNvSpPr/>
          <p:nvPr/>
        </p:nvSpPr>
        <p:spPr>
          <a:xfrm>
            <a:off x="4663440" y="1115568"/>
            <a:ext cx="3246120" cy="2999232"/>
          </a:xfrm>
          <a:prstGeom prst="roundRect">
            <a:avLst>
              <a:gd name="adj" fmla="val 4268"/>
            </a:avLst>
          </a:prstGeom>
          <a:solidFill>
            <a:schemeClr val="accent2"/>
          </a:solidFill>
          <a:ln/>
        </p:spPr>
        <p:txBody>
          <a:bodyPr/>
          <a:p/>
        </p:txBody>
      </p:sp>
      <p:sp>
        <p:nvSpPr>
          <p:cNvPr id="15" name="B label"/>
          <p:cNvSpPr txBox="1"/>
          <p:nvPr/>
        </p:nvSpPr>
        <p:spPr>
          <a:xfrm>
            <a:off x="4937760" y="1371600"/>
            <a:ext cx="2697480" cy="256032"/>
          </a:xfrm>
          <a:prstGeom prst="rect">
            <a:avLst/>
          </a:prstGeom>
          <a:noFill/>
          <a:ln/>
        </p:spPr>
        <p:txBody>
          <a:bodyPr wrap="square" lIns="0" tIns="0" rIns="0" bIns="0" rtlCol="0" anchor="t"/>
          <a:lstStyle/>
          <a:p>
            <a:pPr indent="0" marL="0">
              <a:buNone/>
            </a:pPr>
            <a:r>
              <a:rPr lang="en-US" sz="1200" spc="200" kern="0"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REQUEST B</a:t>
            </a:r>
            <a:endParaRPr lang="en-US" sz="1200" dirty="0"/>
          </a:p>
        </p:txBody>
      </p:sp>
      <p:sp>
        <p:nvSpPr>
          <p:cNvPr id="16" name="B question"/>
          <p:cNvSpPr txBox="1"/>
          <p:nvPr/>
        </p:nvSpPr>
        <p:spPr>
          <a:xfrm>
            <a:off x="4937760" y="1682496"/>
            <a:ext cx="2743200" cy="512064"/>
          </a:xfrm>
          <a:prstGeom prst="rect">
            <a:avLst/>
          </a:prstGeom>
          <a:noFill/>
          <a:ln/>
        </p:spPr>
        <p:txBody>
          <a:bodyPr wrap="square" lIns="0" tIns="0" rIns="0" bIns="0" rtlCol="0" anchor="t"/>
          <a:lstStyle/>
          <a:p>
            <a:pPr indent="0" marL="0">
              <a:buNone/>
            </a:pPr>
            <a:r>
              <a:rPr lang="en-US" sz="1600" dirty="0">
                <a:solidFill>
                  <a:schemeClr val="tx1"/>
                </a:solidFill>
                <a:latin typeface="Inter" panose="02000503000000020004" pitchFamily="34" charset="0"/>
                <a:ea typeface="Inter" panose="02000503000000020004" pitchFamily="34" charset="-122"/>
                <a:cs typeface="Inter" panose="02000503000000020004" pitchFamily="34" charset="-120"/>
              </a:rPr>
              <a:t>Women aged 45 to 74 with breast cancer</a:t>
            </a:r>
            <a:endParaRPr lang="en-US" sz="1600" dirty="0"/>
          </a:p>
        </p:txBody>
      </p:sp>
      <p:sp>
        <p:nvSpPr>
          <p:cNvPr id="17" name="B scope"/>
          <p:cNvSpPr txBox="1"/>
          <p:nvPr/>
        </p:nvSpPr>
        <p:spPr>
          <a:xfrm>
            <a:off x="4937760" y="2249424"/>
            <a:ext cx="2788920" cy="256032"/>
          </a:xfrm>
          <a:prstGeom prst="rect">
            <a:avLst/>
          </a:prstGeom>
          <a:noFill/>
          <a:ln/>
        </p:spPr>
        <p:txBody>
          <a:bodyPr wrap="square" lIns="0" tIns="0" rIns="0" bIns="0" rtlCol="0" anchor="t"/>
          <a:lstStyle/>
          <a:p>
            <a:pPr indent="0" marL="0">
              <a:buNone/>
            </a:pPr>
            <a:r>
              <a:rPr lang="en-US" sz="1200" b="1" spc="10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AUSTRIA </a:t>
            </a:r>
            <a:r>
              <a:rPr lang="en-US" sz="1200" b="1" spc="100" kern="0" dirty="0">
                <a:solidFill>
                  <a:srgbClr val="BC3834"/>
                </a:solidFill>
                <a:latin typeface="IBM Plex Mono" panose="020B0509050203000203" pitchFamily="49" charset="0"/>
                <a:ea typeface="IBM Plex Mono" panose="020B0509050203000203" pitchFamily="49" charset="-122"/>
                <a:cs typeface="IBM Plex Mono" panose="020B0509050203000203" pitchFamily="49" charset="-120"/>
              </a:rPr>
              <a:t>WITHOUT BURGENLAND</a:t>
            </a:r>
            <a:endParaRPr lang="en-US" sz="1200" dirty="0"/>
          </a:p>
        </p:txBody>
      </p:sp>
      <p:sp>
        <p:nvSpPr>
          <p:cNvPr id="18" name="B number"/>
          <p:cNvSpPr txBox="1"/>
          <p:nvPr/>
        </p:nvSpPr>
        <p:spPr>
          <a:xfrm>
            <a:off x="4882896" y="2414016"/>
            <a:ext cx="1737360" cy="1600200"/>
          </a:xfrm>
          <a:prstGeom prst="rect">
            <a:avLst/>
          </a:prstGeom>
          <a:noFill/>
          <a:ln/>
        </p:spPr>
        <p:txBody>
          <a:bodyPr wrap="square" lIns="0" tIns="0" rIns="0" bIns="0" rtlCol="0" anchor="t"/>
          <a:lstStyle/>
          <a:p>
            <a:pPr indent="0" marL="0">
              <a:buNone/>
            </a:pPr>
            <a:r>
              <a:rPr lang="en-US" sz="11000" dirty="0">
                <a:solidFill>
                  <a:schemeClr val="tx1"/>
                </a:solidFill>
                <a:latin typeface="Instrument Serif" panose="02020603050405020304" pitchFamily="18" charset="0"/>
                <a:ea typeface="Instrument Serif" panose="02020603050405020304" pitchFamily="18" charset="-122"/>
                <a:cs typeface="Instrument Serif" panose="02020603050405020304" pitchFamily="18" charset="-120"/>
              </a:rPr>
              <a:t>71</a:t>
            </a:r>
            <a:endParaRPr lang="en-US" sz="11000" dirty="0"/>
          </a:p>
        </p:txBody>
      </p:sp>
      <p:sp>
        <p:nvSpPr>
          <p:cNvPr id="19" name="B chip"/>
          <p:cNvSpPr/>
          <p:nvPr/>
        </p:nvSpPr>
        <p:spPr>
          <a:xfrm>
            <a:off x="6510528" y="3392424"/>
            <a:ext cx="1124712" cy="384048"/>
          </a:xfrm>
          <a:prstGeom prst="roundRect">
            <a:avLst>
              <a:gd name="adj" fmla="val 50000"/>
            </a:avLst>
          </a:prstGeom>
          <a:solidFill>
            <a:schemeClr val="accent3"/>
          </a:solidFill>
          <a:ln/>
        </p:spPr>
        <p:txBody>
          <a:bodyPr/>
          <a:p/>
        </p:txBody>
      </p:sp>
      <p:sp>
        <p:nvSpPr>
          <p:cNvPr id="20" name="B chip text"/>
          <p:cNvSpPr txBox="1"/>
          <p:nvPr/>
        </p:nvSpPr>
        <p:spPr>
          <a:xfrm>
            <a:off x="6510528" y="3392424"/>
            <a:ext cx="1124712" cy="384048"/>
          </a:xfrm>
          <a:prstGeom prst="rect">
            <a:avLst/>
          </a:prstGeom>
          <a:noFill/>
          <a:ln/>
        </p:spPr>
        <p:txBody>
          <a:bodyPr wrap="square" lIns="0" tIns="0" rIns="0" bIns="0" rtlCol="0" anchor="ctr"/>
          <a:lstStyle/>
          <a:p>
            <a:pPr algn="ctr" indent="0" marL="0">
              <a:buNone/>
            </a:pPr>
            <a:r>
              <a:rPr lang="en-US" sz="1300" b="1" dirty="0">
                <a:solidFill>
                  <a:srgbClr val="1E6A55"/>
                </a:solidFill>
                <a:latin typeface="Inter" panose="02000503000000020004" pitchFamily="34" charset="0"/>
                <a:ea typeface="Inter" panose="02000503000000020004" pitchFamily="34" charset="-122"/>
                <a:cs typeface="Inter" panose="02000503000000020004" pitchFamily="34" charset="-120"/>
              </a:rPr>
              <a:t>✓ Released</a:t>
            </a:r>
            <a:endParaRPr lang="en-US" sz="1300" dirty="0"/>
          </a:p>
        </p:txBody>
      </p:sp>
      <p:sp>
        <p:nvSpPr>
          <p:cNvPr id="21" name="Equals sign"/>
          <p:cNvSpPr txBox="1"/>
          <p:nvPr/>
        </p:nvSpPr>
        <p:spPr>
          <a:xfrm>
            <a:off x="7909560" y="2542032"/>
            <a:ext cx="640080" cy="1280160"/>
          </a:xfrm>
          <a:prstGeom prst="rect">
            <a:avLst/>
          </a:prstGeom>
          <a:noFill/>
          <a:ln/>
        </p:spPr>
        <p:txBody>
          <a:bodyPr wrap="square" lIns="0" tIns="0" rIns="0" bIns="0" rtlCol="0" anchor="t"/>
          <a:lstStyle/>
          <a:p>
            <a:pPr algn="ctr" indent="0" marL="0">
              <a:buNone/>
            </a:pPr>
            <a:r>
              <a:rPr lang="en-US" sz="8800" dirty="0">
                <a:solidFill>
                  <a:srgbClr val="A3B1C8"/>
                </a:solidFill>
                <a:latin typeface="Instrument Serif" panose="02020603050405020304" pitchFamily="18" charset="0"/>
                <a:ea typeface="Instrument Serif" panose="02020603050405020304" pitchFamily="18" charset="-122"/>
                <a:cs typeface="Instrument Serif" panose="02020603050405020304" pitchFamily="18" charset="-120"/>
              </a:rPr>
              <a:t>=</a:t>
            </a:r>
            <a:endParaRPr lang="en-US" sz="8800" dirty="0"/>
          </a:p>
        </p:txBody>
      </p:sp>
      <p:sp>
        <p:nvSpPr>
          <p:cNvPr id="22" name="Result one"/>
          <p:cNvSpPr txBox="1"/>
          <p:nvPr/>
        </p:nvSpPr>
        <p:spPr>
          <a:xfrm>
            <a:off x="8595360" y="1531620"/>
            <a:ext cx="1280160" cy="2651760"/>
          </a:xfrm>
          <a:prstGeom prst="rect">
            <a:avLst/>
          </a:prstGeom>
          <a:noFill/>
          <a:ln/>
        </p:spPr>
        <p:txBody>
          <a:bodyPr wrap="square" lIns="0" tIns="0" rIns="0" bIns="0" rtlCol="0" anchor="t"/>
          <a:lstStyle/>
          <a:p>
            <a:pPr algn="ctr" indent="0" marL="0">
              <a:buNone/>
            </a:pPr>
            <a:r>
              <a:rPr lang="en-US" sz="18000" dirty="0">
                <a:solidFill>
                  <a:schemeClr val="accent5"/>
                </a:solidFill>
                <a:latin typeface="Instrument Serif" panose="02020603050405020304" pitchFamily="18" charset="0"/>
                <a:ea typeface="Instrument Serif" panose="02020603050405020304" pitchFamily="18" charset="-122"/>
                <a:cs typeface="Instrument Serif" panose="02020603050405020304" pitchFamily="18" charset="-120"/>
              </a:rPr>
              <a:t>1</a:t>
            </a:r>
            <a:endParaRPr lang="en-US" sz="18000" dirty="0"/>
          </a:p>
        </p:txBody>
      </p:sp>
      <p:sp>
        <p:nvSpPr>
          <p:cNvPr id="23" name="Result caption"/>
          <p:cNvSpPr txBox="1"/>
          <p:nvPr/>
        </p:nvSpPr>
        <p:spPr>
          <a:xfrm>
            <a:off x="9921240" y="2651760"/>
            <a:ext cx="1581912" cy="1143000"/>
          </a:xfrm>
          <a:prstGeom prst="rect">
            <a:avLst/>
          </a:prstGeom>
          <a:noFill/>
          <a:ln/>
        </p:spPr>
        <p:txBody>
          <a:bodyPr wrap="square" lIns="0" tIns="0" rIns="0" bIns="0" rtlCol="0" anchor="b"/>
          <a:lstStyle/>
          <a:p>
            <a:pPr indent="0" marL="0">
              <a:spcAft>
                <a:spcPts val="400"/>
              </a:spcAft>
              <a:buNone/>
            </a:pPr>
            <a:r>
              <a:rPr lang="en-US" sz="1700" b="1" dirty="0">
                <a:solidFill>
                  <a:schemeClr val="bg1"/>
                </a:solidFill>
                <a:latin typeface="Inter" panose="02000503000000020004" pitchFamily="34" charset="0"/>
                <a:ea typeface="Inter" panose="02000503000000020004" pitchFamily="34" charset="-122"/>
                <a:cs typeface="Inter" panose="02000503000000020004" pitchFamily="34" charset="-120"/>
              </a:rPr>
              <a:t>One woman in Burgenland.</a:t>
            </a:r>
            <a:endParaRPr lang="en-US" sz="1700" dirty="0"/>
          </a:p>
          <a:p>
            <a:pPr indent="0" marL="0">
              <a:spcAft>
                <a:spcPts val="400"/>
              </a:spcAft>
              <a:buNone/>
            </a:pPr>
            <a:r>
              <a:rPr lang="en-US" sz="1300" dirty="0">
                <a:solidFill>
                  <a:srgbClr val="A3B1C8"/>
                </a:solidFill>
                <a:latin typeface="Inter" panose="02000503000000020004" pitchFamily="34" charset="0"/>
                <a:ea typeface="Inter" panose="02000503000000020004" pitchFamily="34" charset="-122"/>
                <a:cs typeface="Inter" panose="02000503000000020004" pitchFamily="34" charset="-120"/>
              </a:rPr>
              <a:t>A count the rule would show as “&lt;10”.</a:t>
            </a:r>
            <a:endParaRPr lang="en-US" sz="1700" dirty="0"/>
          </a:p>
        </p:txBody>
      </p:sp>
      <p:sp>
        <p:nvSpPr>
          <p:cNvPr id="24" name="Text 2"/>
          <p:cNvSpPr/>
          <p:nvPr>
            <p:ph idx="103" type="title" hasCustomPrompt="1"/>
          </p:nvPr>
        </p:nvSpPr>
        <p:spPr>
          <a:xfrm>
            <a:off x="685800" y="4443984"/>
            <a:ext cx="10817352" cy="1280160"/>
          </a:xfrm>
          <a:prstGeom prst="rect">
            <a:avLst/>
          </a:prstGeom>
          <a:noFill/>
          <a:ln/>
        </p:spPr>
        <p:txBody>
          <a:bodyPr wrap="square" lIns="0" tIns="0" rIns="0" bIns="0" rtlCol="0" anchor="t"/>
          <a:lstStyle/>
          <a:p>
            <a:pPr algn="l" indent="0" marL="0">
              <a:lnSpc>
                <a:spcPct val="95000"/>
              </a:lnSpc>
              <a:buNone/>
            </a:pPr>
            <a:r>
              <a:rPr lang="en-US" sz="4000" dirty="0">
                <a:solidFill>
                  <a:srgbClr val="FAFAF8"/>
                </a:solidFill>
                <a:latin typeface="Instrument Serif" panose="02020603050405020304" pitchFamily="18" charset="0"/>
                <a:ea typeface="Instrument Serif" panose="02020603050405020304" pitchFamily="18" charset="-122"/>
                <a:cs typeface="Instrument Serif" panose="02020603050405020304" pitchFamily="18" charset="-120"/>
              </a:rPr>
              <a:t>Both answers pass the rule.</a:t>
            </a:r>
            <a:endParaRPr lang="en-US" sz="4000" dirty="0"/>
          </a:p>
          <a:p>
            <a:pPr algn="l" indent="0" marL="0">
              <a:lnSpc>
                <a:spcPct val="95000"/>
              </a:lnSpc>
              <a:buNone/>
            </a:pPr>
            <a:r>
              <a:rPr lang="en-US" sz="4000" i="1" dirty="0">
                <a:solidFill>
                  <a:schemeClr val="accent5"/>
                </a:solidFill>
                <a:latin typeface="Instrument Serif" panose="02020603050405020304" pitchFamily="18" charset="0"/>
                <a:ea typeface="Instrument Serif" panose="02020603050405020304" pitchFamily="18" charset="-122"/>
                <a:cs typeface="Instrument Serif" panose="02020603050405020304" pitchFamily="18" charset="-120"/>
              </a:rPr>
              <a:t>Together, they break the protection.</a:t>
            </a:r>
            <a:endParaRPr lang="en-US" sz="4000" dirty="0"/>
          </a:p>
        </p:txBody>
      </p:sp>
      <p:sp>
        <p:nvSpPr>
          <p:cNvPr id="25" name="Source note"/>
          <p:cNvSpPr txBox="1"/>
          <p:nvPr/>
        </p:nvSpPr>
        <p:spPr>
          <a:xfrm>
            <a:off x="685800" y="5870448"/>
            <a:ext cx="10817352" cy="256032"/>
          </a:xfrm>
          <a:prstGeom prst="rect">
            <a:avLst/>
          </a:prstGeom>
          <a:noFill/>
          <a:ln/>
        </p:spPr>
        <p:txBody>
          <a:bodyPr wrap="square" lIns="0" tIns="0" rIns="0" bIns="0" rtlCol="0" anchor="t"/>
          <a:lstStyle/>
          <a:p>
            <a:pPr indent="0" marL="0">
              <a:buNone/>
            </a:pPr>
            <a:r>
              <a:rPr lang="en-US" sz="1100" dirty="0">
                <a:solidFill>
                  <a:srgbClr val="A3B1C8"/>
                </a:solidFill>
                <a:latin typeface="Inter" panose="02000503000000020004" pitchFamily="34" charset="0"/>
                <a:ea typeface="Inter" panose="02000503000000020004" pitchFamily="34" charset="-122"/>
                <a:cs typeface="Inter" panose="02000503000000020004" pitchFamily="34" charset="-120"/>
              </a:rPr>
              <a:t>Counts verified on the official synthetic hackathon dataset (20,000 patients)  ·  ICD-10 C50  ·  age on 31 Dec 2025  ·  opted-out patients excluded</a:t>
            </a:r>
            <a:endParaRPr lang="en-US" sz="1100" dirty="0"/>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3B1C8"/>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par>
                          <p:cTn id="40" fill="hold">
                            <p:stCondLst>
                              <p:cond delay="500"/>
                            </p:stCondLst>
                            <p:childTnLst>
                              <p:par>
                                <p:cTn id="41" presetID="10" presetClass="entr" presetSubtype="0" fill="hold" grpId="0" nodeType="afterEffect">
                                  <p:stCondLst>
                                    <p:cond delay="25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685800" y="502920"/>
            <a:ext cx="10817352" cy="274320"/>
          </a:xfrm>
          <a:prstGeom prst="rect">
            <a:avLst/>
          </a:prstGeom>
          <a:noFill/>
          <a:ln/>
        </p:spPr>
        <p:txBody>
          <a:bodyPr wrap="square" lIns="0" tIns="0" rIns="0" bIns="0" rtlCol="0" anchor="ctr"/>
          <a:lstStyle/>
          <a:p>
            <a:pPr indent="0" marL="0">
              <a:buNone/>
            </a:pPr>
            <a:r>
              <a:rPr lang="en-US" sz="1200" spc="200" kern="0" dirty="0">
                <a:solidFill>
                  <a:srgbClr val="BDB3F6"/>
                </a:solidFill>
                <a:latin typeface="IBM Plex Mono" panose="020B0509050203000203" pitchFamily="49" charset="0"/>
                <a:ea typeface="IBM Plex Mono" panose="020B0509050203000203" pitchFamily="49" charset="-122"/>
                <a:cs typeface="IBM Plex Mono" panose="020B0509050203000203" pitchFamily="49" charset="-120"/>
              </a:rPr>
              <a:t>OUR SOLUTION  ·  HEALTHCARE ROCKET</a:t>
            </a:r>
            <a:endParaRPr lang="en-US" sz="1200" dirty="0"/>
          </a:p>
        </p:txBody>
      </p:sp>
      <p:sp>
        <p:nvSpPr>
          <p:cNvPr id="3" name="Text 2"/>
          <p:cNvSpPr/>
          <p:nvPr>
            <p:ph idx="103" type="title" hasCustomPrompt="1"/>
          </p:nvPr>
        </p:nvSpPr>
        <p:spPr>
          <a:xfrm>
            <a:off x="685800" y="822960"/>
            <a:ext cx="10817352" cy="1371600"/>
          </a:xfrm>
          <a:prstGeom prst="rect">
            <a:avLst/>
          </a:prstGeom>
          <a:noFill/>
          <a:ln/>
        </p:spPr>
        <p:txBody>
          <a:bodyPr wrap="square" lIns="0" tIns="0" rIns="0" bIns="0" rtlCol="0" anchor="t"/>
          <a:lstStyle/>
          <a:p>
            <a:pPr algn="l" indent="0" marL="0">
              <a:lnSpc>
                <a:spcPct val="92000"/>
              </a:lnSpc>
              <a:buNone/>
            </a:pPr>
            <a:r>
              <a:rPr lang="en-US" sz="4600" dirty="0">
                <a:solidFill>
                  <a:srgbClr val="FAFAF8"/>
                </a:solidFill>
                <a:latin typeface="Instrument Serif" panose="02020603050405020304" pitchFamily="18" charset="0"/>
                <a:ea typeface="Instrument Serif" panose="02020603050405020304" pitchFamily="18" charset="-122"/>
                <a:cs typeface="Instrument Serif" panose="02020603050405020304" pitchFamily="18" charset="-120"/>
              </a:rPr>
              <a:t>Allowed is not the same as </a:t>
            </a:r>
            <a:r>
              <a:rPr lang="en-US" sz="4600" i="1" dirty="0">
                <a:solidFill>
                  <a:schemeClr val="accent1"/>
                </a:solidFill>
                <a:latin typeface="Instrument Serif" panose="02020603050405020304" pitchFamily="18" charset="0"/>
                <a:ea typeface="Instrument Serif" panose="02020603050405020304" pitchFamily="18" charset="-122"/>
                <a:cs typeface="Instrument Serif" panose="02020603050405020304" pitchFamily="18" charset="-120"/>
              </a:rPr>
              <a:t>safe.</a:t>
            </a:r>
            <a:endParaRPr lang="en-US" sz="4600" dirty="0"/>
          </a:p>
        </p:txBody>
      </p:sp>
      <p:sp>
        <p:nvSpPr>
          <p:cNvPr id="4" name="Subline"/>
          <p:cNvSpPr txBox="1"/>
          <p:nvPr/>
        </p:nvSpPr>
        <p:spPr>
          <a:xfrm>
            <a:off x="685800" y="1664208"/>
            <a:ext cx="10817352" cy="365760"/>
          </a:xfrm>
          <a:prstGeom prst="rect">
            <a:avLst/>
          </a:prstGeom>
          <a:noFill/>
          <a:ln/>
        </p:spPr>
        <p:txBody>
          <a:bodyPr wrap="square" lIns="0" tIns="0" rIns="0" bIns="0" rtlCol="0" anchor="t"/>
          <a:lstStyle/>
          <a:p>
            <a:pPr indent="0" marL="0">
              <a:buNone/>
            </a:pPr>
            <a:r>
              <a:rPr lang="en-US" sz="2000" dirty="0">
                <a:solidFill>
                  <a:srgbClr val="A3B1C8"/>
                </a:solidFill>
                <a:latin typeface="Inter" panose="02000503000000020004" pitchFamily="34" charset="0"/>
                <a:ea typeface="Inter" panose="02000503000000020004" pitchFamily="34" charset="-122"/>
                <a:cs typeface="Inter" panose="02000503000000020004" pitchFamily="34" charset="-120"/>
              </a:rPr>
              <a:t>Every request passes two checks before anything is released.</a:t>
            </a:r>
            <a:endParaRPr lang="en-US" sz="2000" dirty="0"/>
          </a:p>
        </p:txBody>
      </p:sp>
      <p:sp>
        <p:nvSpPr>
          <p:cNvPr id="5" name="Input node"/>
          <p:cNvSpPr/>
          <p:nvPr/>
        </p:nvSpPr>
        <p:spPr>
          <a:xfrm>
            <a:off x="685800" y="3534156"/>
            <a:ext cx="1783080" cy="1426464"/>
          </a:xfrm>
          <a:prstGeom prst="roundRect">
            <a:avLst>
              <a:gd name="adj" fmla="val 8974"/>
            </a:avLst>
          </a:prstGeom>
          <a:solidFill>
            <a:schemeClr val="tx2"/>
          </a:solidFill>
          <a:ln w="12700">
            <a:solidFill>
              <a:srgbClr val="2B4A72"/>
            </a:solidFill>
            <a:prstDash val="solid"/>
          </a:ln>
        </p:spPr>
        <p:txBody>
          <a:bodyPr/>
          <a:p/>
        </p:txBody>
      </p:sp>
      <p:sp>
        <p:nvSpPr>
          <p:cNvPr id="6" name="Text 4"/>
          <p:cNvSpPr txBox="1"/>
          <p:nvPr/>
        </p:nvSpPr>
        <p:spPr>
          <a:xfrm>
            <a:off x="868680" y="3717036"/>
            <a:ext cx="1463040" cy="228600"/>
          </a:xfrm>
          <a:prstGeom prst="rect">
            <a:avLst/>
          </a:prstGeom>
          <a:noFill/>
          <a:ln/>
        </p:spPr>
        <p:txBody>
          <a:bodyPr wrap="square" lIns="0" tIns="0" rIns="0" bIns="0" rtlCol="0" anchor="t"/>
          <a:lstStyle/>
          <a:p>
            <a:pPr indent="0" marL="0">
              <a:buNone/>
            </a:pPr>
            <a:r>
              <a:rPr lang="en-US" sz="1100" spc="150" kern="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INPUT</a:t>
            </a:r>
            <a:endParaRPr lang="en-US" sz="1100" dirty="0"/>
          </a:p>
        </p:txBody>
      </p:sp>
      <p:sp>
        <p:nvSpPr>
          <p:cNvPr id="7" name="Text 5"/>
          <p:cNvSpPr txBox="1"/>
          <p:nvPr/>
        </p:nvSpPr>
        <p:spPr>
          <a:xfrm>
            <a:off x="868680" y="4000500"/>
            <a:ext cx="1463040" cy="566928"/>
          </a:xfrm>
          <a:prstGeom prst="rect">
            <a:avLst/>
          </a:prstGeom>
          <a:noFill/>
          <a:ln/>
        </p:spPr>
        <p:txBody>
          <a:bodyPr wrap="square" lIns="0" tIns="0" rIns="0" bIns="0" rtlCol="0" anchor="t"/>
          <a:lstStyle/>
          <a:p>
            <a:pPr indent="0" marL="0">
              <a:buNone/>
            </a:pPr>
            <a:r>
              <a:rPr lang="en-US" sz="1600" b="1" dirty="0">
                <a:solidFill>
                  <a:schemeClr val="bg1"/>
                </a:solidFill>
                <a:latin typeface="Inter" panose="02000503000000020004" pitchFamily="34" charset="0"/>
                <a:ea typeface="Inter" panose="02000503000000020004" pitchFamily="34" charset="-122"/>
                <a:cs typeface="Inter" panose="02000503000000020004" pitchFamily="34" charset="-120"/>
              </a:rPr>
              <a:t>Research question</a:t>
            </a:r>
            <a:endParaRPr lang="en-US" sz="1600" dirty="0"/>
          </a:p>
        </p:txBody>
      </p:sp>
      <p:sp>
        <p:nvSpPr>
          <p:cNvPr id="8" name="Text 6"/>
          <p:cNvSpPr txBox="1"/>
          <p:nvPr/>
        </p:nvSpPr>
        <p:spPr>
          <a:xfrm>
            <a:off x="868680" y="4576572"/>
            <a:ext cx="1463040" cy="256032"/>
          </a:xfrm>
          <a:prstGeom prst="rect">
            <a:avLst/>
          </a:prstGeom>
          <a:noFill/>
          <a:ln/>
        </p:spPr>
        <p:txBody>
          <a:bodyPr wrap="square" lIns="0" tIns="0" rIns="0" bIns="0" rtlCol="0" anchor="t"/>
          <a:lstStyle/>
          <a:p>
            <a:pPr indent="0" marL="0">
              <a:buNone/>
            </a:pPr>
            <a:r>
              <a:rPr lang="en-US" sz="1300" dirty="0">
                <a:solidFill>
                  <a:srgbClr val="A3B1C8"/>
                </a:solidFill>
                <a:latin typeface="Inter" panose="02000503000000020004" pitchFamily="34" charset="0"/>
                <a:ea typeface="Inter" panose="02000503000000020004" pitchFamily="34" charset="-122"/>
                <a:cs typeface="Inter" panose="02000503000000020004" pitchFamily="34" charset="-120"/>
              </a:rPr>
              <a:t>in plain language</a:t>
            </a:r>
            <a:endParaRPr lang="en-US" sz="1300" dirty="0"/>
          </a:p>
        </p:txBody>
      </p:sp>
      <p:sp>
        <p:nvSpPr>
          <p:cNvPr id="9" name="Arrow to check 1"/>
          <p:cNvSpPr/>
          <p:nvPr/>
        </p:nvSpPr>
        <p:spPr>
          <a:xfrm>
            <a:off x="2523744" y="4247388"/>
            <a:ext cx="310896" cy="0"/>
          </a:xfrm>
          <a:prstGeom prst="line">
            <a:avLst/>
          </a:prstGeom>
          <a:noFill/>
          <a:ln w="19050">
            <a:solidFill>
              <a:srgbClr val="A3B1C8"/>
            </a:solidFill>
            <a:prstDash val="solid"/>
            <a:tailEnd type="triangle"/>
          </a:ln>
        </p:spPr>
        <p:txBody>
          <a:bodyPr/>
          <a:p/>
        </p:txBody>
      </p:sp>
      <p:sp>
        <p:nvSpPr>
          <p:cNvPr id="10" name="Check 1 card"/>
          <p:cNvSpPr/>
          <p:nvPr/>
        </p:nvSpPr>
        <p:spPr>
          <a:xfrm>
            <a:off x="2880360" y="2487168"/>
            <a:ext cx="3017520" cy="3520440"/>
          </a:xfrm>
          <a:prstGeom prst="roundRect">
            <a:avLst>
              <a:gd name="adj" fmla="val 4242"/>
            </a:avLst>
          </a:prstGeom>
          <a:solidFill>
            <a:schemeClr val="accent3"/>
          </a:solidFill>
          <a:ln/>
        </p:spPr>
        <p:txBody>
          <a:bodyPr/>
          <a:p/>
        </p:txBody>
      </p:sp>
      <p:sp>
        <p:nvSpPr>
          <p:cNvPr id="11" name="Text 9"/>
          <p:cNvSpPr txBox="1"/>
          <p:nvPr/>
        </p:nvSpPr>
        <p:spPr>
          <a:xfrm>
            <a:off x="3154680" y="2734056"/>
            <a:ext cx="1280160" cy="256032"/>
          </a:xfrm>
          <a:prstGeom prst="rect">
            <a:avLst/>
          </a:prstGeom>
          <a:noFill/>
          <a:ln/>
        </p:spPr>
        <p:txBody>
          <a:bodyPr wrap="square" lIns="0" tIns="0" rIns="0" bIns="0" rtlCol="0" anchor="t"/>
          <a:lstStyle/>
          <a:p>
            <a:pPr indent="0" marL="0">
              <a:buNone/>
            </a:pPr>
            <a:r>
              <a:rPr lang="en-US" sz="1200" spc="2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CHECK 1</a:t>
            </a:r>
            <a:endParaRPr lang="en-US" sz="1200" dirty="0"/>
          </a:p>
        </p:txBody>
      </p:sp>
      <p:sp>
        <p:nvSpPr>
          <p:cNvPr id="12" name="Check 1 status"/>
          <p:cNvSpPr/>
          <p:nvPr/>
        </p:nvSpPr>
        <p:spPr>
          <a:xfrm>
            <a:off x="4645152" y="2743200"/>
            <a:ext cx="1024128" cy="237744"/>
          </a:xfrm>
          <a:prstGeom prst="roundRect">
            <a:avLst>
              <a:gd name="adj" fmla="val 50000"/>
            </a:avLst>
          </a:prstGeom>
          <a:solidFill>
            <a:schemeClr val="accent3"/>
          </a:solidFill>
          <a:ln/>
        </p:spPr>
        <p:txBody>
          <a:bodyPr/>
          <a:p/>
        </p:txBody>
      </p:sp>
      <p:sp>
        <p:nvSpPr>
          <p:cNvPr id="13" name="Check 1 status text"/>
          <p:cNvSpPr txBox="1"/>
          <p:nvPr/>
        </p:nvSpPr>
        <p:spPr>
          <a:xfrm>
            <a:off x="4645152" y="2743200"/>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14" name="Text 12"/>
          <p:cNvSpPr txBox="1"/>
          <p:nvPr/>
        </p:nvSpPr>
        <p:spPr>
          <a:xfrm>
            <a:off x="3154680" y="3090672"/>
            <a:ext cx="2514600" cy="777240"/>
          </a:xfrm>
          <a:prstGeom prst="rect">
            <a:avLst/>
          </a:prstGeom>
          <a:noFill/>
          <a:ln/>
        </p:spPr>
        <p:txBody>
          <a:bodyPr wrap="square" lIns="0" tIns="0" rIns="0" bIns="0" rtlCol="0" anchor="t"/>
          <a:lstStyle/>
          <a:p>
            <a:pPr indent="0" marL="0">
              <a:buNone/>
            </a:pPr>
            <a:r>
              <a:rPr lang="en-US" sz="2100" b="1" dirty="0">
                <a:solidFill>
                  <a:schemeClr val="tx1"/>
                </a:solidFill>
                <a:latin typeface="Inter" panose="02000503000000020004" pitchFamily="34" charset="0"/>
                <a:ea typeface="Inter" panose="02000503000000020004" pitchFamily="34" charset="-122"/>
                <a:cs typeface="Inter" panose="02000503000000020004" pitchFamily="34" charset="-120"/>
              </a:rPr>
              <a:t>Is the request allowed?</a:t>
            </a:r>
            <a:endParaRPr lang="en-US" sz="2100" dirty="0"/>
          </a:p>
        </p:txBody>
      </p:sp>
      <p:sp>
        <p:nvSpPr>
          <p:cNvPr id="15" name="Shape 13"/>
          <p:cNvSpPr/>
          <p:nvPr/>
        </p:nvSpPr>
        <p:spPr>
          <a:xfrm>
            <a:off x="3154680" y="4005072"/>
            <a:ext cx="2468880" cy="0"/>
          </a:xfrm>
          <a:prstGeom prst="line">
            <a:avLst/>
          </a:prstGeom>
          <a:noFill/>
          <a:ln w="12700">
            <a:solidFill>
              <a:srgbClr val="C9DDD6"/>
            </a:solidFill>
            <a:prstDash val="solid"/>
          </a:ln>
        </p:spPr>
        <p:txBody>
          <a:bodyPr/>
          <a:p/>
        </p:txBody>
      </p:sp>
      <p:sp>
        <p:nvSpPr>
          <p:cNvPr id="16" name="Text 14"/>
          <p:cNvSpPr txBox="1"/>
          <p:nvPr/>
        </p:nvSpPr>
        <p:spPr>
          <a:xfrm>
            <a:off x="3154680" y="4096512"/>
            <a:ext cx="2468880" cy="292608"/>
          </a:xfrm>
          <a:prstGeom prst="rect">
            <a:avLst/>
          </a:prstGeom>
          <a:noFill/>
          <a:ln/>
        </p:spPr>
        <p:txBody>
          <a:bodyPr wrap="square" lIns="0" tIns="0" rIns="0" bIns="0" rtlCol="0" anchor="t"/>
          <a:lstStyle/>
          <a:p>
            <a:pPr indent="0" marL="0">
              <a:buNone/>
            </a:pPr>
            <a:r>
              <a:rPr lang="en-US" sz="1500" dirty="0">
                <a:solidFill>
                  <a:schemeClr val="tx1"/>
                </a:solidFill>
                <a:latin typeface="Inter" panose="02000503000000020004" pitchFamily="34" charset="0"/>
                <a:ea typeface="Inter" panose="02000503000000020004" pitchFamily="34" charset="-122"/>
                <a:cs typeface="Inter" panose="02000503000000020004" pitchFamily="34" charset="-120"/>
              </a:rPr>
              <a:t>Purpose permitted</a:t>
            </a:r>
            <a:endParaRPr lang="en-US" sz="1500" dirty="0"/>
          </a:p>
        </p:txBody>
      </p:sp>
      <p:sp>
        <p:nvSpPr>
          <p:cNvPr id="17" name="Shape 15"/>
          <p:cNvSpPr/>
          <p:nvPr/>
        </p:nvSpPr>
        <p:spPr>
          <a:xfrm>
            <a:off x="3154680" y="4462272"/>
            <a:ext cx="2468880" cy="0"/>
          </a:xfrm>
          <a:prstGeom prst="line">
            <a:avLst/>
          </a:prstGeom>
          <a:noFill/>
          <a:ln w="12700">
            <a:solidFill>
              <a:srgbClr val="C9DDD6"/>
            </a:solidFill>
            <a:prstDash val="solid"/>
          </a:ln>
        </p:spPr>
        <p:txBody>
          <a:bodyPr/>
          <a:p/>
        </p:txBody>
      </p:sp>
      <p:sp>
        <p:nvSpPr>
          <p:cNvPr id="18" name="Text 16"/>
          <p:cNvSpPr txBox="1"/>
          <p:nvPr/>
        </p:nvSpPr>
        <p:spPr>
          <a:xfrm>
            <a:off x="3154680" y="4553712"/>
            <a:ext cx="2468880" cy="292608"/>
          </a:xfrm>
          <a:prstGeom prst="rect">
            <a:avLst/>
          </a:prstGeom>
          <a:noFill/>
          <a:ln/>
        </p:spPr>
        <p:txBody>
          <a:bodyPr wrap="square" lIns="0" tIns="0" rIns="0" bIns="0" rtlCol="0" anchor="t"/>
          <a:lstStyle/>
          <a:p>
            <a:pPr indent="0" marL="0">
              <a:buNone/>
            </a:pPr>
            <a:r>
              <a:rPr lang="en-US" sz="1500" dirty="0">
                <a:solidFill>
                  <a:schemeClr val="tx1"/>
                </a:solidFill>
                <a:latin typeface="Inter" panose="02000503000000020004" pitchFamily="34" charset="0"/>
                <a:ea typeface="Inter" panose="02000503000000020004" pitchFamily="34" charset="-122"/>
                <a:cs typeface="Inter" panose="02000503000000020004" pitchFamily="34" charset="-120"/>
              </a:rPr>
              <a:t>Statistics or secure access</a:t>
            </a:r>
            <a:endParaRPr lang="en-US" sz="1500" dirty="0"/>
          </a:p>
        </p:txBody>
      </p:sp>
      <p:sp>
        <p:nvSpPr>
          <p:cNvPr id="19" name="Shape 17"/>
          <p:cNvSpPr/>
          <p:nvPr/>
        </p:nvSpPr>
        <p:spPr>
          <a:xfrm>
            <a:off x="3154680" y="4919472"/>
            <a:ext cx="2468880" cy="0"/>
          </a:xfrm>
          <a:prstGeom prst="line">
            <a:avLst/>
          </a:prstGeom>
          <a:noFill/>
          <a:ln w="12700">
            <a:solidFill>
              <a:srgbClr val="C9DDD6"/>
            </a:solidFill>
            <a:prstDash val="solid"/>
          </a:ln>
        </p:spPr>
        <p:txBody>
          <a:bodyPr/>
          <a:p/>
        </p:txBody>
      </p:sp>
      <p:sp>
        <p:nvSpPr>
          <p:cNvPr id="20" name="Text 18"/>
          <p:cNvSpPr txBox="1"/>
          <p:nvPr/>
        </p:nvSpPr>
        <p:spPr>
          <a:xfrm>
            <a:off x="3154680" y="5010912"/>
            <a:ext cx="2468880" cy="292608"/>
          </a:xfrm>
          <a:prstGeom prst="rect">
            <a:avLst/>
          </a:prstGeom>
          <a:noFill/>
          <a:ln/>
        </p:spPr>
        <p:txBody>
          <a:bodyPr wrap="square" lIns="0" tIns="0" rIns="0" bIns="0" rtlCol="0" anchor="t"/>
          <a:lstStyle/>
          <a:p>
            <a:pPr indent="0" marL="0">
              <a:buNone/>
            </a:pPr>
            <a:r>
              <a:rPr lang="en-US" sz="1500" dirty="0">
                <a:solidFill>
                  <a:schemeClr val="tx1"/>
                </a:solidFill>
                <a:latin typeface="Inter" panose="02000503000000020004" pitchFamily="34" charset="0"/>
                <a:ea typeface="Inter" panose="02000503000000020004" pitchFamily="34" charset="-122"/>
                <a:cs typeface="Inter" panose="02000503000000020004" pitchFamily="34" charset="-120"/>
              </a:rPr>
              <a:t>Minimum necessary data</a:t>
            </a:r>
            <a:endParaRPr lang="en-US" sz="1500" dirty="0"/>
          </a:p>
        </p:txBody>
      </p:sp>
      <p:sp>
        <p:nvSpPr>
          <p:cNvPr id="21" name="Shape 19"/>
          <p:cNvSpPr/>
          <p:nvPr/>
        </p:nvSpPr>
        <p:spPr>
          <a:xfrm>
            <a:off x="3154680" y="5376672"/>
            <a:ext cx="2468880" cy="0"/>
          </a:xfrm>
          <a:prstGeom prst="line">
            <a:avLst/>
          </a:prstGeom>
          <a:noFill/>
          <a:ln w="12700">
            <a:solidFill>
              <a:srgbClr val="C9DDD6"/>
            </a:solidFill>
            <a:prstDash val="solid"/>
          </a:ln>
        </p:spPr>
        <p:txBody>
          <a:bodyPr/>
          <a:p/>
        </p:txBody>
      </p:sp>
      <p:sp>
        <p:nvSpPr>
          <p:cNvPr id="22" name="Text 20"/>
          <p:cNvSpPr txBox="1"/>
          <p:nvPr/>
        </p:nvSpPr>
        <p:spPr>
          <a:xfrm>
            <a:off x="3154680" y="5468112"/>
            <a:ext cx="2468880" cy="292608"/>
          </a:xfrm>
          <a:prstGeom prst="rect">
            <a:avLst/>
          </a:prstGeom>
          <a:noFill/>
          <a:ln/>
        </p:spPr>
        <p:txBody>
          <a:bodyPr wrap="square" lIns="0" tIns="0" rIns="0" bIns="0" rtlCol="0" anchor="t"/>
          <a:lstStyle/>
          <a:p>
            <a:pPr indent="0" marL="0">
              <a:buNone/>
            </a:pPr>
            <a:r>
              <a:rPr lang="en-US" sz="1500" dirty="0">
                <a:solidFill>
                  <a:schemeClr val="tx1"/>
                </a:solidFill>
                <a:latin typeface="Inter" panose="02000503000000020004" pitchFamily="34" charset="0"/>
                <a:ea typeface="Inter" panose="02000503000000020004" pitchFamily="34" charset="-122"/>
                <a:cs typeface="Inter" panose="02000503000000020004" pitchFamily="34" charset="-120"/>
              </a:rPr>
              <a:t>Opt-outs excluded</a:t>
            </a:r>
            <a:endParaRPr lang="en-US" sz="1500" dirty="0"/>
          </a:p>
        </p:txBody>
      </p:sp>
      <p:sp>
        <p:nvSpPr>
          <p:cNvPr id="23" name="Arrow to check 2"/>
          <p:cNvSpPr/>
          <p:nvPr/>
        </p:nvSpPr>
        <p:spPr>
          <a:xfrm>
            <a:off x="5943600" y="4247388"/>
            <a:ext cx="320040" cy="0"/>
          </a:xfrm>
          <a:prstGeom prst="line">
            <a:avLst/>
          </a:prstGeom>
          <a:noFill/>
          <a:ln w="19050">
            <a:solidFill>
              <a:srgbClr val="A3B1C8"/>
            </a:solidFill>
            <a:prstDash val="solid"/>
            <a:tailEnd type="triangle"/>
          </a:ln>
        </p:spPr>
        <p:txBody>
          <a:bodyPr/>
          <a:p/>
        </p:txBody>
      </p:sp>
      <p:sp>
        <p:nvSpPr>
          <p:cNvPr id="24" name="Check 2 card"/>
          <p:cNvSpPr/>
          <p:nvPr/>
        </p:nvSpPr>
        <p:spPr>
          <a:xfrm>
            <a:off x="6309360" y="2487168"/>
            <a:ext cx="3108960" cy="3520440"/>
          </a:xfrm>
          <a:prstGeom prst="roundRect">
            <a:avLst>
              <a:gd name="adj" fmla="val 4118"/>
            </a:avLst>
          </a:prstGeom>
          <a:solidFill>
            <a:schemeClr val="accent4"/>
          </a:solidFill>
          <a:ln/>
        </p:spPr>
        <p:txBody>
          <a:bodyPr/>
          <a:p/>
        </p:txBody>
      </p:sp>
      <p:sp>
        <p:nvSpPr>
          <p:cNvPr id="25" name="Text 23"/>
          <p:cNvSpPr txBox="1"/>
          <p:nvPr/>
        </p:nvSpPr>
        <p:spPr>
          <a:xfrm>
            <a:off x="6583680" y="2734056"/>
            <a:ext cx="1280160" cy="256032"/>
          </a:xfrm>
          <a:prstGeom prst="rect">
            <a:avLst/>
          </a:prstGeom>
          <a:noFill/>
          <a:ln/>
        </p:spPr>
        <p:txBody>
          <a:bodyPr wrap="square" lIns="0" tIns="0" rIns="0" bIns="0" rtlCol="0" anchor="t"/>
          <a:lstStyle/>
          <a:p>
            <a:pPr indent="0" marL="0">
              <a:buNone/>
            </a:pPr>
            <a:r>
              <a:rPr lang="en-US" sz="1200" spc="200" kern="0" dirty="0">
                <a:solidFill>
                  <a:srgbClr val="BC3834"/>
                </a:solidFill>
                <a:latin typeface="IBM Plex Mono" panose="020B0509050203000203" pitchFamily="49" charset="0"/>
                <a:ea typeface="IBM Plex Mono" panose="020B0509050203000203" pitchFamily="49" charset="-122"/>
                <a:cs typeface="IBM Plex Mono" panose="020B0509050203000203" pitchFamily="49" charset="-120"/>
              </a:rPr>
              <a:t>CHECK 2</a:t>
            </a:r>
            <a:endParaRPr lang="en-US" sz="1200" dirty="0"/>
          </a:p>
        </p:txBody>
      </p:sp>
      <p:sp>
        <p:nvSpPr>
          <p:cNvPr id="26" name="Check 2 status"/>
          <p:cNvSpPr/>
          <p:nvPr/>
        </p:nvSpPr>
        <p:spPr>
          <a:xfrm>
            <a:off x="8165592" y="2743200"/>
            <a:ext cx="1024128" cy="237744"/>
          </a:xfrm>
          <a:prstGeom prst="roundRect">
            <a:avLst>
              <a:gd name="adj" fmla="val 50000"/>
            </a:avLst>
          </a:prstGeom>
          <a:solidFill>
            <a:schemeClr val="accent3"/>
          </a:solidFill>
          <a:ln/>
        </p:spPr>
        <p:txBody>
          <a:bodyPr/>
          <a:p/>
        </p:txBody>
      </p:sp>
      <p:sp>
        <p:nvSpPr>
          <p:cNvPr id="27" name="Check 2 status text"/>
          <p:cNvSpPr txBox="1"/>
          <p:nvPr/>
        </p:nvSpPr>
        <p:spPr>
          <a:xfrm>
            <a:off x="8165592" y="2743200"/>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28" name="Text 26"/>
          <p:cNvSpPr txBox="1"/>
          <p:nvPr/>
        </p:nvSpPr>
        <p:spPr>
          <a:xfrm>
            <a:off x="6583680" y="3090672"/>
            <a:ext cx="2606040" cy="777240"/>
          </a:xfrm>
          <a:prstGeom prst="rect">
            <a:avLst/>
          </a:prstGeom>
          <a:noFill/>
          <a:ln/>
        </p:spPr>
        <p:txBody>
          <a:bodyPr wrap="square" lIns="0" tIns="0" rIns="0" bIns="0" rtlCol="0" anchor="t"/>
          <a:lstStyle/>
          <a:p>
            <a:pPr indent="0" marL="0">
              <a:buNone/>
            </a:pPr>
            <a:r>
              <a:rPr lang="en-US" sz="2100" b="1" dirty="0">
                <a:solidFill>
                  <a:schemeClr val="tx1"/>
                </a:solidFill>
                <a:latin typeface="Inter" panose="02000503000000020004" pitchFamily="34" charset="0"/>
                <a:ea typeface="Inter" panose="02000503000000020004" pitchFamily="34" charset="-122"/>
                <a:cs typeface="Inter" panose="02000503000000020004" pitchFamily="34" charset="-120"/>
              </a:rPr>
              <a:t>Is the answer safe to release?</a:t>
            </a:r>
            <a:endParaRPr lang="en-US" sz="2100" dirty="0"/>
          </a:p>
        </p:txBody>
      </p:sp>
      <p:sp>
        <p:nvSpPr>
          <p:cNvPr id="29" name="Shape 27"/>
          <p:cNvSpPr/>
          <p:nvPr/>
        </p:nvSpPr>
        <p:spPr>
          <a:xfrm>
            <a:off x="6583680" y="4005072"/>
            <a:ext cx="2560320" cy="0"/>
          </a:xfrm>
          <a:prstGeom prst="line">
            <a:avLst/>
          </a:prstGeom>
          <a:noFill/>
          <a:ln w="12700">
            <a:solidFill>
              <a:srgbClr val="EBCFC4"/>
            </a:solidFill>
            <a:prstDash val="solid"/>
          </a:ln>
        </p:spPr>
        <p:txBody>
          <a:bodyPr/>
          <a:p/>
        </p:txBody>
      </p:sp>
      <p:sp>
        <p:nvSpPr>
          <p:cNvPr id="30" name="Text 28"/>
          <p:cNvSpPr txBox="1"/>
          <p:nvPr/>
        </p:nvSpPr>
        <p:spPr>
          <a:xfrm>
            <a:off x="6583680" y="4096512"/>
            <a:ext cx="2560320" cy="292608"/>
          </a:xfrm>
          <a:prstGeom prst="rect">
            <a:avLst/>
          </a:prstGeom>
          <a:noFill/>
          <a:ln/>
        </p:spPr>
        <p:txBody>
          <a:bodyPr wrap="square" lIns="0" tIns="0" rIns="0" bIns="0" rtlCol="0" anchor="t"/>
          <a:lstStyle/>
          <a:p>
            <a:pPr indent="0" marL="0">
              <a:buNone/>
            </a:pPr>
            <a:r>
              <a:rPr lang="en-US" sz="1500" dirty="0">
                <a:solidFill>
                  <a:schemeClr val="tx1"/>
                </a:solidFill>
                <a:latin typeface="Inter" panose="02000503000000020004" pitchFamily="34" charset="0"/>
                <a:ea typeface="Inter" panose="02000503000000020004" pitchFamily="34" charset="-122"/>
                <a:cs typeface="Inter" panose="02000503000000020004" pitchFamily="34" charset="-120"/>
              </a:rPr>
              <a:t>Small cells hidden</a:t>
            </a:r>
            <a:endParaRPr lang="en-US" sz="1500" dirty="0"/>
          </a:p>
        </p:txBody>
      </p:sp>
      <p:sp>
        <p:nvSpPr>
          <p:cNvPr id="31" name="History check card"/>
          <p:cNvSpPr/>
          <p:nvPr/>
        </p:nvSpPr>
        <p:spPr>
          <a:xfrm>
            <a:off x="6510528" y="4535424"/>
            <a:ext cx="2706624" cy="1280160"/>
          </a:xfrm>
          <a:prstGeom prst="roundRect">
            <a:avLst>
              <a:gd name="adj" fmla="val 7143"/>
            </a:avLst>
          </a:prstGeom>
          <a:solidFill>
            <a:schemeClr val="bg1"/>
          </a:solidFill>
          <a:ln w="12700">
            <a:solidFill>
              <a:srgbClr val="EBCFC4"/>
            </a:solidFill>
            <a:prstDash val="solid"/>
          </a:ln>
        </p:spPr>
        <p:txBody>
          <a:bodyPr/>
          <a:p/>
        </p:txBody>
      </p:sp>
      <p:sp>
        <p:nvSpPr>
          <p:cNvPr id="32" name="History icon sliver"/>
          <p:cNvSpPr/>
          <p:nvPr/>
        </p:nvSpPr>
        <p:spPr>
          <a:xfrm>
            <a:off x="6656832" y="4681728"/>
            <a:ext cx="365760" cy="365760"/>
          </a:xfrm>
          <a:custGeom>
            <a:avLst/>
            <a:gdLst/>
            <a:ahLst/>
            <a:cxnLst/>
            <a:rect l="l" t="t" r="r" b="b"/>
            <a:pathLst>
              <a:path w="365760" h="365760">
                <a:moveTo>
                  <a:pt x="0" y="182880"/>
                </a:moveTo>
                <a:lnTo>
                  <a:pt x="251" y="173309"/>
                </a:lnTo>
                <a:lnTo>
                  <a:pt x="1002" y="163764"/>
                </a:lnTo>
                <a:lnTo>
                  <a:pt x="2252" y="154271"/>
                </a:lnTo>
                <a:lnTo>
                  <a:pt x="3996" y="144857"/>
                </a:lnTo>
                <a:lnTo>
                  <a:pt x="6231" y="135547"/>
                </a:lnTo>
                <a:lnTo>
                  <a:pt x="8951" y="126367"/>
                </a:lnTo>
                <a:lnTo>
                  <a:pt x="12147" y="117342"/>
                </a:lnTo>
                <a:lnTo>
                  <a:pt x="15811" y="108496"/>
                </a:lnTo>
                <a:lnTo>
                  <a:pt x="19933" y="99854"/>
                </a:lnTo>
                <a:lnTo>
                  <a:pt x="24501" y="91440"/>
                </a:lnTo>
                <a:lnTo>
                  <a:pt x="29504" y="83276"/>
                </a:lnTo>
                <a:lnTo>
                  <a:pt x="34927" y="75386"/>
                </a:lnTo>
                <a:lnTo>
                  <a:pt x="40756" y="67790"/>
                </a:lnTo>
                <a:lnTo>
                  <a:pt x="46974" y="60509"/>
                </a:lnTo>
                <a:lnTo>
                  <a:pt x="53564" y="53564"/>
                </a:lnTo>
                <a:lnTo>
                  <a:pt x="60509" y="46974"/>
                </a:lnTo>
                <a:lnTo>
                  <a:pt x="67790" y="40756"/>
                </a:lnTo>
                <a:lnTo>
                  <a:pt x="75386" y="34927"/>
                </a:lnTo>
                <a:lnTo>
                  <a:pt x="83276" y="29504"/>
                </a:lnTo>
                <a:lnTo>
                  <a:pt x="91440" y="24501"/>
                </a:lnTo>
                <a:lnTo>
                  <a:pt x="99854" y="19933"/>
                </a:lnTo>
                <a:lnTo>
                  <a:pt x="108496" y="15811"/>
                </a:lnTo>
                <a:lnTo>
                  <a:pt x="117342" y="12147"/>
                </a:lnTo>
                <a:lnTo>
                  <a:pt x="126367" y="8951"/>
                </a:lnTo>
                <a:lnTo>
                  <a:pt x="135547" y="6231"/>
                </a:lnTo>
                <a:lnTo>
                  <a:pt x="144857" y="3996"/>
                </a:lnTo>
                <a:lnTo>
                  <a:pt x="154271" y="2252"/>
                </a:lnTo>
                <a:lnTo>
                  <a:pt x="163764" y="1002"/>
                </a:lnTo>
                <a:lnTo>
                  <a:pt x="173309" y="251"/>
                </a:lnTo>
                <a:lnTo>
                  <a:pt x="182880" y="0"/>
                </a:lnTo>
                <a:lnTo>
                  <a:pt x="192451" y="251"/>
                </a:lnTo>
                <a:lnTo>
                  <a:pt x="201996" y="1002"/>
                </a:lnTo>
                <a:lnTo>
                  <a:pt x="211489" y="2252"/>
                </a:lnTo>
                <a:lnTo>
                  <a:pt x="220903" y="3996"/>
                </a:lnTo>
                <a:lnTo>
                  <a:pt x="230213" y="6231"/>
                </a:lnTo>
                <a:lnTo>
                  <a:pt x="239393" y="8951"/>
                </a:lnTo>
                <a:lnTo>
                  <a:pt x="248418" y="12147"/>
                </a:lnTo>
                <a:lnTo>
                  <a:pt x="257264" y="15811"/>
                </a:lnTo>
                <a:lnTo>
                  <a:pt x="265906" y="19933"/>
                </a:lnTo>
                <a:lnTo>
                  <a:pt x="274320" y="24501"/>
                </a:lnTo>
                <a:lnTo>
                  <a:pt x="282484" y="29504"/>
                </a:lnTo>
                <a:lnTo>
                  <a:pt x="290374" y="34927"/>
                </a:lnTo>
                <a:lnTo>
                  <a:pt x="297970" y="40756"/>
                </a:lnTo>
                <a:lnTo>
                  <a:pt x="305251" y="46974"/>
                </a:lnTo>
                <a:lnTo>
                  <a:pt x="312196" y="53564"/>
                </a:lnTo>
                <a:lnTo>
                  <a:pt x="318786" y="60509"/>
                </a:lnTo>
                <a:lnTo>
                  <a:pt x="325004" y="67790"/>
                </a:lnTo>
                <a:lnTo>
                  <a:pt x="330833" y="75386"/>
                </a:lnTo>
                <a:lnTo>
                  <a:pt x="336256" y="83276"/>
                </a:lnTo>
                <a:lnTo>
                  <a:pt x="341259" y="91440"/>
                </a:lnTo>
                <a:lnTo>
                  <a:pt x="345827" y="99854"/>
                </a:lnTo>
                <a:lnTo>
                  <a:pt x="349949" y="108496"/>
                </a:lnTo>
                <a:lnTo>
                  <a:pt x="353613" y="117342"/>
                </a:lnTo>
                <a:lnTo>
                  <a:pt x="356809" y="126367"/>
                </a:lnTo>
                <a:lnTo>
                  <a:pt x="359529" y="135547"/>
                </a:lnTo>
                <a:lnTo>
                  <a:pt x="361764" y="144857"/>
                </a:lnTo>
                <a:lnTo>
                  <a:pt x="363508" y="154271"/>
                </a:lnTo>
                <a:lnTo>
                  <a:pt x="364758" y="163764"/>
                </a:lnTo>
                <a:lnTo>
                  <a:pt x="365509" y="173309"/>
                </a:lnTo>
                <a:lnTo>
                  <a:pt x="365760" y="182880"/>
                </a:lnTo>
                <a:lnTo>
                  <a:pt x="365509" y="192451"/>
                </a:lnTo>
                <a:lnTo>
                  <a:pt x="364758" y="201996"/>
                </a:lnTo>
                <a:lnTo>
                  <a:pt x="363508" y="211489"/>
                </a:lnTo>
                <a:lnTo>
                  <a:pt x="361764" y="220903"/>
                </a:lnTo>
                <a:lnTo>
                  <a:pt x="359529" y="230213"/>
                </a:lnTo>
                <a:lnTo>
                  <a:pt x="356809" y="239393"/>
                </a:lnTo>
                <a:lnTo>
                  <a:pt x="353613" y="248418"/>
                </a:lnTo>
                <a:lnTo>
                  <a:pt x="349949" y="257264"/>
                </a:lnTo>
                <a:lnTo>
                  <a:pt x="345827" y="265906"/>
                </a:lnTo>
                <a:lnTo>
                  <a:pt x="341259" y="274320"/>
                </a:lnTo>
                <a:lnTo>
                  <a:pt x="336256" y="282484"/>
                </a:lnTo>
                <a:lnTo>
                  <a:pt x="330833" y="290374"/>
                </a:lnTo>
                <a:lnTo>
                  <a:pt x="325004" y="297970"/>
                </a:lnTo>
                <a:lnTo>
                  <a:pt x="318786" y="305251"/>
                </a:lnTo>
                <a:lnTo>
                  <a:pt x="312196" y="312196"/>
                </a:lnTo>
                <a:lnTo>
                  <a:pt x="305251" y="318786"/>
                </a:lnTo>
                <a:lnTo>
                  <a:pt x="297970" y="325004"/>
                </a:lnTo>
                <a:lnTo>
                  <a:pt x="290374" y="330833"/>
                </a:lnTo>
                <a:lnTo>
                  <a:pt x="282484" y="336256"/>
                </a:lnTo>
                <a:lnTo>
                  <a:pt x="274320" y="341259"/>
                </a:lnTo>
                <a:lnTo>
                  <a:pt x="265906" y="345827"/>
                </a:lnTo>
                <a:lnTo>
                  <a:pt x="257264" y="349949"/>
                </a:lnTo>
                <a:lnTo>
                  <a:pt x="248418" y="353613"/>
                </a:lnTo>
                <a:lnTo>
                  <a:pt x="239393" y="356809"/>
                </a:lnTo>
                <a:lnTo>
                  <a:pt x="230213" y="359529"/>
                </a:lnTo>
                <a:lnTo>
                  <a:pt x="220903" y="361764"/>
                </a:lnTo>
                <a:lnTo>
                  <a:pt x="211489" y="363508"/>
                </a:lnTo>
                <a:lnTo>
                  <a:pt x="201996" y="364758"/>
                </a:lnTo>
                <a:lnTo>
                  <a:pt x="192451" y="365509"/>
                </a:lnTo>
                <a:lnTo>
                  <a:pt x="182880" y="365760"/>
                </a:lnTo>
                <a:lnTo>
                  <a:pt x="173309" y="365509"/>
                </a:lnTo>
                <a:lnTo>
                  <a:pt x="163764" y="364758"/>
                </a:lnTo>
                <a:lnTo>
                  <a:pt x="154271" y="363508"/>
                </a:lnTo>
                <a:lnTo>
                  <a:pt x="144857" y="361764"/>
                </a:lnTo>
                <a:lnTo>
                  <a:pt x="135547" y="359529"/>
                </a:lnTo>
                <a:lnTo>
                  <a:pt x="126367" y="356809"/>
                </a:lnTo>
                <a:lnTo>
                  <a:pt x="117342" y="353613"/>
                </a:lnTo>
                <a:lnTo>
                  <a:pt x="108496" y="349949"/>
                </a:lnTo>
                <a:lnTo>
                  <a:pt x="99854" y="345827"/>
                </a:lnTo>
                <a:lnTo>
                  <a:pt x="91440" y="341259"/>
                </a:lnTo>
                <a:lnTo>
                  <a:pt x="83276" y="336256"/>
                </a:lnTo>
                <a:lnTo>
                  <a:pt x="75386" y="330833"/>
                </a:lnTo>
                <a:lnTo>
                  <a:pt x="67790" y="325004"/>
                </a:lnTo>
                <a:lnTo>
                  <a:pt x="60509" y="318786"/>
                </a:lnTo>
                <a:lnTo>
                  <a:pt x="53564" y="312196"/>
                </a:lnTo>
                <a:lnTo>
                  <a:pt x="46974" y="305251"/>
                </a:lnTo>
                <a:lnTo>
                  <a:pt x="40756" y="297970"/>
                </a:lnTo>
                <a:lnTo>
                  <a:pt x="34927" y="290374"/>
                </a:lnTo>
                <a:lnTo>
                  <a:pt x="29504" y="282484"/>
                </a:lnTo>
                <a:lnTo>
                  <a:pt x="24501" y="274320"/>
                </a:lnTo>
                <a:lnTo>
                  <a:pt x="19933" y="265906"/>
                </a:lnTo>
                <a:lnTo>
                  <a:pt x="15811" y="257264"/>
                </a:lnTo>
                <a:lnTo>
                  <a:pt x="12147" y="248418"/>
                </a:lnTo>
                <a:lnTo>
                  <a:pt x="8951" y="239393"/>
                </a:lnTo>
                <a:lnTo>
                  <a:pt x="6231" y="230213"/>
                </a:lnTo>
                <a:lnTo>
                  <a:pt x="3996" y="220903"/>
                </a:lnTo>
                <a:lnTo>
                  <a:pt x="2252" y="211489"/>
                </a:lnTo>
                <a:lnTo>
                  <a:pt x="1002" y="201996"/>
                </a:lnTo>
                <a:lnTo>
                  <a:pt x="251" y="192451"/>
                </a:lnTo>
                <a:lnTo>
                  <a:pt x="0" y="182880"/>
                </a:lnTo>
                <a:lnTo>
                  <a:pt x="201" y="190537"/>
                </a:lnTo>
                <a:lnTo>
                  <a:pt x="801" y="198173"/>
                </a:lnTo>
                <a:lnTo>
                  <a:pt x="1801" y="205767"/>
                </a:lnTo>
                <a:lnTo>
                  <a:pt x="3197" y="213298"/>
                </a:lnTo>
                <a:lnTo>
                  <a:pt x="4985" y="220746"/>
                </a:lnTo>
                <a:lnTo>
                  <a:pt x="7161" y="228090"/>
                </a:lnTo>
                <a:lnTo>
                  <a:pt x="9717" y="235311"/>
                </a:lnTo>
                <a:lnTo>
                  <a:pt x="12649" y="242387"/>
                </a:lnTo>
                <a:lnTo>
                  <a:pt x="15946" y="249301"/>
                </a:lnTo>
                <a:lnTo>
                  <a:pt x="19601" y="256032"/>
                </a:lnTo>
                <a:lnTo>
                  <a:pt x="23603" y="262563"/>
                </a:lnTo>
                <a:lnTo>
                  <a:pt x="27942" y="268875"/>
                </a:lnTo>
                <a:lnTo>
                  <a:pt x="32604" y="274952"/>
                </a:lnTo>
                <a:lnTo>
                  <a:pt x="37579" y="280776"/>
                </a:lnTo>
                <a:lnTo>
                  <a:pt x="42851" y="286333"/>
                </a:lnTo>
                <a:lnTo>
                  <a:pt x="48408" y="291605"/>
                </a:lnTo>
                <a:lnTo>
                  <a:pt x="54232" y="296580"/>
                </a:lnTo>
                <a:lnTo>
                  <a:pt x="60309" y="301242"/>
                </a:lnTo>
                <a:lnTo>
                  <a:pt x="66621" y="305581"/>
                </a:lnTo>
                <a:lnTo>
                  <a:pt x="73152" y="309583"/>
                </a:lnTo>
                <a:lnTo>
                  <a:pt x="79883" y="313238"/>
                </a:lnTo>
                <a:lnTo>
                  <a:pt x="86797" y="316535"/>
                </a:lnTo>
                <a:lnTo>
                  <a:pt x="93873" y="319467"/>
                </a:lnTo>
                <a:lnTo>
                  <a:pt x="101094" y="322023"/>
                </a:lnTo>
                <a:lnTo>
                  <a:pt x="108438" y="324199"/>
                </a:lnTo>
                <a:lnTo>
                  <a:pt x="115886" y="325987"/>
                </a:lnTo>
                <a:lnTo>
                  <a:pt x="123417" y="327383"/>
                </a:lnTo>
                <a:lnTo>
                  <a:pt x="131011" y="328383"/>
                </a:lnTo>
                <a:lnTo>
                  <a:pt x="138647" y="328983"/>
                </a:lnTo>
                <a:lnTo>
                  <a:pt x="146304" y="329184"/>
                </a:lnTo>
                <a:lnTo>
                  <a:pt x="153961" y="328983"/>
                </a:lnTo>
                <a:lnTo>
                  <a:pt x="161597" y="328383"/>
                </a:lnTo>
                <a:lnTo>
                  <a:pt x="169191" y="327383"/>
                </a:lnTo>
                <a:lnTo>
                  <a:pt x="176722" y="325987"/>
                </a:lnTo>
                <a:lnTo>
                  <a:pt x="184170" y="324199"/>
                </a:lnTo>
                <a:lnTo>
                  <a:pt x="191514" y="322023"/>
                </a:lnTo>
                <a:lnTo>
                  <a:pt x="198735" y="319467"/>
                </a:lnTo>
                <a:lnTo>
                  <a:pt x="205811" y="316535"/>
                </a:lnTo>
                <a:lnTo>
                  <a:pt x="212725" y="313238"/>
                </a:lnTo>
                <a:lnTo>
                  <a:pt x="219456" y="309583"/>
                </a:lnTo>
                <a:lnTo>
                  <a:pt x="225987" y="305581"/>
                </a:lnTo>
                <a:lnTo>
                  <a:pt x="232299" y="301242"/>
                </a:lnTo>
                <a:lnTo>
                  <a:pt x="238376" y="296580"/>
                </a:lnTo>
                <a:lnTo>
                  <a:pt x="244200" y="291605"/>
                </a:lnTo>
                <a:lnTo>
                  <a:pt x="249757" y="286333"/>
                </a:lnTo>
                <a:lnTo>
                  <a:pt x="255029" y="280776"/>
                </a:lnTo>
                <a:lnTo>
                  <a:pt x="260004" y="274952"/>
                </a:lnTo>
                <a:lnTo>
                  <a:pt x="264666" y="268875"/>
                </a:lnTo>
                <a:lnTo>
                  <a:pt x="269005" y="262563"/>
                </a:lnTo>
                <a:lnTo>
                  <a:pt x="273007" y="256032"/>
                </a:lnTo>
                <a:lnTo>
                  <a:pt x="276662" y="249301"/>
                </a:lnTo>
                <a:lnTo>
                  <a:pt x="279959" y="242387"/>
                </a:lnTo>
                <a:lnTo>
                  <a:pt x="282891" y="235311"/>
                </a:lnTo>
                <a:lnTo>
                  <a:pt x="285447" y="228090"/>
                </a:lnTo>
                <a:lnTo>
                  <a:pt x="287623" y="220746"/>
                </a:lnTo>
                <a:lnTo>
                  <a:pt x="289411" y="213298"/>
                </a:lnTo>
                <a:lnTo>
                  <a:pt x="290807" y="205767"/>
                </a:lnTo>
                <a:lnTo>
                  <a:pt x="291807" y="198173"/>
                </a:lnTo>
                <a:lnTo>
                  <a:pt x="292407" y="190537"/>
                </a:lnTo>
                <a:lnTo>
                  <a:pt x="292608" y="182880"/>
                </a:lnTo>
                <a:lnTo>
                  <a:pt x="292407" y="175223"/>
                </a:lnTo>
                <a:lnTo>
                  <a:pt x="291807" y="167587"/>
                </a:lnTo>
                <a:lnTo>
                  <a:pt x="290807" y="159993"/>
                </a:lnTo>
                <a:lnTo>
                  <a:pt x="289411" y="152462"/>
                </a:lnTo>
                <a:lnTo>
                  <a:pt x="287623" y="145014"/>
                </a:lnTo>
                <a:lnTo>
                  <a:pt x="285447" y="137670"/>
                </a:lnTo>
                <a:lnTo>
                  <a:pt x="282891" y="130449"/>
                </a:lnTo>
                <a:lnTo>
                  <a:pt x="279959" y="123373"/>
                </a:lnTo>
                <a:lnTo>
                  <a:pt x="276662" y="116459"/>
                </a:lnTo>
                <a:lnTo>
                  <a:pt x="273007" y="109728"/>
                </a:lnTo>
                <a:lnTo>
                  <a:pt x="269005" y="103197"/>
                </a:lnTo>
                <a:lnTo>
                  <a:pt x="264666" y="96885"/>
                </a:lnTo>
                <a:lnTo>
                  <a:pt x="260004" y="90808"/>
                </a:lnTo>
                <a:lnTo>
                  <a:pt x="255029" y="84984"/>
                </a:lnTo>
                <a:lnTo>
                  <a:pt x="249757" y="79427"/>
                </a:lnTo>
                <a:lnTo>
                  <a:pt x="244200" y="74155"/>
                </a:lnTo>
                <a:lnTo>
                  <a:pt x="238376" y="69180"/>
                </a:lnTo>
                <a:lnTo>
                  <a:pt x="232299" y="64518"/>
                </a:lnTo>
                <a:lnTo>
                  <a:pt x="225987" y="60179"/>
                </a:lnTo>
                <a:lnTo>
                  <a:pt x="219456" y="56177"/>
                </a:lnTo>
                <a:lnTo>
                  <a:pt x="212725" y="52522"/>
                </a:lnTo>
                <a:lnTo>
                  <a:pt x="205811" y="49225"/>
                </a:lnTo>
                <a:lnTo>
                  <a:pt x="198735" y="46293"/>
                </a:lnTo>
                <a:lnTo>
                  <a:pt x="191514" y="43737"/>
                </a:lnTo>
                <a:lnTo>
                  <a:pt x="184170" y="41561"/>
                </a:lnTo>
                <a:lnTo>
                  <a:pt x="176722" y="39773"/>
                </a:lnTo>
                <a:lnTo>
                  <a:pt x="169191" y="38377"/>
                </a:lnTo>
                <a:lnTo>
                  <a:pt x="161597" y="37377"/>
                </a:lnTo>
                <a:lnTo>
                  <a:pt x="153961" y="36777"/>
                </a:lnTo>
                <a:lnTo>
                  <a:pt x="146304" y="36576"/>
                </a:lnTo>
                <a:lnTo>
                  <a:pt x="138647" y="36777"/>
                </a:lnTo>
                <a:lnTo>
                  <a:pt x="131011" y="37377"/>
                </a:lnTo>
                <a:lnTo>
                  <a:pt x="123417" y="38377"/>
                </a:lnTo>
                <a:lnTo>
                  <a:pt x="115886" y="39773"/>
                </a:lnTo>
                <a:lnTo>
                  <a:pt x="108438" y="41561"/>
                </a:lnTo>
                <a:lnTo>
                  <a:pt x="101094" y="43737"/>
                </a:lnTo>
                <a:lnTo>
                  <a:pt x="93873" y="46293"/>
                </a:lnTo>
                <a:lnTo>
                  <a:pt x="86797" y="49225"/>
                </a:lnTo>
                <a:lnTo>
                  <a:pt x="79883" y="52522"/>
                </a:lnTo>
                <a:lnTo>
                  <a:pt x="73152" y="56177"/>
                </a:lnTo>
                <a:lnTo>
                  <a:pt x="66621" y="60179"/>
                </a:lnTo>
                <a:lnTo>
                  <a:pt x="60309" y="64518"/>
                </a:lnTo>
                <a:lnTo>
                  <a:pt x="54232" y="69180"/>
                </a:lnTo>
                <a:lnTo>
                  <a:pt x="48408" y="74155"/>
                </a:lnTo>
                <a:lnTo>
                  <a:pt x="42851" y="79427"/>
                </a:lnTo>
                <a:lnTo>
                  <a:pt x="37579" y="84984"/>
                </a:lnTo>
                <a:lnTo>
                  <a:pt x="32604" y="90808"/>
                </a:lnTo>
                <a:lnTo>
                  <a:pt x="27942" y="96885"/>
                </a:lnTo>
                <a:lnTo>
                  <a:pt x="23603" y="103197"/>
                </a:lnTo>
                <a:lnTo>
                  <a:pt x="19601" y="109728"/>
                </a:lnTo>
                <a:lnTo>
                  <a:pt x="15946" y="116459"/>
                </a:lnTo>
                <a:lnTo>
                  <a:pt x="12649" y="123373"/>
                </a:lnTo>
                <a:lnTo>
                  <a:pt x="9717" y="130449"/>
                </a:lnTo>
                <a:lnTo>
                  <a:pt x="7161" y="137670"/>
                </a:lnTo>
                <a:lnTo>
                  <a:pt x="4985" y="145014"/>
                </a:lnTo>
                <a:lnTo>
                  <a:pt x="3197" y="152462"/>
                </a:lnTo>
                <a:lnTo>
                  <a:pt x="1801" y="159993"/>
                </a:lnTo>
                <a:lnTo>
                  <a:pt x="801" y="167587"/>
                </a:lnTo>
                <a:lnTo>
                  <a:pt x="201" y="175223"/>
                </a:lnTo>
                <a:lnTo>
                  <a:pt x="0" y="182880"/>
                </a:lnTo>
                <a:close/>
              </a:path>
            </a:pathLst>
          </a:custGeom>
          <a:solidFill>
            <a:schemeClr val="accent5"/>
          </a:solidFill>
          <a:ln/>
        </p:spPr>
        <p:txBody>
          <a:bodyPr/>
          <a:p/>
        </p:txBody>
      </p:sp>
      <p:sp>
        <p:nvSpPr>
          <p:cNvPr id="33" name="History icon population A"/>
          <p:cNvSpPr/>
          <p:nvPr/>
        </p:nvSpPr>
        <p:spPr>
          <a:xfrm>
            <a:off x="6656832" y="4681728"/>
            <a:ext cx="365760" cy="365760"/>
          </a:xfrm>
          <a:prstGeom prst="ellipse">
            <a:avLst/>
          </a:prstGeom>
          <a:ln w="12700">
            <a:solidFill>
              <a:srgbClr val="BC3834"/>
            </a:solidFill>
            <a:prstDash val="solid"/>
          </a:ln>
        </p:spPr>
        <p:txBody>
          <a:bodyPr/>
          <a:p/>
        </p:txBody>
      </p:sp>
      <p:sp>
        <p:nvSpPr>
          <p:cNvPr id="34" name="History icon population B"/>
          <p:cNvSpPr/>
          <p:nvPr/>
        </p:nvSpPr>
        <p:spPr>
          <a:xfrm>
            <a:off x="6656832" y="4718304"/>
            <a:ext cx="292608" cy="292608"/>
          </a:xfrm>
          <a:prstGeom prst="ellipse">
            <a:avLst/>
          </a:prstGeom>
          <a:ln w="12700">
            <a:solidFill>
              <a:srgbClr val="BC3834"/>
            </a:solidFill>
            <a:prstDash val="solid"/>
          </a:ln>
        </p:spPr>
        <p:txBody>
          <a:bodyPr/>
          <a:p/>
        </p:txBody>
      </p:sp>
      <p:sp>
        <p:nvSpPr>
          <p:cNvPr id="35" name="Text 33"/>
          <p:cNvSpPr txBox="1"/>
          <p:nvPr/>
        </p:nvSpPr>
        <p:spPr>
          <a:xfrm>
            <a:off x="7168896" y="4663440"/>
            <a:ext cx="1920240" cy="457200"/>
          </a:xfrm>
          <a:prstGeom prst="rect">
            <a:avLst/>
          </a:prstGeom>
          <a:noFill/>
          <a:ln/>
        </p:spPr>
        <p:txBody>
          <a:bodyPr wrap="square" lIns="0" tIns="0" rIns="0" bIns="0" rtlCol="0" anchor="t"/>
          <a:lstStyle/>
          <a:p>
            <a:pPr indent="0" marL="0">
              <a:buNone/>
            </a:pPr>
            <a:r>
              <a:rPr lang="en-US" sz="1350" b="1" dirty="0">
                <a:solidFill>
                  <a:schemeClr val="tx1"/>
                </a:solidFill>
                <a:latin typeface="Inter" panose="02000503000000020004" pitchFamily="34" charset="0"/>
                <a:ea typeface="Inter" panose="02000503000000020004" pitchFamily="34" charset="-122"/>
                <a:cs typeface="Inter" panose="02000503000000020004" pitchFamily="34" charset="-120"/>
              </a:rPr>
              <a:t>A ledger records every release</a:t>
            </a:r>
            <a:endParaRPr lang="en-US" sz="1350" dirty="0"/>
          </a:p>
        </p:txBody>
      </p:sp>
      <p:sp>
        <p:nvSpPr>
          <p:cNvPr id="36" name="Text 34"/>
          <p:cNvSpPr txBox="1"/>
          <p:nvPr/>
        </p:nvSpPr>
        <p:spPr>
          <a:xfrm>
            <a:off x="6656832" y="5157216"/>
            <a:ext cx="2432304" cy="237744"/>
          </a:xfrm>
          <a:prstGeom prst="rect">
            <a:avLst/>
          </a:prstGeom>
          <a:noFill/>
          <a:ln/>
        </p:spPr>
        <p:txBody>
          <a:bodyPr wrap="square" lIns="0" tIns="0" rIns="0" bIns="0" rtlCol="0" anchor="t"/>
          <a:lstStyle/>
          <a:p>
            <a:pPr indent="0" marL="0">
              <a:buNone/>
            </a:pPr>
            <a:r>
              <a:rPr lang="en-US" sz="1250" dirty="0">
                <a:solidFill>
                  <a:srgbClr val="5B6577"/>
                </a:solidFill>
                <a:latin typeface="Inter" panose="02000503000000020004" pitchFamily="34" charset="0"/>
                <a:ea typeface="Inter" panose="02000503000000020004" pitchFamily="34" charset="-122"/>
                <a:cs typeface="Inter" panose="02000503000000020004" pitchFamily="34" charset="-120"/>
              </a:rPr>
              <a:t>72 released → 71 withheld</a:t>
            </a:r>
            <a:endParaRPr lang="en-US" sz="1250" dirty="0"/>
          </a:p>
        </p:txBody>
      </p:sp>
      <p:sp>
        <p:nvSpPr>
          <p:cNvPr id="37" name="Disclosure ledger status"/>
          <p:cNvSpPr/>
          <p:nvPr/>
        </p:nvSpPr>
        <p:spPr>
          <a:xfrm>
            <a:off x="6656832" y="5449824"/>
            <a:ext cx="1024128" cy="237744"/>
          </a:xfrm>
          <a:prstGeom prst="roundRect">
            <a:avLst>
              <a:gd name="adj" fmla="val 50000"/>
            </a:avLst>
          </a:prstGeom>
          <a:solidFill>
            <a:schemeClr val="accent3"/>
          </a:solidFill>
          <a:ln/>
        </p:spPr>
        <p:txBody>
          <a:bodyPr/>
          <a:p/>
        </p:txBody>
      </p:sp>
      <p:sp>
        <p:nvSpPr>
          <p:cNvPr id="38" name="Disclosure ledger status text"/>
          <p:cNvSpPr txBox="1"/>
          <p:nvPr/>
        </p:nvSpPr>
        <p:spPr>
          <a:xfrm>
            <a:off x="6656832" y="5449824"/>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39" name="Ledger not yet verified"/>
          <p:cNvSpPr txBox="1"/>
          <p:nvPr/>
        </p:nvSpPr>
        <p:spPr>
          <a:xfrm>
            <a:off x="7790688" y="5449824"/>
            <a:ext cx="1280160" cy="237744"/>
          </a:xfrm>
          <a:prstGeom prst="rect">
            <a:avLst/>
          </a:prstGeom>
          <a:noFill/>
          <a:ln/>
        </p:spPr>
        <p:txBody>
          <a:bodyPr wrap="square" lIns="0" tIns="0" rIns="0" bIns="0" rtlCol="0" anchor="ctr"/>
          <a:lstStyle/>
          <a:p>
            <a:pPr indent="0" marL="0">
              <a:buNone/>
            </a:pPr>
            <a:r>
              <a:rPr lang="en-US" sz="1100" dirty="0">
                <a:solidFill>
                  <a:srgbClr val="BC3834"/>
                </a:solidFill>
                <a:latin typeface="Inter" panose="02000503000000020004" pitchFamily="34" charset="0"/>
                <a:ea typeface="Inter" panose="02000503000000020004" pitchFamily="34" charset="-122"/>
                <a:cs typeface="Inter" panose="02000503000000020004" pitchFamily="34" charset="-120"/>
              </a:rPr>
              <a:t>verified in tests</a:t>
            </a:r>
            <a:endParaRPr lang="en-US" sz="1100" dirty="0"/>
          </a:p>
        </p:txBody>
      </p:sp>
      <p:sp>
        <p:nvSpPr>
          <p:cNvPr id="40" name="Arrow to outcomes"/>
          <p:cNvSpPr/>
          <p:nvPr/>
        </p:nvSpPr>
        <p:spPr>
          <a:xfrm>
            <a:off x="9464040" y="4247388"/>
            <a:ext cx="320040" cy="0"/>
          </a:xfrm>
          <a:prstGeom prst="line">
            <a:avLst/>
          </a:prstGeom>
          <a:noFill/>
          <a:ln w="19050">
            <a:solidFill>
              <a:srgbClr val="A3B1C8"/>
            </a:solidFill>
            <a:prstDash val="solid"/>
            <a:tailEnd type="triangle"/>
          </a:ln>
        </p:spPr>
        <p:txBody>
          <a:bodyPr/>
          <a:p/>
        </p:txBody>
      </p:sp>
      <p:sp>
        <p:nvSpPr>
          <p:cNvPr id="41" name="Outcome Answer"/>
          <p:cNvSpPr/>
          <p:nvPr/>
        </p:nvSpPr>
        <p:spPr>
          <a:xfrm>
            <a:off x="9829800" y="2487168"/>
            <a:ext cx="1673352" cy="1051560"/>
          </a:xfrm>
          <a:prstGeom prst="roundRect">
            <a:avLst>
              <a:gd name="adj" fmla="val 12174"/>
            </a:avLst>
          </a:prstGeom>
          <a:solidFill>
            <a:schemeClr val="bg1"/>
          </a:solidFill>
          <a:ln/>
        </p:spPr>
        <p:txBody>
          <a:bodyPr/>
          <a:p/>
        </p:txBody>
      </p:sp>
      <p:sp>
        <p:nvSpPr>
          <p:cNvPr id="42" name="Text 40"/>
          <p:cNvSpPr txBox="1"/>
          <p:nvPr/>
        </p:nvSpPr>
        <p:spPr>
          <a:xfrm>
            <a:off x="9994392" y="2596896"/>
            <a:ext cx="1399032" cy="310896"/>
          </a:xfrm>
          <a:prstGeom prst="rect">
            <a:avLst/>
          </a:prstGeom>
          <a:noFill/>
          <a:ln/>
        </p:spPr>
        <p:txBody>
          <a:bodyPr wrap="square" lIns="0" tIns="0" rIns="0" bIns="0" rtlCol="0" anchor="t"/>
          <a:lstStyle/>
          <a:p>
            <a:pPr indent="0" marL="0">
              <a:buNone/>
            </a:pPr>
            <a:r>
              <a:rPr lang="en-US" sz="1800" b="1" dirty="0">
                <a:solidFill>
                  <a:schemeClr val="tx1"/>
                </a:solidFill>
                <a:latin typeface="Inter" panose="02000503000000020004" pitchFamily="34" charset="0"/>
                <a:ea typeface="Inter" panose="02000503000000020004" pitchFamily="34" charset="-122"/>
                <a:cs typeface="Inter" panose="02000503000000020004" pitchFamily="34" charset="-120"/>
              </a:rPr>
              <a:t>Answer</a:t>
            </a:r>
            <a:endParaRPr lang="en-US" sz="1800" dirty="0"/>
          </a:p>
        </p:txBody>
      </p:sp>
      <p:sp>
        <p:nvSpPr>
          <p:cNvPr id="43" name="Text 41"/>
          <p:cNvSpPr txBox="1"/>
          <p:nvPr/>
        </p:nvSpPr>
        <p:spPr>
          <a:xfrm>
            <a:off x="9994392" y="2907792"/>
            <a:ext cx="1435608" cy="566928"/>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statistics or secure access</a:t>
            </a:r>
            <a:endParaRPr lang="en-US" sz="1200" dirty="0"/>
          </a:p>
        </p:txBody>
      </p:sp>
      <p:sp>
        <p:nvSpPr>
          <p:cNvPr id="44" name="Outcome Ask"/>
          <p:cNvSpPr/>
          <p:nvPr/>
        </p:nvSpPr>
        <p:spPr>
          <a:xfrm>
            <a:off x="9829800" y="3721608"/>
            <a:ext cx="1673352" cy="1051560"/>
          </a:xfrm>
          <a:prstGeom prst="roundRect">
            <a:avLst>
              <a:gd name="adj" fmla="val 12174"/>
            </a:avLst>
          </a:prstGeom>
          <a:solidFill>
            <a:schemeClr val="accent2"/>
          </a:solidFill>
          <a:ln/>
        </p:spPr>
        <p:txBody>
          <a:bodyPr/>
          <a:p/>
        </p:txBody>
      </p:sp>
      <p:sp>
        <p:nvSpPr>
          <p:cNvPr id="45" name="Text 43"/>
          <p:cNvSpPr txBox="1"/>
          <p:nvPr/>
        </p:nvSpPr>
        <p:spPr>
          <a:xfrm>
            <a:off x="9994392" y="3831336"/>
            <a:ext cx="1399032" cy="310896"/>
          </a:xfrm>
          <a:prstGeom prst="rect">
            <a:avLst/>
          </a:prstGeom>
          <a:noFill/>
          <a:ln/>
        </p:spPr>
        <p:txBody>
          <a:bodyPr wrap="square" lIns="0" tIns="0" rIns="0" bIns="0" rtlCol="0" anchor="t"/>
          <a:lstStyle/>
          <a:p>
            <a:pPr indent="0" marL="0">
              <a:buNone/>
            </a:pPr>
            <a:r>
              <a:rPr lang="en-US" sz="1800" b="1" dirty="0">
                <a:solidFill>
                  <a:schemeClr val="tx1"/>
                </a:solidFill>
                <a:latin typeface="Inter" panose="02000503000000020004" pitchFamily="34" charset="0"/>
                <a:ea typeface="Inter" panose="02000503000000020004" pitchFamily="34" charset="-122"/>
                <a:cs typeface="Inter" panose="02000503000000020004" pitchFamily="34" charset="-120"/>
              </a:rPr>
              <a:t>Ask</a:t>
            </a:r>
            <a:endParaRPr lang="en-US" sz="1800" dirty="0"/>
          </a:p>
        </p:txBody>
      </p:sp>
      <p:sp>
        <p:nvSpPr>
          <p:cNvPr id="46" name="Text 44"/>
          <p:cNvSpPr txBox="1"/>
          <p:nvPr/>
        </p:nvSpPr>
        <p:spPr>
          <a:xfrm>
            <a:off x="9994392" y="4142232"/>
            <a:ext cx="1435608" cy="566928"/>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when information is missing</a:t>
            </a:r>
            <a:endParaRPr lang="en-US" sz="1200" dirty="0"/>
          </a:p>
        </p:txBody>
      </p:sp>
      <p:sp>
        <p:nvSpPr>
          <p:cNvPr id="47" name="Outcome Say no"/>
          <p:cNvSpPr/>
          <p:nvPr/>
        </p:nvSpPr>
        <p:spPr>
          <a:xfrm>
            <a:off x="9829800" y="4956048"/>
            <a:ext cx="1673352" cy="1051560"/>
          </a:xfrm>
          <a:prstGeom prst="roundRect">
            <a:avLst>
              <a:gd name="adj" fmla="val 12174"/>
            </a:avLst>
          </a:prstGeom>
          <a:solidFill>
            <a:schemeClr val="accent5"/>
          </a:solidFill>
          <a:ln/>
        </p:spPr>
        <p:txBody>
          <a:bodyPr/>
          <a:p/>
        </p:txBody>
      </p:sp>
      <p:sp>
        <p:nvSpPr>
          <p:cNvPr id="48" name="Text 46"/>
          <p:cNvSpPr txBox="1"/>
          <p:nvPr/>
        </p:nvSpPr>
        <p:spPr>
          <a:xfrm>
            <a:off x="9994392" y="5065776"/>
            <a:ext cx="1399032" cy="310896"/>
          </a:xfrm>
          <a:prstGeom prst="rect">
            <a:avLst/>
          </a:prstGeom>
          <a:noFill/>
          <a:ln/>
        </p:spPr>
        <p:txBody>
          <a:bodyPr wrap="square" lIns="0" tIns="0" rIns="0" bIns="0" rtlCol="0" anchor="t"/>
          <a:lstStyle/>
          <a:p>
            <a:pPr indent="0" marL="0">
              <a:buNone/>
            </a:pPr>
            <a:r>
              <a:rPr lang="en-US" sz="1800" b="1" dirty="0">
                <a:solidFill>
                  <a:schemeClr val="tx1"/>
                </a:solidFill>
                <a:latin typeface="Inter" panose="02000503000000020004" pitchFamily="34" charset="0"/>
                <a:ea typeface="Inter" panose="02000503000000020004" pitchFamily="34" charset="-122"/>
                <a:cs typeface="Inter" panose="02000503000000020004" pitchFamily="34" charset="-120"/>
              </a:rPr>
              <a:t>Say no</a:t>
            </a:r>
            <a:endParaRPr lang="en-US" sz="1800" dirty="0"/>
          </a:p>
        </p:txBody>
      </p:sp>
      <p:sp>
        <p:nvSpPr>
          <p:cNvPr id="49" name="Text 47"/>
          <p:cNvSpPr txBox="1"/>
          <p:nvPr/>
        </p:nvSpPr>
        <p:spPr>
          <a:xfrm>
            <a:off x="9994392" y="5376672"/>
            <a:ext cx="1435608" cy="566928"/>
          </a:xfrm>
          <a:prstGeom prst="rect">
            <a:avLst/>
          </a:prstGeom>
          <a:noFill/>
          <a:ln/>
        </p:spPr>
        <p:txBody>
          <a:bodyPr wrap="square" lIns="0" tIns="0" rIns="0" bIns="0" rtlCol="0" anchor="t"/>
          <a:lstStyle/>
          <a:p>
            <a:pPr indent="0" marL="0">
              <a:buNone/>
            </a:pPr>
            <a:r>
              <a:rPr lang="en-US" sz="1200" dirty="0">
                <a:solidFill>
                  <a:srgbClr val="0E2848"/>
                </a:solidFill>
                <a:latin typeface="Inter" panose="02000503000000020004" pitchFamily="34" charset="0"/>
                <a:ea typeface="Inter" panose="02000503000000020004" pitchFamily="34" charset="-122"/>
                <a:cs typeface="Inter" panose="02000503000000020004" pitchFamily="34" charset="-120"/>
              </a:rPr>
              <a:t>prohibited purpose or unsafe output</a:t>
            </a:r>
            <a:endParaRPr lang="en-US" sz="1200" dirty="0"/>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3B1C8"/>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685800" y="502920"/>
            <a:ext cx="10817352" cy="274320"/>
          </a:xfrm>
          <a:prstGeom prst="rect">
            <a:avLst/>
          </a:prstGeom>
          <a:noFill/>
          <a:ln/>
        </p:spPr>
        <p:txBody>
          <a:bodyPr wrap="square" lIns="0" tIns="0" rIns="0" bIns="0" rtlCol="0" anchor="ctr"/>
          <a:lstStyle/>
          <a:p>
            <a:pPr indent="0" marL="0">
              <a:buNone/>
            </a:pPr>
            <a:r>
              <a:rPr lang="en-US" sz="1200" spc="200" kern="0" dirty="0">
                <a:solidFill>
                  <a:srgbClr val="BDB3F6"/>
                </a:solidFill>
                <a:latin typeface="IBM Plex Mono" panose="020B0509050203000203" pitchFamily="49" charset="0"/>
                <a:ea typeface="IBM Plex Mono" panose="020B0509050203000203" pitchFamily="49" charset="-122"/>
                <a:cs typeface="IBM Plex Mono" panose="020B0509050203000203" pitchFamily="49" charset="-120"/>
              </a:rPr>
              <a:t>RESEARCHER-FIRST EXPERIENCE</a:t>
            </a:r>
            <a:endParaRPr lang="en-US" sz="1200" dirty="0"/>
          </a:p>
        </p:txBody>
      </p:sp>
      <p:sp>
        <p:nvSpPr>
          <p:cNvPr id="3" name="Text 2"/>
          <p:cNvSpPr/>
          <p:nvPr>
            <p:ph idx="103" type="title" hasCustomPrompt="1"/>
          </p:nvPr>
        </p:nvSpPr>
        <p:spPr>
          <a:xfrm>
            <a:off x="685800" y="822960"/>
            <a:ext cx="10817352" cy="1371600"/>
          </a:xfrm>
          <a:prstGeom prst="rect">
            <a:avLst/>
          </a:prstGeom>
          <a:noFill/>
          <a:ln/>
        </p:spPr>
        <p:txBody>
          <a:bodyPr wrap="square" lIns="0" tIns="0" rIns="0" bIns="0" rtlCol="0" anchor="t"/>
          <a:lstStyle/>
          <a:p>
            <a:pPr algn="l" indent="0" marL="0">
              <a:lnSpc>
                <a:spcPct val="92000"/>
              </a:lnSpc>
              <a:buNone/>
            </a:pPr>
            <a:r>
              <a:rPr lang="en-US" sz="4600" dirty="0">
                <a:solidFill>
                  <a:srgbClr val="FAFAF8"/>
                </a:solidFill>
                <a:latin typeface="Instrument Serif" panose="02020603050405020304" pitchFamily="18" charset="0"/>
                <a:ea typeface="Instrument Serif" panose="02020603050405020304" pitchFamily="18" charset="-122"/>
                <a:cs typeface="Instrument Serif" panose="02020603050405020304" pitchFamily="18" charset="-120"/>
              </a:rPr>
              <a:t>The complexity should be in the system,</a:t>
            </a:r>
            <a:endParaRPr lang="en-US" sz="4600" dirty="0"/>
          </a:p>
          <a:p>
            <a:pPr algn="l" indent="0" marL="0">
              <a:lnSpc>
                <a:spcPct val="92000"/>
              </a:lnSpc>
              <a:buNone/>
            </a:pPr>
            <a:r>
              <a:rPr lang="en-US" sz="4600" i="1" dirty="0">
                <a:solidFill>
                  <a:schemeClr val="accent1"/>
                </a:solidFill>
                <a:latin typeface="Instrument Serif" panose="02020603050405020304" pitchFamily="18" charset="0"/>
                <a:ea typeface="Instrument Serif" panose="02020603050405020304" pitchFamily="18" charset="-122"/>
                <a:cs typeface="Instrument Serif" panose="02020603050405020304" pitchFamily="18" charset="-120"/>
              </a:rPr>
              <a:t>not in the researcher’s experience.</a:t>
            </a:r>
            <a:endParaRPr lang="en-US" sz="4600" dirty="0"/>
          </a:p>
        </p:txBody>
      </p:sp>
      <p:sp>
        <p:nvSpPr>
          <p:cNvPr id="4" name="Subline"/>
          <p:cNvSpPr txBox="1"/>
          <p:nvPr/>
        </p:nvSpPr>
        <p:spPr>
          <a:xfrm>
            <a:off x="685800" y="2249424"/>
            <a:ext cx="10817352" cy="329184"/>
          </a:xfrm>
          <a:prstGeom prst="rect">
            <a:avLst/>
          </a:prstGeom>
          <a:noFill/>
          <a:ln/>
        </p:spPr>
        <p:txBody>
          <a:bodyPr wrap="square" lIns="0" tIns="0" rIns="0" bIns="0" rtlCol="0" anchor="t"/>
          <a:lstStyle/>
          <a:p>
            <a:pPr indent="0" marL="0">
              <a:buNone/>
            </a:pPr>
            <a:r>
              <a:rPr lang="en-US" sz="1800" dirty="0">
                <a:solidFill>
                  <a:srgbClr val="A3B1C8"/>
                </a:solidFill>
                <a:latin typeface="Inter" panose="02000503000000020004" pitchFamily="34" charset="0"/>
                <a:ea typeface="Inter" panose="02000503000000020004" pitchFamily="34" charset="-122"/>
                <a:cs typeface="Inter" panose="02000503000000020004" pitchFamily="34" charset="-120"/>
              </a:rPr>
              <a:t>Researchers should describe their question, not assemble JSON.</a:t>
            </a:r>
            <a:endParaRPr lang="en-US" sz="1800" dirty="0"/>
          </a:p>
        </p:txBody>
      </p:sp>
      <p:sp>
        <p:nvSpPr>
          <p:cNvPr id="5" name="Journey marker 1"/>
          <p:cNvSpPr/>
          <p:nvPr/>
        </p:nvSpPr>
        <p:spPr>
          <a:xfrm>
            <a:off x="685800" y="2816352"/>
            <a:ext cx="347472" cy="347472"/>
          </a:xfrm>
          <a:prstGeom prst="ellipse">
            <a:avLst/>
          </a:prstGeom>
          <a:solidFill>
            <a:schemeClr val="accent1"/>
          </a:solidFill>
          <a:ln w="25400">
            <a:solidFill>
              <a:srgbClr val="BDB3F6"/>
            </a:solidFill>
          </a:ln>
        </p:spPr>
        <p:txBody>
          <a:bodyPr wrap="square" lIns="0" tIns="0" rIns="0" bIns="0" rtlCol="0" anchor="ctr"/>
          <a:lstStyle/>
          <a:p>
            <a:pPr algn="ctr" indent="0" marL="0">
              <a:buNone/>
            </a:pPr>
            <a:r>
              <a:rPr lang="en-US" sz="1200" b="1"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1</a:t>
            </a:r>
            <a:endParaRPr lang="en-US" sz="1200" dirty="0"/>
          </a:p>
        </p:txBody>
      </p:sp>
      <p:sp>
        <p:nvSpPr>
          <p:cNvPr id="6" name="Journey step 1"/>
          <p:cNvSpPr txBox="1"/>
          <p:nvPr/>
        </p:nvSpPr>
        <p:spPr>
          <a:xfrm>
            <a:off x="1207008" y="2798064"/>
            <a:ext cx="3611880" cy="274320"/>
          </a:xfrm>
          <a:prstGeom prst="rect">
            <a:avLst/>
          </a:prstGeom>
          <a:noFill/>
          <a:ln/>
        </p:spPr>
        <p:txBody>
          <a:bodyPr wrap="square" lIns="0" tIns="0" rIns="0" bIns="0" rtlCol="0" anchor="t"/>
          <a:lstStyle/>
          <a:p>
            <a:pPr indent="0" marL="0">
              <a:buNone/>
            </a:pPr>
            <a:r>
              <a:rPr lang="en-US" sz="1600" b="1" dirty="0">
                <a:solidFill>
                  <a:schemeClr val="bg1"/>
                </a:solidFill>
                <a:latin typeface="Inter" panose="02000503000000020004" pitchFamily="34" charset="0"/>
                <a:ea typeface="Inter" panose="02000503000000020004" pitchFamily="34" charset="-122"/>
                <a:cs typeface="Inter" panose="02000503000000020004" pitchFamily="34" charset="-120"/>
              </a:rPr>
              <a:t>Describe it in your own words</a:t>
            </a:r>
            <a:endParaRPr lang="en-US" sz="1600" dirty="0"/>
          </a:p>
        </p:txBody>
      </p:sp>
      <p:sp>
        <p:nvSpPr>
          <p:cNvPr id="7" name="Journey detail 1"/>
          <p:cNvSpPr txBox="1"/>
          <p:nvPr/>
        </p:nvSpPr>
        <p:spPr>
          <a:xfrm>
            <a:off x="1207008" y="3099816"/>
            <a:ext cx="3611880" cy="256032"/>
          </a:xfrm>
          <a:prstGeom prst="rect">
            <a:avLst/>
          </a:prstGeom>
          <a:noFill/>
          <a:ln/>
        </p:spPr>
        <p:txBody>
          <a:bodyPr wrap="square" lIns="0" tIns="0" rIns="0" bIns="0" rtlCol="0" anchor="t"/>
          <a:lstStyle/>
          <a:p>
            <a:pPr indent="0" marL="0">
              <a:buNone/>
            </a:pPr>
            <a:r>
              <a:rPr lang="en-US" sz="1250" dirty="0">
                <a:solidFill>
                  <a:srgbClr val="A3B1C8"/>
                </a:solidFill>
                <a:latin typeface="Inter" panose="02000503000000020004" pitchFamily="34" charset="0"/>
                <a:ea typeface="Inter" panose="02000503000000020004" pitchFamily="34" charset="-122"/>
                <a:cs typeface="Inter" panose="02000503000000020004" pitchFamily="34" charset="-120"/>
              </a:rPr>
              <a:t>No code, no JSON, no database terms</a:t>
            </a:r>
            <a:endParaRPr lang="en-US" sz="1250" dirty="0"/>
          </a:p>
        </p:txBody>
      </p:sp>
      <p:sp>
        <p:nvSpPr>
          <p:cNvPr id="8" name="Journey 1 status"/>
          <p:cNvSpPr/>
          <p:nvPr/>
        </p:nvSpPr>
        <p:spPr>
          <a:xfrm>
            <a:off x="4873752" y="2852928"/>
            <a:ext cx="1024128" cy="237744"/>
          </a:xfrm>
          <a:prstGeom prst="roundRect">
            <a:avLst>
              <a:gd name="adj" fmla="val 50000"/>
            </a:avLst>
          </a:prstGeom>
          <a:solidFill>
            <a:schemeClr val="accent3"/>
          </a:solidFill>
          <a:ln/>
        </p:spPr>
        <p:txBody>
          <a:bodyPr/>
          <a:p/>
        </p:txBody>
      </p:sp>
      <p:sp>
        <p:nvSpPr>
          <p:cNvPr id="9" name="Journey 1 status text"/>
          <p:cNvSpPr txBox="1"/>
          <p:nvPr/>
        </p:nvSpPr>
        <p:spPr>
          <a:xfrm>
            <a:off x="4873752" y="2852928"/>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10" name="Journey marker 2"/>
          <p:cNvSpPr/>
          <p:nvPr/>
        </p:nvSpPr>
        <p:spPr>
          <a:xfrm>
            <a:off x="685800" y="3474720"/>
            <a:ext cx="347472" cy="347472"/>
          </a:xfrm>
          <a:prstGeom prst="ellipse">
            <a:avLst/>
          </a:prstGeom>
          <a:solidFill>
            <a:schemeClr val="accent1"/>
          </a:solidFill>
          <a:ln w="25400">
            <a:solidFill>
              <a:srgbClr val="BDB3F6"/>
            </a:solidFill>
          </a:ln>
        </p:spPr>
        <p:txBody>
          <a:bodyPr wrap="square" lIns="0" tIns="0" rIns="0" bIns="0" rtlCol="0" anchor="ctr"/>
          <a:lstStyle/>
          <a:p>
            <a:pPr algn="ctr" indent="0" marL="0">
              <a:buNone/>
            </a:pPr>
            <a:r>
              <a:rPr lang="en-US" sz="1200" b="1"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2</a:t>
            </a:r>
            <a:endParaRPr lang="en-US" sz="1200" dirty="0"/>
          </a:p>
        </p:txBody>
      </p:sp>
      <p:sp>
        <p:nvSpPr>
          <p:cNvPr id="11" name="Journey step 2"/>
          <p:cNvSpPr txBox="1"/>
          <p:nvPr/>
        </p:nvSpPr>
        <p:spPr>
          <a:xfrm>
            <a:off x="1207008" y="3456432"/>
            <a:ext cx="3611880" cy="274320"/>
          </a:xfrm>
          <a:prstGeom prst="rect">
            <a:avLst/>
          </a:prstGeom>
          <a:noFill/>
          <a:ln/>
        </p:spPr>
        <p:txBody>
          <a:bodyPr wrap="square" lIns="0" tIns="0" rIns="0" bIns="0" rtlCol="0" anchor="t"/>
          <a:lstStyle/>
          <a:p>
            <a:pPr indent="0" marL="0">
              <a:buNone/>
            </a:pPr>
            <a:r>
              <a:rPr lang="en-US" sz="1600" b="1" dirty="0">
                <a:solidFill>
                  <a:schemeClr val="bg1"/>
                </a:solidFill>
                <a:latin typeface="Inter" panose="02000503000000020004" pitchFamily="34" charset="0"/>
                <a:ea typeface="Inter" panose="02000503000000020004" pitchFamily="34" charset="-122"/>
                <a:cs typeface="Inter" panose="02000503000000020004" pitchFamily="34" charset="-120"/>
              </a:rPr>
              <a:t>See how it was understood</a:t>
            </a:r>
            <a:endParaRPr lang="en-US" sz="1600" dirty="0"/>
          </a:p>
        </p:txBody>
      </p:sp>
      <p:sp>
        <p:nvSpPr>
          <p:cNvPr id="12" name="Journey detail 2"/>
          <p:cNvSpPr txBox="1"/>
          <p:nvPr/>
        </p:nvSpPr>
        <p:spPr>
          <a:xfrm>
            <a:off x="1207008" y="3758184"/>
            <a:ext cx="3611880" cy="256032"/>
          </a:xfrm>
          <a:prstGeom prst="rect">
            <a:avLst/>
          </a:prstGeom>
          <a:noFill/>
          <a:ln/>
        </p:spPr>
        <p:txBody>
          <a:bodyPr wrap="square" lIns="0" tIns="0" rIns="0" bIns="0" rtlCol="0" anchor="t"/>
          <a:lstStyle/>
          <a:p>
            <a:pPr indent="0" marL="0">
              <a:buNone/>
            </a:pPr>
            <a:r>
              <a:rPr lang="en-US" sz="1250" dirty="0">
                <a:solidFill>
                  <a:srgbClr val="A3B1C8"/>
                </a:solidFill>
                <a:latin typeface="Inter" panose="02000503000000020004" pitchFamily="34" charset="0"/>
                <a:ea typeface="Inter" panose="02000503000000020004" pitchFamily="34" charset="-122"/>
                <a:cs typeface="Inter" panose="02000503000000020004" pitchFamily="34" charset="-120"/>
              </a:rPr>
              <a:t>A plain-language summary before it runs</a:t>
            </a:r>
            <a:endParaRPr lang="en-US" sz="1250" dirty="0"/>
          </a:p>
        </p:txBody>
      </p:sp>
      <p:sp>
        <p:nvSpPr>
          <p:cNvPr id="13" name="Journey 2 status"/>
          <p:cNvSpPr/>
          <p:nvPr/>
        </p:nvSpPr>
        <p:spPr>
          <a:xfrm>
            <a:off x="4873752" y="3511296"/>
            <a:ext cx="1024128" cy="237744"/>
          </a:xfrm>
          <a:prstGeom prst="roundRect">
            <a:avLst>
              <a:gd name="adj" fmla="val 50000"/>
            </a:avLst>
          </a:prstGeom>
          <a:solidFill>
            <a:schemeClr val="accent3"/>
          </a:solidFill>
          <a:ln/>
        </p:spPr>
        <p:txBody>
          <a:bodyPr/>
          <a:p/>
        </p:txBody>
      </p:sp>
      <p:sp>
        <p:nvSpPr>
          <p:cNvPr id="14" name="Journey 2 status text"/>
          <p:cNvSpPr txBox="1"/>
          <p:nvPr/>
        </p:nvSpPr>
        <p:spPr>
          <a:xfrm>
            <a:off x="4873752" y="3511296"/>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15" name="Journey marker 3"/>
          <p:cNvSpPr/>
          <p:nvPr/>
        </p:nvSpPr>
        <p:spPr>
          <a:xfrm>
            <a:off x="685800" y="4133088"/>
            <a:ext cx="347472" cy="347472"/>
          </a:xfrm>
          <a:prstGeom prst="ellipse">
            <a:avLst/>
          </a:prstGeom>
          <a:solidFill>
            <a:schemeClr val="accent1"/>
          </a:solidFill>
          <a:ln w="25400">
            <a:solidFill>
              <a:srgbClr val="BDB3F6"/>
            </a:solidFill>
          </a:ln>
        </p:spPr>
        <p:txBody>
          <a:bodyPr wrap="square" lIns="0" tIns="0" rIns="0" bIns="0" rtlCol="0" anchor="ctr"/>
          <a:lstStyle/>
          <a:p>
            <a:pPr algn="ctr" indent="0" marL="0">
              <a:buNone/>
            </a:pPr>
            <a:r>
              <a:rPr lang="en-US" sz="1200" b="1"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3</a:t>
            </a:r>
            <a:endParaRPr lang="en-US" sz="1200" dirty="0"/>
          </a:p>
        </p:txBody>
      </p:sp>
      <p:sp>
        <p:nvSpPr>
          <p:cNvPr id="16" name="Journey step 3"/>
          <p:cNvSpPr txBox="1"/>
          <p:nvPr/>
        </p:nvSpPr>
        <p:spPr>
          <a:xfrm>
            <a:off x="1207008" y="4114800"/>
            <a:ext cx="3611880" cy="274320"/>
          </a:xfrm>
          <a:prstGeom prst="rect">
            <a:avLst/>
          </a:prstGeom>
          <a:noFill/>
          <a:ln/>
        </p:spPr>
        <p:txBody>
          <a:bodyPr wrap="square" lIns="0" tIns="0" rIns="0" bIns="0" rtlCol="0" anchor="t"/>
          <a:lstStyle/>
          <a:p>
            <a:pPr indent="0" marL="0">
              <a:buNone/>
            </a:pPr>
            <a:r>
              <a:rPr lang="en-US" sz="1600" b="1" dirty="0">
                <a:solidFill>
                  <a:schemeClr val="bg1"/>
                </a:solidFill>
                <a:latin typeface="Inter" panose="02000503000000020004" pitchFamily="34" charset="0"/>
                <a:ea typeface="Inter" panose="02000503000000020004" pitchFamily="34" charset="-122"/>
                <a:cs typeface="Inter" panose="02000503000000020004" pitchFamily="34" charset="-120"/>
              </a:rPr>
              <a:t>Fill in what is missing</a:t>
            </a:r>
            <a:endParaRPr lang="en-US" sz="1600" dirty="0"/>
          </a:p>
        </p:txBody>
      </p:sp>
      <p:sp>
        <p:nvSpPr>
          <p:cNvPr id="17" name="Journey detail 3"/>
          <p:cNvSpPr txBox="1"/>
          <p:nvPr/>
        </p:nvSpPr>
        <p:spPr>
          <a:xfrm>
            <a:off x="1207008" y="4416552"/>
            <a:ext cx="3611880" cy="256032"/>
          </a:xfrm>
          <a:prstGeom prst="rect">
            <a:avLst/>
          </a:prstGeom>
          <a:noFill/>
          <a:ln/>
        </p:spPr>
        <p:txBody>
          <a:bodyPr wrap="square" lIns="0" tIns="0" rIns="0" bIns="0" rtlCol="0" anchor="t"/>
          <a:lstStyle/>
          <a:p>
            <a:pPr indent="0" marL="0">
              <a:buNone/>
            </a:pPr>
            <a:r>
              <a:rPr lang="en-US" sz="1250" dirty="0">
                <a:solidFill>
                  <a:srgbClr val="A3B1C8"/>
                </a:solidFill>
                <a:latin typeface="Inter" panose="02000503000000020004" pitchFamily="34" charset="0"/>
                <a:ea typeface="Inter" panose="02000503000000020004" pitchFamily="34" charset="-122"/>
                <a:cs typeface="Inter" panose="02000503000000020004" pitchFamily="34" charset="-120"/>
              </a:rPr>
              <a:t>It asks for the purpose or a missing criterion</a:t>
            </a:r>
            <a:endParaRPr lang="en-US" sz="1250" dirty="0"/>
          </a:p>
        </p:txBody>
      </p:sp>
      <p:sp>
        <p:nvSpPr>
          <p:cNvPr id="18" name="Journey 3 status"/>
          <p:cNvSpPr/>
          <p:nvPr/>
        </p:nvSpPr>
        <p:spPr>
          <a:xfrm>
            <a:off x="4873752" y="4169664"/>
            <a:ext cx="1024128" cy="237744"/>
          </a:xfrm>
          <a:prstGeom prst="roundRect">
            <a:avLst>
              <a:gd name="adj" fmla="val 50000"/>
            </a:avLst>
          </a:prstGeom>
          <a:solidFill>
            <a:schemeClr val="accent3"/>
          </a:solidFill>
          <a:ln/>
        </p:spPr>
        <p:txBody>
          <a:bodyPr/>
          <a:p/>
        </p:txBody>
      </p:sp>
      <p:sp>
        <p:nvSpPr>
          <p:cNvPr id="19" name="Journey 3 status text"/>
          <p:cNvSpPr txBox="1"/>
          <p:nvPr/>
        </p:nvSpPr>
        <p:spPr>
          <a:xfrm>
            <a:off x="4873752" y="4169664"/>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20" name="Journey marker 4"/>
          <p:cNvSpPr/>
          <p:nvPr/>
        </p:nvSpPr>
        <p:spPr>
          <a:xfrm>
            <a:off x="685800" y="4791456"/>
            <a:ext cx="347472" cy="347472"/>
          </a:xfrm>
          <a:prstGeom prst="ellipse">
            <a:avLst/>
          </a:prstGeom>
          <a:solidFill>
            <a:schemeClr val="accent1"/>
          </a:solidFill>
          <a:ln w="25400">
            <a:solidFill>
              <a:srgbClr val="BDB3F6"/>
            </a:solidFill>
          </a:ln>
        </p:spPr>
        <p:txBody>
          <a:bodyPr wrap="square" lIns="0" tIns="0" rIns="0" bIns="0" rtlCol="0" anchor="ctr"/>
          <a:lstStyle/>
          <a:p>
            <a:pPr algn="ctr" indent="0" marL="0">
              <a:buNone/>
            </a:pPr>
            <a:r>
              <a:rPr lang="en-US" sz="1200" b="1"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4</a:t>
            </a:r>
            <a:endParaRPr lang="en-US" sz="1200" dirty="0"/>
          </a:p>
        </p:txBody>
      </p:sp>
      <p:sp>
        <p:nvSpPr>
          <p:cNvPr id="21" name="Journey step 4"/>
          <p:cNvSpPr txBox="1"/>
          <p:nvPr/>
        </p:nvSpPr>
        <p:spPr>
          <a:xfrm>
            <a:off x="1207008" y="4773168"/>
            <a:ext cx="3611880" cy="274320"/>
          </a:xfrm>
          <a:prstGeom prst="rect">
            <a:avLst/>
          </a:prstGeom>
          <a:noFill/>
          <a:ln/>
        </p:spPr>
        <p:txBody>
          <a:bodyPr wrap="square" lIns="0" tIns="0" rIns="0" bIns="0" rtlCol="0" anchor="t"/>
          <a:lstStyle/>
          <a:p>
            <a:pPr indent="0" marL="0">
              <a:buNone/>
            </a:pPr>
            <a:r>
              <a:rPr lang="en-US" sz="1600" b="1" dirty="0">
                <a:solidFill>
                  <a:schemeClr val="bg1"/>
                </a:solidFill>
                <a:latin typeface="Inter" panose="02000503000000020004" pitchFamily="34" charset="0"/>
                <a:ea typeface="Inter" panose="02000503000000020004" pitchFamily="34" charset="-122"/>
                <a:cs typeface="Inter" panose="02000503000000020004" pitchFamily="34" charset="-120"/>
              </a:rPr>
              <a:t>Or build it step by step</a:t>
            </a:r>
            <a:endParaRPr lang="en-US" sz="1600" dirty="0"/>
          </a:p>
        </p:txBody>
      </p:sp>
      <p:sp>
        <p:nvSpPr>
          <p:cNvPr id="22" name="Journey detail 4"/>
          <p:cNvSpPr txBox="1"/>
          <p:nvPr/>
        </p:nvSpPr>
        <p:spPr>
          <a:xfrm>
            <a:off x="1207008" y="5074920"/>
            <a:ext cx="3611880" cy="256032"/>
          </a:xfrm>
          <a:prstGeom prst="rect">
            <a:avLst/>
          </a:prstGeom>
          <a:noFill/>
          <a:ln/>
        </p:spPr>
        <p:txBody>
          <a:bodyPr wrap="square" lIns="0" tIns="0" rIns="0" bIns="0" rtlCol="0" anchor="t"/>
          <a:lstStyle/>
          <a:p>
            <a:pPr indent="0" marL="0">
              <a:buNone/>
            </a:pPr>
            <a:r>
              <a:rPr lang="en-US" sz="1250" dirty="0">
                <a:solidFill>
                  <a:srgbClr val="A3B1C8"/>
                </a:solidFill>
                <a:latin typeface="Inter" panose="02000503000000020004" pitchFamily="34" charset="0"/>
                <a:ea typeface="Inter" panose="02000503000000020004" pitchFamily="34" charset="-122"/>
                <a:cs typeface="Inter" panose="02000503000000020004" pitchFamily="34" charset="-120"/>
              </a:rPr>
              <a:t>Question, population, analysis, review</a:t>
            </a:r>
            <a:endParaRPr lang="en-US" sz="1250" dirty="0"/>
          </a:p>
        </p:txBody>
      </p:sp>
      <p:sp>
        <p:nvSpPr>
          <p:cNvPr id="23" name="Journey 4 status"/>
          <p:cNvSpPr/>
          <p:nvPr/>
        </p:nvSpPr>
        <p:spPr>
          <a:xfrm>
            <a:off x="4873752" y="4828032"/>
            <a:ext cx="1024128" cy="237744"/>
          </a:xfrm>
          <a:prstGeom prst="roundRect">
            <a:avLst>
              <a:gd name="adj" fmla="val 50000"/>
            </a:avLst>
          </a:prstGeom>
          <a:solidFill>
            <a:schemeClr val="accent3"/>
          </a:solidFill>
          <a:ln/>
        </p:spPr>
        <p:txBody>
          <a:bodyPr/>
          <a:p/>
        </p:txBody>
      </p:sp>
      <p:sp>
        <p:nvSpPr>
          <p:cNvPr id="24" name="Journey 4 status text"/>
          <p:cNvSpPr txBox="1"/>
          <p:nvPr/>
        </p:nvSpPr>
        <p:spPr>
          <a:xfrm>
            <a:off x="4873752" y="4828032"/>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25" name="Journey marker 5"/>
          <p:cNvSpPr/>
          <p:nvPr/>
        </p:nvSpPr>
        <p:spPr>
          <a:xfrm>
            <a:off x="685800" y="5449824"/>
            <a:ext cx="347472" cy="347472"/>
          </a:xfrm>
          <a:prstGeom prst="ellipse">
            <a:avLst/>
          </a:prstGeom>
          <a:solidFill>
            <a:schemeClr val="accent1"/>
          </a:solidFill>
          <a:ln w="25400">
            <a:solidFill>
              <a:srgbClr val="BDB3F6"/>
            </a:solidFill>
          </a:ln>
        </p:spPr>
        <p:txBody>
          <a:bodyPr wrap="square" lIns="0" tIns="0" rIns="0" bIns="0" rtlCol="0" anchor="ctr"/>
          <a:lstStyle/>
          <a:p>
            <a:pPr algn="ctr" indent="0" marL="0">
              <a:buNone/>
            </a:pPr>
            <a:r>
              <a:rPr lang="en-US" sz="1200" b="1"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5</a:t>
            </a:r>
            <a:endParaRPr lang="en-US" sz="1200" dirty="0"/>
          </a:p>
        </p:txBody>
      </p:sp>
      <p:sp>
        <p:nvSpPr>
          <p:cNvPr id="26" name="Journey step 5"/>
          <p:cNvSpPr txBox="1"/>
          <p:nvPr/>
        </p:nvSpPr>
        <p:spPr>
          <a:xfrm>
            <a:off x="1207008" y="5431536"/>
            <a:ext cx="3611880" cy="274320"/>
          </a:xfrm>
          <a:prstGeom prst="rect">
            <a:avLst/>
          </a:prstGeom>
          <a:noFill/>
          <a:ln/>
        </p:spPr>
        <p:txBody>
          <a:bodyPr wrap="square" lIns="0" tIns="0" rIns="0" bIns="0" rtlCol="0" anchor="t"/>
          <a:lstStyle/>
          <a:p>
            <a:pPr indent="0" marL="0">
              <a:buNone/>
            </a:pPr>
            <a:r>
              <a:rPr lang="en-US" sz="1600" b="1" dirty="0">
                <a:solidFill>
                  <a:schemeClr val="bg1"/>
                </a:solidFill>
                <a:latin typeface="Inter" panose="02000503000000020004" pitchFamily="34" charset="0"/>
                <a:ea typeface="Inter" panose="02000503000000020004" pitchFamily="34" charset="-122"/>
                <a:cs typeface="Inter" panose="02000503000000020004" pitchFamily="34" charset="-120"/>
              </a:rPr>
              <a:t>Receive authorised statistics</a:t>
            </a:r>
            <a:endParaRPr lang="en-US" sz="1600" dirty="0"/>
          </a:p>
        </p:txBody>
      </p:sp>
      <p:sp>
        <p:nvSpPr>
          <p:cNvPr id="27" name="Journey detail 5"/>
          <p:cNvSpPr txBox="1"/>
          <p:nvPr/>
        </p:nvSpPr>
        <p:spPr>
          <a:xfrm>
            <a:off x="1207008" y="5733288"/>
            <a:ext cx="3611880" cy="256032"/>
          </a:xfrm>
          <a:prstGeom prst="rect">
            <a:avLst/>
          </a:prstGeom>
          <a:noFill/>
          <a:ln/>
        </p:spPr>
        <p:txBody>
          <a:bodyPr wrap="square" lIns="0" tIns="0" rIns="0" bIns="0" rtlCol="0" anchor="t"/>
          <a:lstStyle/>
          <a:p>
            <a:pPr indent="0" marL="0">
              <a:buNone/>
            </a:pPr>
            <a:r>
              <a:rPr lang="en-US" sz="1250" dirty="0">
                <a:solidFill>
                  <a:srgbClr val="A3B1C8"/>
                </a:solidFill>
                <a:latin typeface="Inter" panose="02000503000000020004" pitchFamily="34" charset="0"/>
                <a:ea typeface="Inter" panose="02000503000000020004" pitchFamily="34" charset="-122"/>
                <a:cs typeface="Inter" panose="02000503000000020004" pitchFamily="34" charset="-120"/>
              </a:rPr>
              <a:t>Small counts hidden, articles cited</a:t>
            </a:r>
            <a:endParaRPr lang="en-US" sz="1250" dirty="0"/>
          </a:p>
        </p:txBody>
      </p:sp>
      <p:sp>
        <p:nvSpPr>
          <p:cNvPr id="28" name="Journey 5 status"/>
          <p:cNvSpPr/>
          <p:nvPr/>
        </p:nvSpPr>
        <p:spPr>
          <a:xfrm>
            <a:off x="4873752" y="5486400"/>
            <a:ext cx="1024128" cy="237744"/>
          </a:xfrm>
          <a:prstGeom prst="roundRect">
            <a:avLst>
              <a:gd name="adj" fmla="val 50000"/>
            </a:avLst>
          </a:prstGeom>
          <a:solidFill>
            <a:schemeClr val="accent3"/>
          </a:solidFill>
          <a:ln/>
        </p:spPr>
        <p:txBody>
          <a:bodyPr/>
          <a:p/>
        </p:txBody>
      </p:sp>
      <p:sp>
        <p:nvSpPr>
          <p:cNvPr id="29" name="Journey 5 status text"/>
          <p:cNvSpPr txBox="1"/>
          <p:nvPr/>
        </p:nvSpPr>
        <p:spPr>
          <a:xfrm>
            <a:off x="4873752" y="5486400"/>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31" name="Screenshot shadow"/>
          <p:cNvSpPr/>
          <p:nvPr/>
        </p:nvSpPr>
        <p:spPr>
          <a:xfrm>
            <a:off x="8805672" y="3862159"/>
            <a:ext cx="2697480" cy="2035721"/>
          </a:xfrm>
          <a:prstGeom prst="roundRect">
            <a:avLst>
              <a:gd name="adj" fmla="val 3593"/>
            </a:avLst>
          </a:prstGeom>
          <a:solidFill>
            <a:srgbClr val="FBFAF7"/>
          </a:solidFill>
          <a:ln/>
          <a:effectLst>
            <a:outerShdw sx="100000" sy="100000" kx="0" ky="0" algn="bl" rotWithShape="0" blurRad="177800" dist="50800" dir="5400000">
              <a:srgbClr val="000000">
                <a:alpha val="45000"/>
              </a:srgbClr>
            </a:outerShdw>
          </a:effectLst>
        </p:spPr>
        <p:txBody>
          <a:bodyPr/>
          <a:p/>
        </p:txBody>
      </p:sp>
      <p:sp>
        <p:nvSpPr>
          <p:cNvPr id="33" name="Screenshot marker 1"/>
          <p:cNvSpPr/>
          <p:nvPr/>
        </p:nvSpPr>
        <p:spPr>
          <a:xfrm>
            <a:off x="6062472" y="3532409"/>
            <a:ext cx="329184" cy="329184"/>
          </a:xfrm>
          <a:prstGeom prst="ellipse">
            <a:avLst/>
          </a:prstGeom>
          <a:solidFill>
            <a:schemeClr val="accent1"/>
          </a:solidFill>
          <a:ln w="25400">
            <a:solidFill>
              <a:srgbClr val="0E2848"/>
            </a:solidFill>
          </a:ln>
        </p:spPr>
        <p:txBody>
          <a:bodyPr wrap="square" lIns="0" tIns="0" rIns="0" bIns="0" rtlCol="0" anchor="ctr"/>
          <a:lstStyle/>
          <a:p>
            <a:pPr algn="ctr" indent="0" marL="0">
              <a:buNone/>
            </a:pPr>
            <a:r>
              <a:rPr lang="en-US" sz="1200" b="1"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1</a:t>
            </a:r>
            <a:endParaRPr lang="en-US" sz="1200" dirty="0"/>
          </a:p>
        </p:txBody>
      </p:sp>
      <p:sp>
        <p:nvSpPr>
          <p:cNvPr id="34" name="Screenshot marker 4"/>
          <p:cNvSpPr/>
          <p:nvPr/>
        </p:nvSpPr>
        <p:spPr>
          <a:xfrm>
            <a:off x="6062472" y="4976437"/>
            <a:ext cx="329184" cy="329184"/>
          </a:xfrm>
          <a:prstGeom prst="ellipse">
            <a:avLst/>
          </a:prstGeom>
          <a:solidFill>
            <a:schemeClr val="accent1"/>
          </a:solidFill>
          <a:ln w="25400">
            <a:solidFill>
              <a:srgbClr val="0E2848"/>
            </a:solidFill>
          </a:ln>
        </p:spPr>
        <p:txBody>
          <a:bodyPr wrap="square" lIns="0" tIns="0" rIns="0" bIns="0" rtlCol="0" anchor="ctr"/>
          <a:lstStyle/>
          <a:p>
            <a:pPr algn="ctr" indent="0" marL="0">
              <a:buNone/>
            </a:pPr>
            <a:r>
              <a:rPr lang="en-US" sz="1200" b="1"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2</a:t>
            </a:r>
            <a:endParaRPr lang="en-US" sz="1200" dirty="0"/>
          </a:p>
        </p:txBody>
      </p:sp>
      <p:sp>
        <p:nvSpPr>
          <p:cNvPr id="35" name="Screenshot marker 3"/>
          <p:cNvSpPr/>
          <p:nvPr/>
        </p:nvSpPr>
        <p:spPr>
          <a:xfrm>
            <a:off x="8421624" y="5437838"/>
            <a:ext cx="329184" cy="329184"/>
          </a:xfrm>
          <a:prstGeom prst="ellipse">
            <a:avLst/>
          </a:prstGeom>
          <a:solidFill>
            <a:schemeClr val="accent1"/>
          </a:solidFill>
          <a:ln w="25400">
            <a:solidFill>
              <a:srgbClr val="0E2848"/>
            </a:solidFill>
          </a:ln>
        </p:spPr>
        <p:txBody>
          <a:bodyPr wrap="square" lIns="0" tIns="0" rIns="0" bIns="0" rtlCol="0" anchor="ctr"/>
          <a:lstStyle/>
          <a:p>
            <a:pPr algn="ctr" indent="0" marL="0">
              <a:buNone/>
            </a:pPr>
            <a:r>
              <a:rPr lang="en-US" sz="1200" b="1"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3</a:t>
            </a:r>
            <a:endParaRPr lang="en-US" sz="1200" dirty="0"/>
          </a:p>
        </p:txBody>
      </p:sp>
      <p:sp>
        <p:nvSpPr>
          <p:cNvPr id="36" name="Screenshot caption"/>
          <p:cNvSpPr txBox="1"/>
          <p:nvPr/>
        </p:nvSpPr>
        <p:spPr>
          <a:xfrm>
            <a:off x="6446520" y="6016752"/>
            <a:ext cx="5056632" cy="219456"/>
          </a:xfrm>
          <a:prstGeom prst="rect">
            <a:avLst/>
          </a:prstGeom>
          <a:noFill/>
          <a:ln/>
        </p:spPr>
        <p:txBody>
          <a:bodyPr wrap="square" lIns="0" tIns="0" rIns="0" bIns="0" rtlCol="0" anchor="t"/>
          <a:lstStyle/>
          <a:p>
            <a:pPr indent="0" marL="0">
              <a:buNone/>
            </a:pPr>
            <a:r>
              <a:rPr lang="en-US" sz="1000" spc="120" kern="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CURRENT PROTOTYPE SCREENSHOTS  ·  SYNTHETIC DATA ONLY</a:t>
            </a:r>
            <a:endParaRPr lang="en-US" sz="1000" dirty="0"/>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3B1C8"/>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4</a:t>
            </a:fld>
            <a:endParaRPr lang="en-US"/>
          </a:p>
        </p:txBody>
      </p:sp>
      <p:pic>
        <p:nvPicPr>
          <p:cNvPr id="37" name="Screenshot landing page" descr="landing_question.png"/>
          <p:cNvPicPr>
            <a:picLocks noChangeAspect="1"/>
          </p:cNvPicPr>
          <p:nvPr/>
        </p:nvPicPr>
        <p:blipFill>
          <a:blip r:embed="rId5"/>
          <a:stretch>
            <a:fillRect/>
          </a:stretch>
        </p:blipFill>
        <p:spPr>
          <a:xfrm>
            <a:off x="6446520" y="2724912"/>
            <a:ext cx="2880360" cy="2045696"/>
          </a:xfrm>
          <a:prstGeom prst="rect">
            <a:avLst/>
          </a:prstGeom>
        </p:spPr>
      </p:pic>
      <p:pic>
        <p:nvPicPr>
          <p:cNvPr id="38" name="Screenshot guided population step" descr="understood.png"/>
          <p:cNvPicPr>
            <a:picLocks noChangeAspect="1"/>
          </p:cNvPicPr>
          <p:nvPr/>
        </p:nvPicPr>
        <p:blipFill>
          <a:blip r:embed="rId6"/>
          <a:stretch>
            <a:fillRect/>
          </a:stretch>
        </p:blipFill>
        <p:spPr>
          <a:xfrm>
            <a:off x="8805672" y="3862159"/>
            <a:ext cx="2697480" cy="1915810"/>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685800" y="502920"/>
            <a:ext cx="4480560" cy="274320"/>
          </a:xfrm>
          <a:prstGeom prst="rect">
            <a:avLst/>
          </a:prstGeom>
          <a:noFill/>
          <a:ln/>
        </p:spPr>
        <p:txBody>
          <a:bodyPr wrap="square" lIns="0" tIns="0" rIns="0" bIns="0" rtlCol="0" anchor="ctr"/>
          <a:lstStyle/>
          <a:p>
            <a:pPr indent="0" marL="0">
              <a:buNone/>
            </a:pPr>
            <a:r>
              <a:rPr lang="en-US" sz="1200" spc="200" kern="0" dirty="0">
                <a:solidFill>
                  <a:srgbClr val="BDB3F6"/>
                </a:solidFill>
                <a:latin typeface="IBM Plex Mono" panose="020B0509050203000203" pitchFamily="49" charset="0"/>
                <a:ea typeface="IBM Plex Mono" panose="020B0509050203000203" pitchFamily="49" charset="-122"/>
                <a:cs typeface="IBM Plex Mono" panose="020B0509050203000203" pitchFamily="49" charset="-120"/>
              </a:rPr>
              <a:t>TRUST BY DESIGN</a:t>
            </a:r>
            <a:endParaRPr lang="en-US" sz="1200" dirty="0"/>
          </a:p>
        </p:txBody>
      </p:sp>
      <p:sp>
        <p:nvSpPr>
          <p:cNvPr id="3" name="Text 2"/>
          <p:cNvSpPr/>
          <p:nvPr>
            <p:ph idx="103" type="title" hasCustomPrompt="1"/>
          </p:nvPr>
        </p:nvSpPr>
        <p:spPr>
          <a:xfrm>
            <a:off x="685800" y="822960"/>
            <a:ext cx="4572000" cy="1371600"/>
          </a:xfrm>
          <a:prstGeom prst="rect">
            <a:avLst/>
          </a:prstGeom>
          <a:noFill/>
          <a:ln/>
        </p:spPr>
        <p:txBody>
          <a:bodyPr wrap="square" lIns="0" tIns="0" rIns="0" bIns="0" rtlCol="0" anchor="t"/>
          <a:lstStyle/>
          <a:p>
            <a:pPr algn="l" indent="0" marL="0">
              <a:lnSpc>
                <a:spcPct val="92000"/>
              </a:lnSpc>
              <a:buNone/>
            </a:pPr>
            <a:r>
              <a:rPr lang="en-US" sz="4600" dirty="0">
                <a:solidFill>
                  <a:srgbClr val="FAFAF8"/>
                </a:solidFill>
                <a:latin typeface="Instrument Serif" panose="02020603050405020304" pitchFamily="18" charset="0"/>
                <a:ea typeface="Instrument Serif" panose="02020603050405020304" pitchFamily="18" charset="-122"/>
                <a:cs typeface="Instrument Serif" panose="02020603050405020304" pitchFamily="18" charset="-120"/>
              </a:rPr>
              <a:t>Read the words.</a:t>
            </a:r>
            <a:endParaRPr lang="en-US" sz="4600" dirty="0"/>
          </a:p>
          <a:p>
            <a:pPr algn="l" indent="0" marL="0">
              <a:lnSpc>
                <a:spcPct val="92000"/>
              </a:lnSpc>
              <a:buNone/>
            </a:pPr>
            <a:r>
              <a:rPr lang="en-US" sz="4600" i="1" dirty="0">
                <a:solidFill>
                  <a:schemeClr val="accent1"/>
                </a:solidFill>
                <a:latin typeface="Instrument Serif" panose="02020603050405020304" pitchFamily="18" charset="0"/>
                <a:ea typeface="Instrument Serif" panose="02020603050405020304" pitchFamily="18" charset="-122"/>
                <a:cs typeface="Instrument Serif" panose="02020603050405020304" pitchFamily="18" charset="-120"/>
              </a:rPr>
              <a:t>Protect the data.</a:t>
            </a:r>
            <a:endParaRPr lang="en-US" sz="4600" dirty="0"/>
          </a:p>
        </p:txBody>
      </p:sp>
      <p:sp>
        <p:nvSpPr>
          <p:cNvPr id="4" name="Interpreter panel"/>
          <p:cNvSpPr/>
          <p:nvPr/>
        </p:nvSpPr>
        <p:spPr>
          <a:xfrm>
            <a:off x="685800" y="2377440"/>
            <a:ext cx="4343400" cy="2121408"/>
          </a:xfrm>
          <a:prstGeom prst="roundRect">
            <a:avLst>
              <a:gd name="adj" fmla="val 5172"/>
            </a:avLst>
          </a:prstGeom>
          <a:solidFill>
            <a:schemeClr val="tx2"/>
          </a:solidFill>
          <a:ln w="12700">
            <a:solidFill>
              <a:srgbClr val="2B4A72"/>
            </a:solidFill>
            <a:prstDash val="solid"/>
          </a:ln>
        </p:spPr>
        <p:txBody>
          <a:bodyPr/>
          <a:p/>
        </p:txBody>
      </p:sp>
      <p:sp>
        <p:nvSpPr>
          <p:cNvPr id="5" name="Text 3"/>
          <p:cNvSpPr txBox="1"/>
          <p:nvPr/>
        </p:nvSpPr>
        <p:spPr>
          <a:xfrm>
            <a:off x="914400" y="2560320"/>
            <a:ext cx="2377440" cy="237744"/>
          </a:xfrm>
          <a:prstGeom prst="rect">
            <a:avLst/>
          </a:prstGeom>
          <a:noFill/>
          <a:ln/>
        </p:spPr>
        <p:txBody>
          <a:bodyPr wrap="square" lIns="0" tIns="0" rIns="0" bIns="0" rtlCol="0" anchor="t"/>
          <a:lstStyle/>
          <a:p>
            <a:pPr indent="0" marL="0">
              <a:buNone/>
            </a:pPr>
            <a:r>
              <a:rPr lang="en-US" sz="1100" spc="150" kern="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INTERPRETATION</a:t>
            </a:r>
            <a:endParaRPr lang="en-US" sz="1100" dirty="0"/>
          </a:p>
        </p:txBody>
      </p:sp>
      <p:sp>
        <p:nvSpPr>
          <p:cNvPr id="6" name="Interpreter status"/>
          <p:cNvSpPr/>
          <p:nvPr/>
        </p:nvSpPr>
        <p:spPr>
          <a:xfrm>
            <a:off x="3776472" y="2542032"/>
            <a:ext cx="1024128" cy="237744"/>
          </a:xfrm>
          <a:prstGeom prst="roundRect">
            <a:avLst>
              <a:gd name="adj" fmla="val 50000"/>
            </a:avLst>
          </a:prstGeom>
          <a:solidFill>
            <a:schemeClr val="accent3"/>
          </a:solidFill>
          <a:ln/>
        </p:spPr>
        <p:txBody>
          <a:bodyPr/>
          <a:p/>
        </p:txBody>
      </p:sp>
      <p:sp>
        <p:nvSpPr>
          <p:cNvPr id="7" name="Interpreter status text"/>
          <p:cNvSpPr txBox="1"/>
          <p:nvPr/>
        </p:nvSpPr>
        <p:spPr>
          <a:xfrm>
            <a:off x="3776472" y="2542032"/>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8" name="Interpreter method"/>
          <p:cNvSpPr txBox="1"/>
          <p:nvPr/>
        </p:nvSpPr>
        <p:spPr>
          <a:xfrm>
            <a:off x="914400" y="2852928"/>
            <a:ext cx="3886200" cy="237744"/>
          </a:xfrm>
          <a:prstGeom prst="rect">
            <a:avLst/>
          </a:prstGeom>
          <a:noFill/>
          <a:ln/>
        </p:spPr>
        <p:txBody>
          <a:bodyPr wrap="square" lIns="0" tIns="0" rIns="0" bIns="0" rtlCol="0" anchor="t"/>
          <a:lstStyle/>
          <a:p>
            <a:pPr indent="0" marL="0">
              <a:buNone/>
            </a:pPr>
            <a:r>
              <a:rPr lang="en-US" sz="1200" dirty="0">
                <a:solidFill>
                  <a:srgbClr val="A3B1C8"/>
                </a:solidFill>
                <a:latin typeface="Inter" panose="02000503000000020004" pitchFamily="34" charset="0"/>
                <a:ea typeface="Inter" panose="02000503000000020004" pitchFamily="34" charset="-122"/>
                <a:cs typeface="Inter" panose="02000503000000020004" pitchFamily="34" charset="-120"/>
              </a:rPr>
              <a:t>Rule-based today: patterns and medical dictionaries</a:t>
            </a:r>
            <a:endParaRPr lang="en-US" sz="1200" dirty="0"/>
          </a:p>
        </p:txBody>
      </p:sp>
      <p:sp>
        <p:nvSpPr>
          <p:cNvPr id="9" name="Interpreter row icon 1"/>
          <p:cNvSpPr/>
          <p:nvPr/>
        </p:nvSpPr>
        <p:spPr>
          <a:xfrm>
            <a:off x="914400" y="3273552"/>
            <a:ext cx="310896" cy="310896"/>
          </a:xfrm>
          <a:prstGeom prst="ellipse">
            <a:avLst/>
          </a:prstGeom>
          <a:solidFill>
            <a:schemeClr val="accent3"/>
          </a:solidFill>
          <a:ln w="15875">
            <a:solidFill>
              <a:srgbClr val="EAF2F0"/>
            </a:solidFill>
          </a:ln>
        </p:spPr>
        <p:txBody>
          <a:bodyPr wrap="square" lIns="0" tIns="0" rIns="0" bIns="0" rtlCol="0" anchor="ctr"/>
          <a:lstStyle/>
          <a:p>
            <a:pPr algn="ctr" indent="0" marL="0">
              <a:buNone/>
            </a:pPr>
            <a:r>
              <a:rPr lang="en-US" sz="1300" b="1" dirty="0">
                <a:solidFill>
                  <a:srgbClr val="1E6A55"/>
                </a:solidFill>
                <a:latin typeface="Inter" panose="02000503000000020004" pitchFamily="34" charset="0"/>
                <a:ea typeface="Inter" panose="02000503000000020004" pitchFamily="34" charset="-122"/>
                <a:cs typeface="Inter" panose="02000503000000020004" pitchFamily="34" charset="-120"/>
              </a:rPr>
              <a:t>✓</a:t>
            </a:r>
            <a:endParaRPr lang="en-US" sz="1300" dirty="0"/>
          </a:p>
        </p:txBody>
      </p:sp>
      <p:sp>
        <p:nvSpPr>
          <p:cNvPr id="10" name="Interpreter row 1"/>
          <p:cNvSpPr txBox="1"/>
          <p:nvPr/>
        </p:nvSpPr>
        <p:spPr>
          <a:xfrm>
            <a:off x="1371600" y="3282696"/>
            <a:ext cx="3429000" cy="310896"/>
          </a:xfrm>
          <a:prstGeom prst="rect">
            <a:avLst/>
          </a:prstGeom>
          <a:noFill/>
          <a:ln/>
        </p:spPr>
        <p:txBody>
          <a:bodyPr wrap="square" lIns="0" tIns="0" rIns="0" bIns="0" rtlCol="0" anchor="ctr"/>
          <a:lstStyle/>
          <a:p>
            <a:pPr indent="0" marL="0">
              <a:buNone/>
            </a:pPr>
            <a:r>
              <a:rPr lang="en-US" sz="1700" dirty="0">
                <a:solidFill>
                  <a:schemeClr val="bg1"/>
                </a:solidFill>
                <a:latin typeface="Inter" panose="02000503000000020004" pitchFamily="34" charset="0"/>
                <a:ea typeface="Inter" panose="02000503000000020004" pitchFamily="34" charset="-122"/>
                <a:cs typeface="Inter" panose="02000503000000020004" pitchFamily="34" charset="-120"/>
              </a:rPr>
              <a:t>Reads only the question</a:t>
            </a:r>
            <a:endParaRPr lang="en-US" sz="1700" dirty="0"/>
          </a:p>
        </p:txBody>
      </p:sp>
      <p:sp>
        <p:nvSpPr>
          <p:cNvPr id="11" name="Interpreter row icon 2"/>
          <p:cNvSpPr/>
          <p:nvPr/>
        </p:nvSpPr>
        <p:spPr>
          <a:xfrm>
            <a:off x="914400" y="3675888"/>
            <a:ext cx="310896" cy="310896"/>
          </a:xfrm>
          <a:prstGeom prst="ellipse">
            <a:avLst/>
          </a:prstGeom>
          <a:ln w="15875">
            <a:solidFill>
              <a:srgbClr val="F2675C"/>
            </a:solidFill>
          </a:ln>
        </p:spPr>
        <p:txBody>
          <a:bodyPr wrap="square" lIns="0" tIns="0" rIns="0" bIns="0" rtlCol="0" anchor="ctr"/>
          <a:lstStyle/>
          <a:p>
            <a:pPr algn="ctr" indent="0" marL="0">
              <a:buNone/>
            </a:pPr>
            <a:r>
              <a:rPr lang="en-US" sz="1300" b="1" dirty="0">
                <a:solidFill>
                  <a:srgbClr val="F2675C"/>
                </a:solidFill>
                <a:latin typeface="Inter" panose="02000503000000020004" pitchFamily="34" charset="0"/>
                <a:ea typeface="Inter" panose="02000503000000020004" pitchFamily="34" charset="-122"/>
                <a:cs typeface="Inter" panose="02000503000000020004" pitchFamily="34" charset="-120"/>
              </a:rPr>
              <a:t>×</a:t>
            </a:r>
            <a:endParaRPr lang="en-US" sz="1300" dirty="0"/>
          </a:p>
        </p:txBody>
      </p:sp>
      <p:sp>
        <p:nvSpPr>
          <p:cNvPr id="12" name="Interpreter row 2"/>
          <p:cNvSpPr txBox="1"/>
          <p:nvPr/>
        </p:nvSpPr>
        <p:spPr>
          <a:xfrm>
            <a:off x="1371600" y="3685032"/>
            <a:ext cx="3429000" cy="310896"/>
          </a:xfrm>
          <a:prstGeom prst="rect">
            <a:avLst/>
          </a:prstGeom>
          <a:noFill/>
          <a:ln/>
        </p:spPr>
        <p:txBody>
          <a:bodyPr wrap="square" lIns="0" tIns="0" rIns="0" bIns="0" rtlCol="0" anchor="ctr"/>
          <a:lstStyle/>
          <a:p>
            <a:pPr indent="0" marL="0">
              <a:buNone/>
            </a:pPr>
            <a:r>
              <a:rPr lang="en-US" sz="1700" dirty="0">
                <a:solidFill>
                  <a:schemeClr val="bg1"/>
                </a:solidFill>
                <a:latin typeface="Inter" panose="02000503000000020004" pitchFamily="34" charset="0"/>
                <a:ea typeface="Inter" panose="02000503000000020004" pitchFamily="34" charset="-122"/>
                <a:cs typeface="Inter" panose="02000503000000020004" pitchFamily="34" charset="-120"/>
              </a:rPr>
              <a:t>Never sees a patient record</a:t>
            </a:r>
            <a:endParaRPr lang="en-US" sz="1700" dirty="0"/>
          </a:p>
        </p:txBody>
      </p:sp>
      <p:sp>
        <p:nvSpPr>
          <p:cNvPr id="13" name="Interpreter row icon 3"/>
          <p:cNvSpPr/>
          <p:nvPr/>
        </p:nvSpPr>
        <p:spPr>
          <a:xfrm>
            <a:off x="914400" y="4078224"/>
            <a:ext cx="310896" cy="310896"/>
          </a:xfrm>
          <a:prstGeom prst="ellipse">
            <a:avLst/>
          </a:prstGeom>
          <a:ln w="15875">
            <a:solidFill>
              <a:srgbClr val="F2675C"/>
            </a:solidFill>
          </a:ln>
        </p:spPr>
        <p:txBody>
          <a:bodyPr wrap="square" lIns="0" tIns="0" rIns="0" bIns="0" rtlCol="0" anchor="ctr"/>
          <a:lstStyle/>
          <a:p>
            <a:pPr algn="ctr" indent="0" marL="0">
              <a:buNone/>
            </a:pPr>
            <a:r>
              <a:rPr lang="en-US" sz="1300" b="1" dirty="0">
                <a:solidFill>
                  <a:srgbClr val="F2675C"/>
                </a:solidFill>
                <a:latin typeface="Inter" panose="02000503000000020004" pitchFamily="34" charset="0"/>
                <a:ea typeface="Inter" panose="02000503000000020004" pitchFamily="34" charset="-122"/>
                <a:cs typeface="Inter" panose="02000503000000020004" pitchFamily="34" charset="-120"/>
              </a:rPr>
              <a:t>×</a:t>
            </a:r>
            <a:endParaRPr lang="en-US" sz="1300" dirty="0"/>
          </a:p>
        </p:txBody>
      </p:sp>
      <p:sp>
        <p:nvSpPr>
          <p:cNvPr id="14" name="Interpreter row 3"/>
          <p:cNvSpPr txBox="1"/>
          <p:nvPr/>
        </p:nvSpPr>
        <p:spPr>
          <a:xfrm>
            <a:off x="1371600" y="4087368"/>
            <a:ext cx="3429000" cy="310896"/>
          </a:xfrm>
          <a:prstGeom prst="rect">
            <a:avLst/>
          </a:prstGeom>
          <a:noFill/>
          <a:ln/>
        </p:spPr>
        <p:txBody>
          <a:bodyPr wrap="square" lIns="0" tIns="0" rIns="0" bIns="0" rtlCol="0" anchor="ctr"/>
          <a:lstStyle/>
          <a:p>
            <a:pPr indent="0" marL="0">
              <a:buNone/>
            </a:pPr>
            <a:r>
              <a:rPr lang="en-US" sz="1700" dirty="0">
                <a:solidFill>
                  <a:schemeClr val="bg1"/>
                </a:solidFill>
                <a:latin typeface="Inter" panose="02000503000000020004" pitchFamily="34" charset="0"/>
                <a:ea typeface="Inter" panose="02000503000000020004" pitchFamily="34" charset="-122"/>
                <a:cs typeface="Inter" panose="02000503000000020004" pitchFamily="34" charset="-120"/>
              </a:rPr>
              <a:t>Never calculates a number</a:t>
            </a:r>
            <a:endParaRPr lang="en-US" sz="1700" dirty="0"/>
          </a:p>
        </p:txBody>
      </p:sp>
      <p:sp>
        <p:nvSpPr>
          <p:cNvPr id="15" name="AI adapters panel"/>
          <p:cNvSpPr/>
          <p:nvPr/>
        </p:nvSpPr>
        <p:spPr>
          <a:xfrm>
            <a:off x="685800" y="4709160"/>
            <a:ext cx="4343400" cy="1024128"/>
          </a:xfrm>
          <a:prstGeom prst="roundRect">
            <a:avLst>
              <a:gd name="adj" fmla="val 10714"/>
            </a:avLst>
          </a:prstGeom>
          <a:ln w="12700">
            <a:solidFill>
              <a:srgbClr val="A3B1C8"/>
            </a:solidFill>
            <a:prstDash val="dash"/>
          </a:ln>
        </p:spPr>
        <p:txBody>
          <a:bodyPr/>
          <a:p/>
        </p:txBody>
      </p:sp>
      <p:sp>
        <p:nvSpPr>
          <p:cNvPr id="16" name="Text 14"/>
          <p:cNvSpPr txBox="1"/>
          <p:nvPr/>
        </p:nvSpPr>
        <p:spPr>
          <a:xfrm>
            <a:off x="914400" y="4873752"/>
            <a:ext cx="2560320" cy="237744"/>
          </a:xfrm>
          <a:prstGeom prst="rect">
            <a:avLst/>
          </a:prstGeom>
          <a:noFill/>
          <a:ln/>
        </p:spPr>
        <p:txBody>
          <a:bodyPr wrap="square" lIns="0" tIns="0" rIns="0" bIns="0" rtlCol="0" anchor="t"/>
          <a:lstStyle/>
          <a:p>
            <a:pPr indent="0" marL="0">
              <a:buNone/>
            </a:pPr>
            <a:r>
              <a:rPr lang="en-US" sz="1100" spc="150" kern="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OPTIONAL AI ADAPTERS</a:t>
            </a:r>
            <a:endParaRPr lang="en-US" sz="1100" dirty="0"/>
          </a:p>
        </p:txBody>
      </p:sp>
      <p:sp>
        <p:nvSpPr>
          <p:cNvPr id="17" name="AI adapters status"/>
          <p:cNvSpPr/>
          <p:nvPr/>
        </p:nvSpPr>
        <p:spPr>
          <a:xfrm>
            <a:off x="3776472" y="4855464"/>
            <a:ext cx="1024128" cy="237744"/>
          </a:xfrm>
          <a:prstGeom prst="roundRect">
            <a:avLst>
              <a:gd name="adj" fmla="val 50000"/>
            </a:avLst>
          </a:prstGeom>
          <a:ln w="12700">
            <a:solidFill>
              <a:srgbClr val="A3B1C8"/>
            </a:solidFill>
            <a:prstDash val="dash"/>
          </a:ln>
        </p:spPr>
        <p:txBody>
          <a:bodyPr/>
          <a:p/>
        </p:txBody>
      </p:sp>
      <p:sp>
        <p:nvSpPr>
          <p:cNvPr id="18" name="AI adapters status text"/>
          <p:cNvSpPr txBox="1"/>
          <p:nvPr/>
        </p:nvSpPr>
        <p:spPr>
          <a:xfrm>
            <a:off x="3776472" y="4855464"/>
            <a:ext cx="1024128" cy="237744"/>
          </a:xfrm>
          <a:prstGeom prst="rect">
            <a:avLst/>
          </a:prstGeom>
          <a:noFill/>
          <a:ln/>
        </p:spPr>
        <p:txBody>
          <a:bodyPr wrap="square" lIns="0" tIns="0" rIns="0" bIns="0" rtlCol="0" anchor="ctr"/>
          <a:lstStyle/>
          <a:p>
            <a:pPr algn="ctr" indent="0" marL="0">
              <a:buNone/>
            </a:pPr>
            <a:r>
              <a:rPr lang="en-US" sz="900" b="1" spc="100" kern="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FUTURE</a:t>
            </a:r>
            <a:endParaRPr lang="en-US" sz="900" dirty="0"/>
          </a:p>
        </p:txBody>
      </p:sp>
      <p:sp>
        <p:nvSpPr>
          <p:cNvPr id="19" name="AI adapters text"/>
          <p:cNvSpPr txBox="1"/>
          <p:nvPr/>
        </p:nvSpPr>
        <p:spPr>
          <a:xfrm>
            <a:off x="914400" y="5166360"/>
            <a:ext cx="3886200" cy="475488"/>
          </a:xfrm>
          <a:prstGeom prst="rect">
            <a:avLst/>
          </a:prstGeom>
          <a:noFill/>
          <a:ln/>
        </p:spPr>
        <p:txBody>
          <a:bodyPr wrap="square" lIns="0" tIns="0" rIns="0" bIns="0" rtlCol="0" anchor="t"/>
          <a:lstStyle/>
          <a:p>
            <a:pPr indent="0" marL="0">
              <a:buNone/>
            </a:pPr>
            <a:r>
              <a:rPr lang="en-US" sz="1300" dirty="0">
                <a:solidFill>
                  <a:schemeClr val="bg1"/>
                </a:solidFill>
                <a:latin typeface="Inter" panose="02000503000000020004" pitchFamily="34" charset="0"/>
                <a:ea typeface="Inter" panose="02000503000000020004" pitchFamily="34" charset="-122"/>
                <a:cs typeface="Inter" panose="02000503000000020004" pitchFamily="34" charset="-120"/>
              </a:rPr>
              <a:t>Mistral and Ollama adapters are in the code, not yet connected or tested with real models.</a:t>
            </a:r>
            <a:endParaRPr lang="en-US" sz="1300" dirty="0"/>
          </a:p>
        </p:txBody>
      </p:sp>
      <p:sp>
        <p:nvSpPr>
          <p:cNvPr id="20" name="Pipeline spine"/>
          <p:cNvSpPr/>
          <p:nvPr/>
        </p:nvSpPr>
        <p:spPr>
          <a:xfrm>
            <a:off x="5586984" y="868680"/>
            <a:ext cx="0" cy="4626864"/>
          </a:xfrm>
          <a:prstGeom prst="line">
            <a:avLst/>
          </a:prstGeom>
          <a:noFill/>
          <a:ln w="19050">
            <a:solidFill>
              <a:srgbClr val="2B4A72"/>
            </a:solidFill>
            <a:prstDash val="solid"/>
          </a:ln>
        </p:spPr>
        <p:txBody>
          <a:bodyPr/>
          <a:p/>
        </p:txBody>
      </p:sp>
      <p:sp>
        <p:nvSpPr>
          <p:cNvPr id="21" name="Controlled environment boundary"/>
          <p:cNvSpPr/>
          <p:nvPr/>
        </p:nvSpPr>
        <p:spPr>
          <a:xfrm>
            <a:off x="5248656" y="2930652"/>
            <a:ext cx="6345936" cy="2935224"/>
          </a:xfrm>
          <a:prstGeom prst="roundRect">
            <a:avLst>
              <a:gd name="adj" fmla="val 3738"/>
            </a:avLst>
          </a:prstGeom>
          <a:ln w="15875">
            <a:solidFill>
              <a:srgbClr val="BDB3F6"/>
            </a:solidFill>
            <a:prstDash val="dash"/>
          </a:ln>
        </p:spPr>
        <p:txBody>
          <a:bodyPr/>
          <a:p/>
        </p:txBody>
      </p:sp>
      <p:sp>
        <p:nvSpPr>
          <p:cNvPr id="22" name="Crossing label"/>
          <p:cNvSpPr txBox="1"/>
          <p:nvPr/>
        </p:nvSpPr>
        <p:spPr>
          <a:xfrm>
            <a:off x="5943600" y="2679192"/>
            <a:ext cx="5559552" cy="182880"/>
          </a:xfrm>
          <a:prstGeom prst="rect">
            <a:avLst/>
          </a:prstGeom>
          <a:noFill/>
          <a:ln/>
        </p:spPr>
        <p:txBody>
          <a:bodyPr wrap="square" lIns="0" tIns="0" rIns="0" bIns="0" rtlCol="0" anchor="ctr"/>
          <a:lstStyle/>
          <a:p>
            <a:pPr algn="r" indent="0" marL="0">
              <a:buNone/>
            </a:pPr>
            <a:r>
              <a:rPr lang="en-US" sz="950" spc="120" kern="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ONLY THE STRUCTURED QUERY CROSSES  ↓</a:t>
            </a:r>
            <a:endParaRPr lang="en-US" sz="950" dirty="0"/>
          </a:p>
        </p:txBody>
      </p:sp>
      <p:sp>
        <p:nvSpPr>
          <p:cNvPr id="23" name="Step 1"/>
          <p:cNvSpPr/>
          <p:nvPr/>
        </p:nvSpPr>
        <p:spPr>
          <a:xfrm>
            <a:off x="5943600" y="566928"/>
            <a:ext cx="5559552" cy="603504"/>
          </a:xfrm>
          <a:prstGeom prst="roundRect">
            <a:avLst>
              <a:gd name="adj" fmla="val 15152"/>
            </a:avLst>
          </a:prstGeom>
          <a:solidFill>
            <a:schemeClr val="tx1"/>
          </a:solidFill>
          <a:ln w="12700">
            <a:solidFill>
              <a:srgbClr val="2B4A72"/>
            </a:solidFill>
            <a:prstDash val="solid"/>
          </a:ln>
        </p:spPr>
        <p:txBody>
          <a:bodyPr/>
          <a:p/>
        </p:txBody>
      </p:sp>
      <p:sp>
        <p:nvSpPr>
          <p:cNvPr id="24" name="Step number 1"/>
          <p:cNvSpPr/>
          <p:nvPr/>
        </p:nvSpPr>
        <p:spPr>
          <a:xfrm>
            <a:off x="5394960" y="676656"/>
            <a:ext cx="384048" cy="384048"/>
          </a:xfrm>
          <a:prstGeom prst="ellipse">
            <a:avLst/>
          </a:prstGeom>
          <a:solidFill>
            <a:schemeClr val="tx1"/>
          </a:solidFill>
          <a:ln w="15875">
            <a:solidFill>
              <a:srgbClr val="A3B1C8"/>
            </a:solidFill>
          </a:ln>
        </p:spPr>
        <p:txBody>
          <a:bodyPr wrap="square" lIns="0" tIns="0" rIns="0" bIns="0" rtlCol="0" anchor="ctr"/>
          <a:lstStyle/>
          <a:p>
            <a:pPr algn="ctr" indent="0" marL="0">
              <a:buNone/>
            </a:pPr>
            <a:r>
              <a:rPr lang="en-US" sz="105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01</a:t>
            </a:r>
            <a:endParaRPr lang="en-US" sz="1050" dirty="0"/>
          </a:p>
        </p:txBody>
      </p:sp>
      <p:sp>
        <p:nvSpPr>
          <p:cNvPr id="25" name="Text 23"/>
          <p:cNvSpPr txBox="1"/>
          <p:nvPr/>
        </p:nvSpPr>
        <p:spPr>
          <a:xfrm>
            <a:off x="6144768" y="630936"/>
            <a:ext cx="4096512" cy="274320"/>
          </a:xfrm>
          <a:prstGeom prst="rect">
            <a:avLst/>
          </a:prstGeom>
          <a:noFill/>
          <a:ln/>
        </p:spPr>
        <p:txBody>
          <a:bodyPr wrap="square" lIns="0" tIns="0" rIns="0" bIns="0" rtlCol="0" anchor="t"/>
          <a:lstStyle/>
          <a:p>
            <a:pPr indent="0" marL="0">
              <a:buNone/>
            </a:pPr>
            <a:r>
              <a:rPr lang="en-US" sz="1500" b="1" dirty="0">
                <a:solidFill>
                  <a:schemeClr val="bg1"/>
                </a:solidFill>
                <a:latin typeface="Inter" panose="02000503000000020004" pitchFamily="34" charset="0"/>
                <a:ea typeface="Inter" panose="02000503000000020004" pitchFamily="34" charset="-122"/>
                <a:cs typeface="Inter" panose="02000503000000020004" pitchFamily="34" charset="-120"/>
              </a:rPr>
              <a:t>Research question</a:t>
            </a:r>
            <a:endParaRPr lang="en-US" sz="1500" dirty="0"/>
          </a:p>
        </p:txBody>
      </p:sp>
      <p:sp>
        <p:nvSpPr>
          <p:cNvPr id="26" name="Text 24"/>
          <p:cNvSpPr txBox="1"/>
          <p:nvPr/>
        </p:nvSpPr>
        <p:spPr>
          <a:xfrm>
            <a:off x="6144768" y="905256"/>
            <a:ext cx="4114800" cy="219456"/>
          </a:xfrm>
          <a:prstGeom prst="rect">
            <a:avLst/>
          </a:prstGeom>
          <a:noFill/>
          <a:ln/>
        </p:spPr>
        <p:txBody>
          <a:bodyPr wrap="square" lIns="0" tIns="0" rIns="0" bIns="0" rtlCol="0" anchor="t"/>
          <a:lstStyle/>
          <a:p>
            <a:pPr indent="0" marL="0">
              <a:buNone/>
            </a:pPr>
            <a:r>
              <a:rPr lang="en-US" sz="1200" dirty="0">
                <a:solidFill>
                  <a:srgbClr val="A3B1C8"/>
                </a:solidFill>
                <a:latin typeface="Inter" panose="02000503000000020004" pitchFamily="34" charset="0"/>
                <a:ea typeface="Inter" panose="02000503000000020004" pitchFamily="34" charset="-122"/>
                <a:cs typeface="Inter" panose="02000503000000020004" pitchFamily="34" charset="-120"/>
              </a:rPr>
              <a:t>In the researcher’s own words</a:t>
            </a:r>
            <a:endParaRPr lang="en-US" sz="1200" dirty="0"/>
          </a:p>
        </p:txBody>
      </p:sp>
      <p:sp>
        <p:nvSpPr>
          <p:cNvPr id="27" name="Step 1 status"/>
          <p:cNvSpPr/>
          <p:nvPr/>
        </p:nvSpPr>
        <p:spPr>
          <a:xfrm>
            <a:off x="10332720" y="749808"/>
            <a:ext cx="1024128" cy="237744"/>
          </a:xfrm>
          <a:prstGeom prst="roundRect">
            <a:avLst>
              <a:gd name="adj" fmla="val 50000"/>
            </a:avLst>
          </a:prstGeom>
          <a:solidFill>
            <a:schemeClr val="accent3"/>
          </a:solidFill>
          <a:ln/>
        </p:spPr>
        <p:txBody>
          <a:bodyPr/>
          <a:p/>
        </p:txBody>
      </p:sp>
      <p:sp>
        <p:nvSpPr>
          <p:cNvPr id="28" name="Step 1 status text"/>
          <p:cNvSpPr txBox="1"/>
          <p:nvPr/>
        </p:nvSpPr>
        <p:spPr>
          <a:xfrm>
            <a:off x="10332720" y="749808"/>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29" name="Step 2"/>
          <p:cNvSpPr/>
          <p:nvPr/>
        </p:nvSpPr>
        <p:spPr>
          <a:xfrm>
            <a:off x="5943600" y="1298448"/>
            <a:ext cx="5559552" cy="603504"/>
          </a:xfrm>
          <a:prstGeom prst="roundRect">
            <a:avLst>
              <a:gd name="adj" fmla="val 15152"/>
            </a:avLst>
          </a:prstGeom>
          <a:solidFill>
            <a:schemeClr val="accent2"/>
          </a:solidFill>
          <a:ln/>
        </p:spPr>
        <p:txBody>
          <a:bodyPr/>
          <a:p/>
        </p:txBody>
      </p:sp>
      <p:sp>
        <p:nvSpPr>
          <p:cNvPr id="30" name="Step number 2"/>
          <p:cNvSpPr/>
          <p:nvPr/>
        </p:nvSpPr>
        <p:spPr>
          <a:xfrm>
            <a:off x="5394960" y="1408176"/>
            <a:ext cx="384048" cy="384048"/>
          </a:xfrm>
          <a:prstGeom prst="ellipse">
            <a:avLst/>
          </a:prstGeom>
          <a:solidFill>
            <a:schemeClr val="tx1"/>
          </a:solidFill>
          <a:ln w="15875">
            <a:solidFill>
              <a:srgbClr val="BDB3F6"/>
            </a:solidFill>
          </a:ln>
        </p:spPr>
        <p:txBody>
          <a:bodyPr wrap="square" lIns="0" tIns="0" rIns="0" bIns="0" rtlCol="0" anchor="ctr"/>
          <a:lstStyle/>
          <a:p>
            <a:pPr algn="ctr" indent="0" marL="0">
              <a:buNone/>
            </a:pPr>
            <a:r>
              <a:rPr lang="en-US" sz="105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02</a:t>
            </a:r>
            <a:endParaRPr lang="en-US" sz="1050" dirty="0"/>
          </a:p>
        </p:txBody>
      </p:sp>
      <p:sp>
        <p:nvSpPr>
          <p:cNvPr id="31" name="Text 29"/>
          <p:cNvSpPr txBox="1"/>
          <p:nvPr/>
        </p:nvSpPr>
        <p:spPr>
          <a:xfrm>
            <a:off x="6144768" y="1362456"/>
            <a:ext cx="4096512" cy="274320"/>
          </a:xfrm>
          <a:prstGeom prst="rect">
            <a:avLst/>
          </a:prstGeom>
          <a:noFill/>
          <a:ln/>
        </p:spPr>
        <p:txBody>
          <a:bodyPr wrap="square" lIns="0" tIns="0" rIns="0" bIns="0" rtlCol="0" anchor="t"/>
          <a:lstStyle/>
          <a:p>
            <a:pPr indent="0" marL="0">
              <a:buNone/>
            </a:pPr>
            <a:r>
              <a:rPr lang="en-US" sz="1500" b="1" dirty="0">
                <a:solidFill>
                  <a:schemeClr val="tx1"/>
                </a:solidFill>
                <a:latin typeface="Inter" panose="02000503000000020004" pitchFamily="34" charset="0"/>
                <a:ea typeface="Inter" panose="02000503000000020004" pitchFamily="34" charset="-122"/>
                <a:cs typeface="Inter" panose="02000503000000020004" pitchFamily="34" charset="-120"/>
              </a:rPr>
              <a:t>Interpretation</a:t>
            </a:r>
            <a:endParaRPr lang="en-US" sz="1500" dirty="0"/>
          </a:p>
        </p:txBody>
      </p:sp>
      <p:sp>
        <p:nvSpPr>
          <p:cNvPr id="32" name="Text 30"/>
          <p:cNvSpPr txBox="1"/>
          <p:nvPr/>
        </p:nvSpPr>
        <p:spPr>
          <a:xfrm>
            <a:off x="6144768" y="1636776"/>
            <a:ext cx="4114800" cy="219456"/>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Rule-based: patterns and medical dictionaries</a:t>
            </a:r>
            <a:endParaRPr lang="en-US" sz="1200" dirty="0"/>
          </a:p>
        </p:txBody>
      </p:sp>
      <p:sp>
        <p:nvSpPr>
          <p:cNvPr id="33" name="Step 2 status"/>
          <p:cNvSpPr/>
          <p:nvPr/>
        </p:nvSpPr>
        <p:spPr>
          <a:xfrm>
            <a:off x="10332720" y="1481328"/>
            <a:ext cx="1024128" cy="237744"/>
          </a:xfrm>
          <a:prstGeom prst="roundRect">
            <a:avLst>
              <a:gd name="adj" fmla="val 50000"/>
            </a:avLst>
          </a:prstGeom>
          <a:solidFill>
            <a:schemeClr val="accent3"/>
          </a:solidFill>
          <a:ln/>
        </p:spPr>
        <p:txBody>
          <a:bodyPr/>
          <a:p/>
        </p:txBody>
      </p:sp>
      <p:sp>
        <p:nvSpPr>
          <p:cNvPr id="34" name="Step 2 status text"/>
          <p:cNvSpPr txBox="1"/>
          <p:nvPr/>
        </p:nvSpPr>
        <p:spPr>
          <a:xfrm>
            <a:off x="10332720" y="1481328"/>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35" name="Step 3"/>
          <p:cNvSpPr/>
          <p:nvPr/>
        </p:nvSpPr>
        <p:spPr>
          <a:xfrm>
            <a:off x="5943600" y="2029968"/>
            <a:ext cx="5559552" cy="603504"/>
          </a:xfrm>
          <a:prstGeom prst="roundRect">
            <a:avLst>
              <a:gd name="adj" fmla="val 15152"/>
            </a:avLst>
          </a:prstGeom>
          <a:solidFill>
            <a:schemeClr val="tx2"/>
          </a:solidFill>
          <a:ln w="12700">
            <a:solidFill>
              <a:srgbClr val="BDB3F6"/>
            </a:solidFill>
            <a:prstDash val="solid"/>
          </a:ln>
        </p:spPr>
        <p:txBody>
          <a:bodyPr/>
          <a:p/>
        </p:txBody>
      </p:sp>
      <p:sp>
        <p:nvSpPr>
          <p:cNvPr id="36" name="Step number 3"/>
          <p:cNvSpPr/>
          <p:nvPr/>
        </p:nvSpPr>
        <p:spPr>
          <a:xfrm>
            <a:off x="5394960" y="2139696"/>
            <a:ext cx="384048" cy="384048"/>
          </a:xfrm>
          <a:prstGeom prst="ellipse">
            <a:avLst/>
          </a:prstGeom>
          <a:solidFill>
            <a:schemeClr val="tx1"/>
          </a:solidFill>
          <a:ln w="15875">
            <a:solidFill>
              <a:srgbClr val="A3B1C8"/>
            </a:solidFill>
          </a:ln>
        </p:spPr>
        <p:txBody>
          <a:bodyPr wrap="square" lIns="0" tIns="0" rIns="0" bIns="0" rtlCol="0" anchor="ctr"/>
          <a:lstStyle/>
          <a:p>
            <a:pPr algn="ctr" indent="0" marL="0">
              <a:buNone/>
            </a:pPr>
            <a:r>
              <a:rPr lang="en-US" sz="105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03</a:t>
            </a:r>
            <a:endParaRPr lang="en-US" sz="1050" dirty="0"/>
          </a:p>
        </p:txBody>
      </p:sp>
      <p:sp>
        <p:nvSpPr>
          <p:cNvPr id="37" name="Text 35"/>
          <p:cNvSpPr txBox="1"/>
          <p:nvPr/>
        </p:nvSpPr>
        <p:spPr>
          <a:xfrm>
            <a:off x="6144768" y="2093976"/>
            <a:ext cx="4096512" cy="274320"/>
          </a:xfrm>
          <a:prstGeom prst="rect">
            <a:avLst/>
          </a:prstGeom>
          <a:noFill/>
          <a:ln/>
        </p:spPr>
        <p:txBody>
          <a:bodyPr wrap="square" lIns="0" tIns="0" rIns="0" bIns="0" rtlCol="0" anchor="t"/>
          <a:lstStyle/>
          <a:p>
            <a:pPr indent="0" marL="0">
              <a:buNone/>
            </a:pPr>
            <a:r>
              <a:rPr lang="en-US" sz="1500" b="1" dirty="0">
                <a:solidFill>
                  <a:schemeClr val="bg1"/>
                </a:solidFill>
                <a:latin typeface="Inter" panose="02000503000000020004" pitchFamily="34" charset="0"/>
                <a:ea typeface="Inter" panose="02000503000000020004" pitchFamily="34" charset="-122"/>
                <a:cs typeface="Inter" panose="02000503000000020004" pitchFamily="34" charset="-120"/>
              </a:rPr>
              <a:t>Structured query</a:t>
            </a:r>
            <a:endParaRPr lang="en-US" sz="1500" dirty="0"/>
          </a:p>
        </p:txBody>
      </p:sp>
      <p:sp>
        <p:nvSpPr>
          <p:cNvPr id="38" name="Text 36"/>
          <p:cNvSpPr txBox="1"/>
          <p:nvPr/>
        </p:nvSpPr>
        <p:spPr>
          <a:xfrm>
            <a:off x="6144768" y="2368296"/>
            <a:ext cx="4114800" cy="219456"/>
          </a:xfrm>
          <a:prstGeom prst="rect">
            <a:avLst/>
          </a:prstGeom>
          <a:noFill/>
          <a:ln/>
        </p:spPr>
        <p:txBody>
          <a:bodyPr wrap="square" lIns="0" tIns="0" rIns="0" bIns="0" rtlCol="0" anchor="t"/>
          <a:lstStyle/>
          <a:p>
            <a:pPr indent="0" marL="0">
              <a:buNone/>
            </a:pPr>
            <a:r>
              <a:rPr lang="en-US" sz="1200" dirty="0">
                <a:solidFill>
                  <a:srgbClr val="A3B1C8"/>
                </a:solidFill>
                <a:latin typeface="Inter" panose="02000503000000020004" pitchFamily="34" charset="0"/>
                <a:ea typeface="Inter" panose="02000503000000020004" pitchFamily="34" charset="-122"/>
                <a:cs typeface="Inter" panose="02000503000000020004" pitchFamily="34" charset="-120"/>
              </a:rPr>
              <a:t>Shown back in plain language before it runs</a:t>
            </a:r>
            <a:endParaRPr lang="en-US" sz="1200" dirty="0"/>
          </a:p>
        </p:txBody>
      </p:sp>
      <p:sp>
        <p:nvSpPr>
          <p:cNvPr id="39" name="Step 3 status"/>
          <p:cNvSpPr/>
          <p:nvPr/>
        </p:nvSpPr>
        <p:spPr>
          <a:xfrm>
            <a:off x="10332720" y="2212848"/>
            <a:ext cx="1024128" cy="237744"/>
          </a:xfrm>
          <a:prstGeom prst="roundRect">
            <a:avLst>
              <a:gd name="adj" fmla="val 50000"/>
            </a:avLst>
          </a:prstGeom>
          <a:solidFill>
            <a:schemeClr val="accent3"/>
          </a:solidFill>
          <a:ln/>
        </p:spPr>
        <p:txBody>
          <a:bodyPr/>
          <a:p/>
        </p:txBody>
      </p:sp>
      <p:sp>
        <p:nvSpPr>
          <p:cNvPr id="40" name="Step 3 status text"/>
          <p:cNvSpPr txBox="1"/>
          <p:nvPr/>
        </p:nvSpPr>
        <p:spPr>
          <a:xfrm>
            <a:off x="10332720" y="2212848"/>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41" name="Step 4"/>
          <p:cNvSpPr/>
          <p:nvPr/>
        </p:nvSpPr>
        <p:spPr>
          <a:xfrm>
            <a:off x="5943600" y="2999232"/>
            <a:ext cx="5559552" cy="603504"/>
          </a:xfrm>
          <a:prstGeom prst="roundRect">
            <a:avLst>
              <a:gd name="adj" fmla="val 15152"/>
            </a:avLst>
          </a:prstGeom>
          <a:solidFill>
            <a:schemeClr val="accent3"/>
          </a:solidFill>
          <a:ln/>
        </p:spPr>
        <p:txBody>
          <a:bodyPr/>
          <a:p/>
        </p:txBody>
      </p:sp>
      <p:sp>
        <p:nvSpPr>
          <p:cNvPr id="42" name="Step number 4"/>
          <p:cNvSpPr/>
          <p:nvPr/>
        </p:nvSpPr>
        <p:spPr>
          <a:xfrm>
            <a:off x="5394960" y="3108960"/>
            <a:ext cx="384048" cy="384048"/>
          </a:xfrm>
          <a:prstGeom prst="ellipse">
            <a:avLst/>
          </a:prstGeom>
          <a:solidFill>
            <a:schemeClr val="tx1"/>
          </a:solidFill>
          <a:ln w="15875">
            <a:solidFill>
              <a:srgbClr val="BDB3F6"/>
            </a:solidFill>
          </a:ln>
        </p:spPr>
        <p:txBody>
          <a:bodyPr wrap="square" lIns="0" tIns="0" rIns="0" bIns="0" rtlCol="0" anchor="ctr"/>
          <a:lstStyle/>
          <a:p>
            <a:pPr algn="ctr" indent="0" marL="0">
              <a:buNone/>
            </a:pPr>
            <a:r>
              <a:rPr lang="en-US" sz="105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04</a:t>
            </a:r>
            <a:endParaRPr lang="en-US" sz="1050" dirty="0"/>
          </a:p>
        </p:txBody>
      </p:sp>
      <p:sp>
        <p:nvSpPr>
          <p:cNvPr id="43" name="Text 41"/>
          <p:cNvSpPr txBox="1"/>
          <p:nvPr/>
        </p:nvSpPr>
        <p:spPr>
          <a:xfrm>
            <a:off x="6144768" y="3063240"/>
            <a:ext cx="4096512" cy="274320"/>
          </a:xfrm>
          <a:prstGeom prst="rect">
            <a:avLst/>
          </a:prstGeom>
          <a:noFill/>
          <a:ln/>
        </p:spPr>
        <p:txBody>
          <a:bodyPr wrap="square" lIns="0" tIns="0" rIns="0" bIns="0" rtlCol="0" anchor="t"/>
          <a:lstStyle/>
          <a:p>
            <a:pPr indent="0" marL="0">
              <a:buNone/>
            </a:pPr>
            <a:r>
              <a:rPr lang="en-US" sz="1500" b="1" dirty="0">
                <a:solidFill>
                  <a:schemeClr val="tx1"/>
                </a:solidFill>
                <a:latin typeface="Inter" panose="02000503000000020004" pitchFamily="34" charset="0"/>
                <a:ea typeface="Inter" panose="02000503000000020004" pitchFamily="34" charset="-122"/>
                <a:cs typeface="Inter" panose="02000503000000020004" pitchFamily="34" charset="-120"/>
              </a:rPr>
              <a:t>Authorisation</a:t>
            </a:r>
            <a:endParaRPr lang="en-US" sz="1500" dirty="0"/>
          </a:p>
        </p:txBody>
      </p:sp>
      <p:sp>
        <p:nvSpPr>
          <p:cNvPr id="44" name="Text 42"/>
          <p:cNvSpPr txBox="1"/>
          <p:nvPr/>
        </p:nvSpPr>
        <p:spPr>
          <a:xfrm>
            <a:off x="6144768" y="3337560"/>
            <a:ext cx="4114800" cy="219456"/>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EHDS rules: Art. 53, 54, 66, 68, 69, 73</a:t>
            </a:r>
            <a:endParaRPr lang="en-US" sz="1200" dirty="0"/>
          </a:p>
        </p:txBody>
      </p:sp>
      <p:sp>
        <p:nvSpPr>
          <p:cNvPr id="45" name="Step 4 status"/>
          <p:cNvSpPr/>
          <p:nvPr/>
        </p:nvSpPr>
        <p:spPr>
          <a:xfrm>
            <a:off x="10332720" y="3182112"/>
            <a:ext cx="1024128" cy="237744"/>
          </a:xfrm>
          <a:prstGeom prst="roundRect">
            <a:avLst>
              <a:gd name="adj" fmla="val 50000"/>
            </a:avLst>
          </a:prstGeom>
          <a:solidFill>
            <a:schemeClr val="accent3"/>
          </a:solidFill>
          <a:ln/>
        </p:spPr>
        <p:txBody>
          <a:bodyPr/>
          <a:p/>
        </p:txBody>
      </p:sp>
      <p:sp>
        <p:nvSpPr>
          <p:cNvPr id="46" name="Step 4 status text"/>
          <p:cNvSpPr txBox="1"/>
          <p:nvPr/>
        </p:nvSpPr>
        <p:spPr>
          <a:xfrm>
            <a:off x="10332720" y="3182112"/>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47" name="Step 5"/>
          <p:cNvSpPr/>
          <p:nvPr/>
        </p:nvSpPr>
        <p:spPr>
          <a:xfrm>
            <a:off x="5943600" y="3730752"/>
            <a:ext cx="5559552" cy="603504"/>
          </a:xfrm>
          <a:prstGeom prst="roundRect">
            <a:avLst>
              <a:gd name="adj" fmla="val 15152"/>
            </a:avLst>
          </a:prstGeom>
          <a:solidFill>
            <a:schemeClr val="accent3"/>
          </a:solidFill>
          <a:ln/>
        </p:spPr>
        <p:txBody>
          <a:bodyPr/>
          <a:p/>
        </p:txBody>
      </p:sp>
      <p:sp>
        <p:nvSpPr>
          <p:cNvPr id="48" name="Step number 5"/>
          <p:cNvSpPr/>
          <p:nvPr/>
        </p:nvSpPr>
        <p:spPr>
          <a:xfrm>
            <a:off x="5394960" y="3840480"/>
            <a:ext cx="384048" cy="384048"/>
          </a:xfrm>
          <a:prstGeom prst="ellipse">
            <a:avLst/>
          </a:prstGeom>
          <a:solidFill>
            <a:schemeClr val="tx1"/>
          </a:solidFill>
          <a:ln w="15875">
            <a:solidFill>
              <a:srgbClr val="BDB3F6"/>
            </a:solidFill>
          </a:ln>
        </p:spPr>
        <p:txBody>
          <a:bodyPr wrap="square" lIns="0" tIns="0" rIns="0" bIns="0" rtlCol="0" anchor="ctr"/>
          <a:lstStyle/>
          <a:p>
            <a:pPr algn="ctr" indent="0" marL="0">
              <a:buNone/>
            </a:pPr>
            <a:r>
              <a:rPr lang="en-US" sz="105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05</a:t>
            </a:r>
            <a:endParaRPr lang="en-US" sz="1050" dirty="0"/>
          </a:p>
        </p:txBody>
      </p:sp>
      <p:sp>
        <p:nvSpPr>
          <p:cNvPr id="49" name="Text 47"/>
          <p:cNvSpPr txBox="1"/>
          <p:nvPr/>
        </p:nvSpPr>
        <p:spPr>
          <a:xfrm>
            <a:off x="6144768" y="3794760"/>
            <a:ext cx="4096512" cy="274320"/>
          </a:xfrm>
          <a:prstGeom prst="rect">
            <a:avLst/>
          </a:prstGeom>
          <a:noFill/>
          <a:ln/>
        </p:spPr>
        <p:txBody>
          <a:bodyPr wrap="square" lIns="0" tIns="0" rIns="0" bIns="0" rtlCol="0" anchor="t"/>
          <a:lstStyle/>
          <a:p>
            <a:pPr indent="0" marL="0">
              <a:buNone/>
            </a:pPr>
            <a:r>
              <a:rPr lang="en-US" sz="1500" b="1" dirty="0">
                <a:solidFill>
                  <a:schemeClr val="tx1"/>
                </a:solidFill>
                <a:latin typeface="Inter" panose="02000503000000020004" pitchFamily="34" charset="0"/>
                <a:ea typeface="Inter" panose="02000503000000020004" pitchFamily="34" charset="-122"/>
                <a:cs typeface="Inter" panose="02000503000000020004" pitchFamily="34" charset="-120"/>
              </a:rPr>
              <a:t>Computation</a:t>
            </a:r>
            <a:endParaRPr lang="en-US" sz="1500" dirty="0"/>
          </a:p>
        </p:txBody>
      </p:sp>
      <p:sp>
        <p:nvSpPr>
          <p:cNvPr id="50" name="Text 48"/>
          <p:cNvSpPr txBox="1"/>
          <p:nvPr/>
        </p:nvSpPr>
        <p:spPr>
          <a:xfrm>
            <a:off x="6144768" y="4069080"/>
            <a:ext cx="4114800" cy="219456"/>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Deterministic statistics, identical on every run</a:t>
            </a:r>
            <a:endParaRPr lang="en-US" sz="1200" dirty="0"/>
          </a:p>
        </p:txBody>
      </p:sp>
      <p:sp>
        <p:nvSpPr>
          <p:cNvPr id="51" name="Step 5 status"/>
          <p:cNvSpPr/>
          <p:nvPr/>
        </p:nvSpPr>
        <p:spPr>
          <a:xfrm>
            <a:off x="10332720" y="3913632"/>
            <a:ext cx="1024128" cy="237744"/>
          </a:xfrm>
          <a:prstGeom prst="roundRect">
            <a:avLst>
              <a:gd name="adj" fmla="val 50000"/>
            </a:avLst>
          </a:prstGeom>
          <a:solidFill>
            <a:schemeClr val="accent3"/>
          </a:solidFill>
          <a:ln/>
        </p:spPr>
        <p:txBody>
          <a:bodyPr/>
          <a:p/>
        </p:txBody>
      </p:sp>
      <p:sp>
        <p:nvSpPr>
          <p:cNvPr id="52" name="Step 5 status text"/>
          <p:cNvSpPr txBox="1"/>
          <p:nvPr/>
        </p:nvSpPr>
        <p:spPr>
          <a:xfrm>
            <a:off x="10332720" y="3913632"/>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53" name="Step 6"/>
          <p:cNvSpPr/>
          <p:nvPr/>
        </p:nvSpPr>
        <p:spPr>
          <a:xfrm>
            <a:off x="5943600" y="4462272"/>
            <a:ext cx="5559552" cy="603504"/>
          </a:xfrm>
          <a:prstGeom prst="roundRect">
            <a:avLst>
              <a:gd name="adj" fmla="val 15152"/>
            </a:avLst>
          </a:prstGeom>
          <a:solidFill>
            <a:schemeClr val="accent4"/>
          </a:solidFill>
          <a:ln/>
        </p:spPr>
        <p:txBody>
          <a:bodyPr/>
          <a:p/>
        </p:txBody>
      </p:sp>
      <p:sp>
        <p:nvSpPr>
          <p:cNvPr id="54" name="Step number 6"/>
          <p:cNvSpPr/>
          <p:nvPr/>
        </p:nvSpPr>
        <p:spPr>
          <a:xfrm>
            <a:off x="5394960" y="4572000"/>
            <a:ext cx="384048" cy="384048"/>
          </a:xfrm>
          <a:prstGeom prst="ellipse">
            <a:avLst/>
          </a:prstGeom>
          <a:solidFill>
            <a:schemeClr val="tx1"/>
          </a:solidFill>
          <a:ln w="15875">
            <a:solidFill>
              <a:srgbClr val="BDB3F6"/>
            </a:solidFill>
          </a:ln>
        </p:spPr>
        <p:txBody>
          <a:bodyPr wrap="square" lIns="0" tIns="0" rIns="0" bIns="0" rtlCol="0" anchor="ctr"/>
          <a:lstStyle/>
          <a:p>
            <a:pPr algn="ctr" indent="0" marL="0">
              <a:buNone/>
            </a:pPr>
            <a:r>
              <a:rPr lang="en-US" sz="105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06</a:t>
            </a:r>
            <a:endParaRPr lang="en-US" sz="1050" dirty="0"/>
          </a:p>
        </p:txBody>
      </p:sp>
      <p:sp>
        <p:nvSpPr>
          <p:cNvPr id="55" name="Text 53"/>
          <p:cNvSpPr txBox="1"/>
          <p:nvPr/>
        </p:nvSpPr>
        <p:spPr>
          <a:xfrm>
            <a:off x="6144768" y="4526280"/>
            <a:ext cx="4096512" cy="274320"/>
          </a:xfrm>
          <a:prstGeom prst="rect">
            <a:avLst/>
          </a:prstGeom>
          <a:noFill/>
          <a:ln/>
        </p:spPr>
        <p:txBody>
          <a:bodyPr wrap="square" lIns="0" tIns="0" rIns="0" bIns="0" rtlCol="0" anchor="t"/>
          <a:lstStyle/>
          <a:p>
            <a:pPr indent="0" marL="0">
              <a:buNone/>
            </a:pPr>
            <a:r>
              <a:rPr lang="en-US" sz="1500" b="1" dirty="0">
                <a:solidFill>
                  <a:schemeClr val="tx1"/>
                </a:solidFill>
                <a:latin typeface="Inter" panose="02000503000000020004" pitchFamily="34" charset="0"/>
                <a:ea typeface="Inter" panose="02000503000000020004" pitchFamily="34" charset="-122"/>
                <a:cs typeface="Inter" panose="02000503000000020004" pitchFamily="34" charset="-120"/>
              </a:rPr>
              <a:t>Privacy enforcement</a:t>
            </a:r>
            <a:endParaRPr lang="en-US" sz="1500" dirty="0"/>
          </a:p>
        </p:txBody>
      </p:sp>
      <p:sp>
        <p:nvSpPr>
          <p:cNvPr id="56" name="Text 54"/>
          <p:cNvSpPr txBox="1"/>
          <p:nvPr/>
        </p:nvSpPr>
        <p:spPr>
          <a:xfrm>
            <a:off x="6144768" y="4800600"/>
            <a:ext cx="4114800" cy="219456"/>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Small cells, opt-outs, disclosure ledger</a:t>
            </a:r>
            <a:endParaRPr lang="en-US" sz="1200" dirty="0"/>
          </a:p>
        </p:txBody>
      </p:sp>
      <p:sp>
        <p:nvSpPr>
          <p:cNvPr id="57" name="Step 6 status"/>
          <p:cNvSpPr/>
          <p:nvPr/>
        </p:nvSpPr>
        <p:spPr>
          <a:xfrm>
            <a:off x="10332720" y="4645152"/>
            <a:ext cx="1024128" cy="237744"/>
          </a:xfrm>
          <a:prstGeom prst="roundRect">
            <a:avLst>
              <a:gd name="adj" fmla="val 50000"/>
            </a:avLst>
          </a:prstGeom>
          <a:solidFill>
            <a:schemeClr val="accent3"/>
          </a:solidFill>
          <a:ln/>
        </p:spPr>
        <p:txBody>
          <a:bodyPr/>
          <a:p/>
        </p:txBody>
      </p:sp>
      <p:sp>
        <p:nvSpPr>
          <p:cNvPr id="58" name="Step 6 status text"/>
          <p:cNvSpPr txBox="1"/>
          <p:nvPr/>
        </p:nvSpPr>
        <p:spPr>
          <a:xfrm>
            <a:off x="10332720" y="4645152"/>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59" name="Step 7"/>
          <p:cNvSpPr/>
          <p:nvPr/>
        </p:nvSpPr>
        <p:spPr>
          <a:xfrm>
            <a:off x="5943600" y="5193792"/>
            <a:ext cx="5559552" cy="603504"/>
          </a:xfrm>
          <a:prstGeom prst="roundRect">
            <a:avLst>
              <a:gd name="adj" fmla="val 15152"/>
            </a:avLst>
          </a:prstGeom>
          <a:solidFill>
            <a:schemeClr val="bg1"/>
          </a:solidFill>
          <a:ln/>
        </p:spPr>
        <p:txBody>
          <a:bodyPr/>
          <a:p/>
        </p:txBody>
      </p:sp>
      <p:sp>
        <p:nvSpPr>
          <p:cNvPr id="60" name="Step number 7"/>
          <p:cNvSpPr/>
          <p:nvPr/>
        </p:nvSpPr>
        <p:spPr>
          <a:xfrm>
            <a:off x="5394960" y="5303520"/>
            <a:ext cx="384048" cy="384048"/>
          </a:xfrm>
          <a:prstGeom prst="ellipse">
            <a:avLst/>
          </a:prstGeom>
          <a:solidFill>
            <a:schemeClr val="tx1"/>
          </a:solidFill>
          <a:ln w="15875">
            <a:solidFill>
              <a:srgbClr val="BDB3F6"/>
            </a:solidFill>
          </a:ln>
        </p:spPr>
        <p:txBody>
          <a:bodyPr wrap="square" lIns="0" tIns="0" rIns="0" bIns="0" rtlCol="0" anchor="ctr"/>
          <a:lstStyle/>
          <a:p>
            <a:pPr algn="ctr" indent="0" marL="0">
              <a:buNone/>
            </a:pPr>
            <a:r>
              <a:rPr lang="en-US" sz="105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07</a:t>
            </a:r>
            <a:endParaRPr lang="en-US" sz="1050" dirty="0"/>
          </a:p>
        </p:txBody>
      </p:sp>
      <p:sp>
        <p:nvSpPr>
          <p:cNvPr id="61" name="Text 59"/>
          <p:cNvSpPr txBox="1"/>
          <p:nvPr/>
        </p:nvSpPr>
        <p:spPr>
          <a:xfrm>
            <a:off x="6144768" y="5257800"/>
            <a:ext cx="4096512" cy="274320"/>
          </a:xfrm>
          <a:prstGeom prst="rect">
            <a:avLst/>
          </a:prstGeom>
          <a:noFill/>
          <a:ln/>
        </p:spPr>
        <p:txBody>
          <a:bodyPr wrap="square" lIns="0" tIns="0" rIns="0" bIns="0" rtlCol="0" anchor="t"/>
          <a:lstStyle/>
          <a:p>
            <a:pPr indent="0" marL="0">
              <a:buNone/>
            </a:pPr>
            <a:r>
              <a:rPr lang="en-US" sz="1500" b="1" dirty="0">
                <a:solidFill>
                  <a:schemeClr val="tx1"/>
                </a:solidFill>
                <a:latin typeface="Inter" panose="02000503000000020004" pitchFamily="34" charset="0"/>
                <a:ea typeface="Inter" panose="02000503000000020004" pitchFamily="34" charset="-122"/>
                <a:cs typeface="Inter" panose="02000503000000020004" pitchFamily="34" charset="-120"/>
              </a:rPr>
              <a:t>Result with reasons</a:t>
            </a:r>
            <a:endParaRPr lang="en-US" sz="1500" dirty="0"/>
          </a:p>
        </p:txBody>
      </p:sp>
      <p:sp>
        <p:nvSpPr>
          <p:cNvPr id="62" name="Text 60"/>
          <p:cNvSpPr txBox="1"/>
          <p:nvPr/>
        </p:nvSpPr>
        <p:spPr>
          <a:xfrm>
            <a:off x="6144768" y="5532120"/>
            <a:ext cx="4114800" cy="219456"/>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Decision and cited articles for applicant and staff</a:t>
            </a:r>
            <a:endParaRPr lang="en-US" sz="1200" dirty="0"/>
          </a:p>
        </p:txBody>
      </p:sp>
      <p:sp>
        <p:nvSpPr>
          <p:cNvPr id="63" name="Step 7 status"/>
          <p:cNvSpPr/>
          <p:nvPr/>
        </p:nvSpPr>
        <p:spPr>
          <a:xfrm>
            <a:off x="10332720" y="5376672"/>
            <a:ext cx="1024128" cy="237744"/>
          </a:xfrm>
          <a:prstGeom prst="roundRect">
            <a:avLst>
              <a:gd name="adj" fmla="val 50000"/>
            </a:avLst>
          </a:prstGeom>
          <a:solidFill>
            <a:schemeClr val="accent3"/>
          </a:solidFill>
          <a:ln/>
        </p:spPr>
        <p:txBody>
          <a:bodyPr/>
          <a:p/>
        </p:txBody>
      </p:sp>
      <p:sp>
        <p:nvSpPr>
          <p:cNvPr id="64" name="Step 7 status text"/>
          <p:cNvSpPr txBox="1"/>
          <p:nvPr/>
        </p:nvSpPr>
        <p:spPr>
          <a:xfrm>
            <a:off x="10332720" y="5376672"/>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65" name="Boundary label"/>
          <p:cNvSpPr txBox="1"/>
          <p:nvPr/>
        </p:nvSpPr>
        <p:spPr>
          <a:xfrm>
            <a:off x="5248656" y="5902452"/>
            <a:ext cx="6345936" cy="237744"/>
          </a:xfrm>
          <a:prstGeom prst="rect">
            <a:avLst/>
          </a:prstGeom>
          <a:noFill/>
          <a:ln/>
        </p:spPr>
        <p:txBody>
          <a:bodyPr wrap="square" lIns="0" tIns="0" rIns="0" bIns="0" rtlCol="0" anchor="t"/>
          <a:lstStyle/>
          <a:p>
            <a:pPr algn="r" indent="0" marL="0">
              <a:buNone/>
            </a:pPr>
            <a:r>
              <a:rPr lang="en-US" sz="1000" spc="120" kern="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CONTROLLED ENVIRONMENT  ·  PATIENT-LEVEL DATA STAYS INSIDE</a:t>
            </a:r>
            <a:endParaRPr lang="en-US" sz="1000" dirty="0"/>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3B1C8"/>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17352" cy="274320"/>
          </a:xfrm>
          <a:prstGeom prst="rect">
            <a:avLst/>
          </a:prstGeom>
          <a:noFill/>
          <a:ln/>
        </p:spPr>
        <p:txBody>
          <a:bodyPr wrap="square" lIns="0" tIns="0" rIns="0" bIns="0" rtlCol="0" anchor="ctr"/>
          <a:lstStyle/>
          <a:p>
            <a:pPr indent="0" marL="0">
              <a:buNone/>
            </a:pPr>
            <a:r>
              <a:rPr lang="en-US" sz="1200" spc="200" kern="0" dirty="0">
                <a:solidFill>
                  <a:srgbClr val="BDB3F6"/>
                </a:solidFill>
                <a:latin typeface="IBM Plex Mono" panose="020B0509050203000203" pitchFamily="49" charset="0"/>
                <a:ea typeface="IBM Plex Mono" panose="020B0509050203000203" pitchFamily="49" charset="-122"/>
                <a:cs typeface="IBM Plex Mono" panose="020B0509050203000203" pitchFamily="49" charset="-120"/>
              </a:rPr>
              <a:t>THE VISION</a:t>
            </a:r>
            <a:endParaRPr lang="en-US" sz="1200" dirty="0"/>
          </a:p>
        </p:txBody>
      </p:sp>
      <p:sp>
        <p:nvSpPr>
          <p:cNvPr id="3" name="Text 0"/>
          <p:cNvSpPr/>
          <p:nvPr>
            <p:ph idx="101" type="title" hasCustomPrompt="1"/>
          </p:nvPr>
        </p:nvSpPr>
        <p:spPr>
          <a:xfrm>
            <a:off x="685800" y="1051560"/>
            <a:ext cx="10817352" cy="1783080"/>
          </a:xfrm>
          <a:prstGeom prst="rect">
            <a:avLst/>
          </a:prstGeom>
          <a:noFill/>
          <a:ln/>
        </p:spPr>
        <p:txBody>
          <a:bodyPr wrap="square" lIns="0" tIns="0" rIns="0" bIns="0" rtlCol="0" anchor="t"/>
          <a:lstStyle/>
          <a:p>
            <a:pPr algn="l" indent="0" marL="0">
              <a:lnSpc>
                <a:spcPct val="95000"/>
              </a:lnSpc>
              <a:buNone/>
            </a:pPr>
            <a:r>
              <a:rPr lang="en-US" sz="5000" dirty="0">
                <a:solidFill>
                  <a:srgbClr val="FAFAF8"/>
                </a:solidFill>
                <a:latin typeface="Instrument Serif" panose="02020603050405020304" pitchFamily="18" charset="0"/>
                <a:ea typeface="Instrument Serif" panose="02020603050405020304" pitchFamily="18" charset="-122"/>
                <a:cs typeface="Instrument Serif" panose="02020603050405020304" pitchFamily="18" charset="-120"/>
              </a:rPr>
              <a:t>Making health data accessible</a:t>
            </a:r>
            <a:endParaRPr lang="en-US" sz="5000" dirty="0"/>
          </a:p>
          <a:p>
            <a:pPr algn="l" indent="0" marL="0">
              <a:lnSpc>
                <a:spcPct val="95000"/>
              </a:lnSpc>
              <a:buNone/>
            </a:pPr>
            <a:r>
              <a:rPr lang="en-US" sz="5000" i="1" dirty="0">
                <a:solidFill>
                  <a:schemeClr val="accent1"/>
                </a:solidFill>
                <a:latin typeface="Instrument Serif" panose="02020603050405020304" pitchFamily="18" charset="0"/>
                <a:ea typeface="Instrument Serif" panose="02020603050405020304" pitchFamily="18" charset="-122"/>
                <a:cs typeface="Instrument Serif" panose="02020603050405020304" pitchFamily="18" charset="-120"/>
              </a:rPr>
              <a:t>without making patients identifiable.</a:t>
            </a:r>
            <a:endParaRPr lang="en-US" sz="5000" dirty="0"/>
          </a:p>
        </p:txBody>
      </p:sp>
      <p:sp>
        <p:nvSpPr>
          <p:cNvPr id="4" name="Impact label 1"/>
          <p:cNvSpPr txBox="1"/>
          <p:nvPr/>
        </p:nvSpPr>
        <p:spPr>
          <a:xfrm>
            <a:off x="685800" y="3200400"/>
            <a:ext cx="3429000" cy="256032"/>
          </a:xfrm>
          <a:prstGeom prst="rect">
            <a:avLst/>
          </a:prstGeom>
          <a:noFill/>
          <a:ln/>
        </p:spPr>
        <p:txBody>
          <a:bodyPr wrap="square" lIns="0" tIns="0" rIns="0" bIns="0" rtlCol="0" anchor="t"/>
          <a:lstStyle/>
          <a:p>
            <a:pPr indent="0" marL="0">
              <a:buNone/>
            </a:pPr>
            <a:r>
              <a:rPr lang="en-US" sz="1200" spc="200" kern="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FOR RESEARCHERS</a:t>
            </a:r>
            <a:endParaRPr lang="en-US" sz="1200" dirty="0"/>
          </a:p>
        </p:txBody>
      </p:sp>
      <p:sp>
        <p:nvSpPr>
          <p:cNvPr id="5" name="Impact text 1"/>
          <p:cNvSpPr txBox="1"/>
          <p:nvPr/>
        </p:nvSpPr>
        <p:spPr>
          <a:xfrm>
            <a:off x="685800" y="3529584"/>
            <a:ext cx="3429000" cy="822960"/>
          </a:xfrm>
          <a:prstGeom prst="rect">
            <a:avLst/>
          </a:prstGeom>
          <a:noFill/>
          <a:ln/>
        </p:spPr>
        <p:txBody>
          <a:bodyPr wrap="square" lIns="0" tIns="0" rIns="0" bIns="0" rtlCol="0" anchor="t"/>
          <a:lstStyle/>
          <a:p>
            <a:pPr indent="0" marL="0">
              <a:buNone/>
            </a:pPr>
            <a:r>
              <a:rPr lang="en-US" sz="1800" dirty="0">
                <a:solidFill>
                  <a:schemeClr val="bg1"/>
                </a:solidFill>
                <a:latin typeface="Inter" panose="02000503000000020004" pitchFamily="34" charset="0"/>
                <a:ea typeface="Inter" panose="02000503000000020004" pitchFamily="34" charset="-122"/>
                <a:cs typeface="Inter" panose="02000503000000020004" pitchFamily="34" charset="-120"/>
              </a:rPr>
              <a:t>Questions in their own words, answers they can trust.</a:t>
            </a:r>
            <a:endParaRPr lang="en-US" sz="1800" dirty="0"/>
          </a:p>
        </p:txBody>
      </p:sp>
      <p:sp>
        <p:nvSpPr>
          <p:cNvPr id="6" name="Impact label 2"/>
          <p:cNvSpPr txBox="1"/>
          <p:nvPr/>
        </p:nvSpPr>
        <p:spPr>
          <a:xfrm>
            <a:off x="4379976" y="3200400"/>
            <a:ext cx="3429000" cy="256032"/>
          </a:xfrm>
          <a:prstGeom prst="rect">
            <a:avLst/>
          </a:prstGeom>
          <a:noFill/>
          <a:ln/>
        </p:spPr>
        <p:txBody>
          <a:bodyPr wrap="square" lIns="0" tIns="0" rIns="0" bIns="0" rtlCol="0" anchor="t"/>
          <a:lstStyle/>
          <a:p>
            <a:pPr indent="0" marL="0">
              <a:buNone/>
            </a:pPr>
            <a:r>
              <a:rPr lang="en-US" sz="1200" spc="200" kern="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FOR ACCESS BODIES</a:t>
            </a:r>
            <a:endParaRPr lang="en-US" sz="1200" dirty="0"/>
          </a:p>
        </p:txBody>
      </p:sp>
      <p:sp>
        <p:nvSpPr>
          <p:cNvPr id="7" name="Impact text 2"/>
          <p:cNvSpPr txBox="1"/>
          <p:nvPr/>
        </p:nvSpPr>
        <p:spPr>
          <a:xfrm>
            <a:off x="4379976" y="3529584"/>
            <a:ext cx="3429000" cy="822960"/>
          </a:xfrm>
          <a:prstGeom prst="rect">
            <a:avLst/>
          </a:prstGeom>
          <a:noFill/>
          <a:ln/>
        </p:spPr>
        <p:txBody>
          <a:bodyPr wrap="square" lIns="0" tIns="0" rIns="0" bIns="0" rtlCol="0" anchor="t"/>
          <a:lstStyle/>
          <a:p>
            <a:pPr indent="0" marL="0">
              <a:buNone/>
            </a:pPr>
            <a:r>
              <a:rPr lang="en-US" sz="1800" dirty="0">
                <a:solidFill>
                  <a:schemeClr val="bg1"/>
                </a:solidFill>
                <a:latin typeface="Inter" panose="02000503000000020004" pitchFamily="34" charset="0"/>
                <a:ea typeface="Inter" panose="02000503000000020004" pitchFamily="34" charset="-122"/>
                <a:cs typeface="Inter" panose="02000503000000020004" pitchFamily="34" charset="-120"/>
              </a:rPr>
              <a:t>Consistent decisions, explained in plain language.</a:t>
            </a:r>
            <a:endParaRPr lang="en-US" sz="1800" dirty="0"/>
          </a:p>
        </p:txBody>
      </p:sp>
      <p:sp>
        <p:nvSpPr>
          <p:cNvPr id="8" name="Impact label 3"/>
          <p:cNvSpPr txBox="1"/>
          <p:nvPr/>
        </p:nvSpPr>
        <p:spPr>
          <a:xfrm>
            <a:off x="8074152" y="3200400"/>
            <a:ext cx="3429000" cy="256032"/>
          </a:xfrm>
          <a:prstGeom prst="rect">
            <a:avLst/>
          </a:prstGeom>
          <a:noFill/>
          <a:ln/>
        </p:spPr>
        <p:txBody>
          <a:bodyPr wrap="square" lIns="0" tIns="0" rIns="0" bIns="0" rtlCol="0" anchor="t"/>
          <a:lstStyle/>
          <a:p>
            <a:pPr indent="0" marL="0">
              <a:buNone/>
            </a:pPr>
            <a:r>
              <a:rPr lang="en-US" sz="1200" spc="200" kern="0" dirty="0">
                <a:solidFill>
                  <a:schemeClr val="accent1"/>
                </a:solidFill>
                <a:latin typeface="IBM Plex Mono" panose="020B0509050203000203" pitchFamily="49" charset="0"/>
                <a:ea typeface="IBM Plex Mono" panose="020B0509050203000203" pitchFamily="49" charset="-122"/>
                <a:cs typeface="IBM Plex Mono" panose="020B0509050203000203" pitchFamily="49" charset="-120"/>
              </a:rPr>
              <a:t>FOR PATIENTS</a:t>
            </a:r>
            <a:endParaRPr lang="en-US" sz="1200" dirty="0"/>
          </a:p>
        </p:txBody>
      </p:sp>
      <p:sp>
        <p:nvSpPr>
          <p:cNvPr id="9" name="Impact text 3"/>
          <p:cNvSpPr txBox="1"/>
          <p:nvPr/>
        </p:nvSpPr>
        <p:spPr>
          <a:xfrm>
            <a:off x="8074152" y="3529584"/>
            <a:ext cx="3429000" cy="822960"/>
          </a:xfrm>
          <a:prstGeom prst="rect">
            <a:avLst/>
          </a:prstGeom>
          <a:noFill/>
          <a:ln/>
        </p:spPr>
        <p:txBody>
          <a:bodyPr wrap="square" lIns="0" tIns="0" rIns="0" bIns="0" rtlCol="0" anchor="t"/>
          <a:lstStyle/>
          <a:p>
            <a:pPr indent="0" marL="0">
              <a:buNone/>
            </a:pPr>
            <a:r>
              <a:rPr lang="en-US" sz="1800" dirty="0">
                <a:solidFill>
                  <a:schemeClr val="bg1"/>
                </a:solidFill>
                <a:latin typeface="Inter" panose="02000503000000020004" pitchFamily="34" charset="0"/>
                <a:ea typeface="Inter" panose="02000503000000020004" pitchFamily="34" charset="-122"/>
                <a:cs typeface="Inter" panose="02000503000000020004" pitchFamily="34" charset="-120"/>
              </a:rPr>
              <a:t>Protection that looks across answers, not only at one.</a:t>
            </a:r>
            <a:endParaRPr lang="en-US" sz="1800" dirty="0"/>
          </a:p>
        </p:txBody>
      </p:sp>
      <p:sp>
        <p:nvSpPr>
          <p:cNvPr id="10" name="Tagline"/>
          <p:cNvSpPr txBox="1"/>
          <p:nvPr/>
        </p:nvSpPr>
        <p:spPr>
          <a:xfrm>
            <a:off x="685800" y="4709160"/>
            <a:ext cx="10817352" cy="960120"/>
          </a:xfrm>
          <a:prstGeom prst="rect">
            <a:avLst/>
          </a:prstGeom>
          <a:noFill/>
          <a:ln/>
        </p:spPr>
        <p:txBody>
          <a:bodyPr wrap="square" lIns="0" tIns="0" rIns="0" bIns="0" rtlCol="0" anchor="t"/>
          <a:lstStyle/>
          <a:p>
            <a:pPr indent="0" marL="0">
              <a:buNone/>
            </a:pPr>
            <a:r>
              <a:rPr lang="en-US" sz="2800" i="1" dirty="0">
                <a:solidFill>
                  <a:schemeClr val="bg1"/>
                </a:solidFill>
                <a:latin typeface="Instrument Serif" panose="02020603050405020304" pitchFamily="18" charset="0"/>
                <a:ea typeface="Instrument Serif" panose="02020603050405020304" pitchFamily="18" charset="-122"/>
                <a:cs typeface="Instrument Serif" panose="02020603050405020304" pitchFamily="18" charset="-120"/>
              </a:rPr>
              <a:t>A gateway that knows when to answer, when to ask, and when to say no.</a:t>
            </a:r>
            <a:endParaRPr lang="en-US" sz="2800" dirty="0"/>
          </a:p>
        </p:txBody>
      </p:sp>
      <p:sp>
        <p:nvSpPr>
          <p:cNvPr id="11" name="Sign-off"/>
          <p:cNvSpPr txBox="1"/>
          <p:nvPr/>
        </p:nvSpPr>
        <p:spPr>
          <a:xfrm>
            <a:off x="685800" y="6053328"/>
            <a:ext cx="10817352" cy="256032"/>
          </a:xfrm>
          <a:prstGeom prst="rect">
            <a:avLst/>
          </a:prstGeom>
          <a:noFill/>
          <a:ln/>
        </p:spPr>
        <p:txBody>
          <a:bodyPr wrap="square" lIns="0" tIns="0" rIns="0" bIns="0" rtlCol="0" anchor="t"/>
          <a:lstStyle/>
          <a:p>
            <a:pPr indent="0" marL="0">
              <a:buNone/>
            </a:pPr>
            <a:r>
              <a:rPr lang="en-US" sz="1050" spc="120" kern="0" dirty="0">
                <a:solidFill>
                  <a:srgbClr val="A3B1C8"/>
                </a:solidFill>
                <a:latin typeface="IBM Plex Mono" panose="020B0509050203000203" pitchFamily="49" charset="0"/>
                <a:ea typeface="IBM Plex Mono" panose="020B0509050203000203" pitchFamily="49" charset="-122"/>
                <a:cs typeface="IBM Plex Mono" panose="020B0509050203000203" pitchFamily="49" charset="-120"/>
              </a:rPr>
              <a:t>HEALTHCARE ROCKET  ·  AIM HEALTHCARE HACKATHON VIENNA 2026  ·  TRACK 3</a:t>
            </a:r>
            <a:endParaRPr lang="en-US" sz="10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685800" y="457200"/>
            <a:ext cx="10817352" cy="274320"/>
          </a:xfrm>
          <a:prstGeom prst="rect">
            <a:avLst/>
          </a:prstGeom>
          <a:noFill/>
          <a:ln/>
        </p:spPr>
        <p:txBody>
          <a:bodyPr wrap="square" lIns="0" tIns="0" rIns="0" bIns="0" rtlCol="0" anchor="ctr"/>
          <a:lstStyle/>
          <a:p>
            <a:pPr indent="0" marL="0">
              <a:buNone/>
            </a:pPr>
            <a:r>
              <a:rPr lang="en-US" sz="1200" spc="200" kern="0"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BACKUP 1  ·  SYSTEM ARCHITECTURE AND STATUS</a:t>
            </a:r>
            <a:endParaRPr lang="en-US" sz="1200" dirty="0"/>
          </a:p>
        </p:txBody>
      </p:sp>
      <p:sp>
        <p:nvSpPr>
          <p:cNvPr id="3" name="Text 2"/>
          <p:cNvSpPr/>
          <p:nvPr>
            <p:ph idx="103" type="title" hasCustomPrompt="1"/>
          </p:nvPr>
        </p:nvSpPr>
        <p:spPr>
          <a:xfrm>
            <a:off x="685800" y="749808"/>
            <a:ext cx="10817352" cy="685800"/>
          </a:xfrm>
          <a:prstGeom prst="rect">
            <a:avLst/>
          </a:prstGeom>
          <a:noFill/>
          <a:ln/>
        </p:spPr>
        <p:txBody>
          <a:bodyPr wrap="square" lIns="0" tIns="0" rIns="0" bIns="0" rtlCol="0" anchor="t"/>
          <a:lstStyle/>
          <a:p>
            <a:pPr algn="l" indent="0" marL="0">
              <a:buNone/>
            </a:pPr>
            <a:r>
              <a:rPr lang="en-US" sz="4000" dirty="0">
                <a:solidFill>
                  <a:srgbClr val="0E2848"/>
                </a:solidFill>
                <a:latin typeface="Instrument Serif" panose="02020603050405020304" pitchFamily="18" charset="0"/>
                <a:ea typeface="Instrument Serif" panose="02020603050405020304" pitchFamily="18" charset="-122"/>
                <a:cs typeface="Instrument Serif" panose="02020603050405020304" pitchFamily="18" charset="-120"/>
              </a:rPr>
              <a:t>How the gateway </a:t>
            </a:r>
            <a:r>
              <a:rPr lang="en-US" sz="4000" i="1" dirty="0">
                <a:solidFill>
                  <a:schemeClr val="accent6"/>
                </a:solidFill>
                <a:latin typeface="Instrument Serif" panose="02020603050405020304" pitchFamily="18" charset="0"/>
                <a:ea typeface="Instrument Serif" panose="02020603050405020304" pitchFamily="18" charset="-122"/>
                <a:cs typeface="Instrument Serif" panose="02020603050405020304" pitchFamily="18" charset="-120"/>
              </a:rPr>
              <a:t>is built</a:t>
            </a:r>
            <a:endParaRPr lang="en-US" sz="4000" dirty="0"/>
          </a:p>
        </p:txBody>
      </p:sp>
      <p:sp>
        <p:nvSpPr>
          <p:cNvPr id="4" name="Shape 2"/>
          <p:cNvSpPr/>
          <p:nvPr/>
        </p:nvSpPr>
        <p:spPr>
          <a:xfrm>
            <a:off x="7095744" y="1024128"/>
            <a:ext cx="155448" cy="155448"/>
          </a:xfrm>
          <a:prstGeom prst="ellipse">
            <a:avLst/>
          </a:prstGeom>
          <a:solidFill>
            <a:srgbClr val="1E6A55"/>
          </a:solidFill>
          <a:ln w="12700">
            <a:solidFill>
              <a:srgbClr val="1E6A55"/>
            </a:solidFill>
            <a:prstDash val="solid"/>
          </a:ln>
        </p:spPr>
        <p:txBody>
          <a:bodyPr/>
          <a:p/>
        </p:txBody>
      </p:sp>
      <p:sp>
        <p:nvSpPr>
          <p:cNvPr id="5" name="Text 3"/>
          <p:cNvSpPr txBox="1"/>
          <p:nvPr/>
        </p:nvSpPr>
        <p:spPr>
          <a:xfrm>
            <a:off x="7333488" y="969264"/>
            <a:ext cx="603504" cy="256032"/>
          </a:xfrm>
          <a:prstGeom prst="rect">
            <a:avLst/>
          </a:prstGeom>
          <a:noFill/>
          <a:ln/>
        </p:spPr>
        <p:txBody>
          <a:bodyPr wrap="square" lIns="0" tIns="0" rIns="0" bIns="0" rtlCol="0" anchor="ctr"/>
          <a:lstStyle/>
          <a:p>
            <a:pPr indent="0" marL="0">
              <a:buNone/>
            </a:pPr>
            <a:r>
              <a:rPr lang="en-US" sz="95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50" dirty="0"/>
          </a:p>
        </p:txBody>
      </p:sp>
      <p:sp>
        <p:nvSpPr>
          <p:cNvPr id="8" name="Shape 6"/>
          <p:cNvSpPr/>
          <p:nvPr/>
        </p:nvSpPr>
        <p:spPr>
          <a:xfrm>
            <a:off x="9610344" y="1024128"/>
            <a:ext cx="155448" cy="155448"/>
          </a:xfrm>
          <a:prstGeom prst="ellipse">
            <a:avLst/>
          </a:prstGeom>
          <a:solidFill>
            <a:srgbClr val="FFFFFF"/>
          </a:solidFill>
          <a:ln w="19050">
            <a:solidFill>
              <a:srgbClr val="BC3834"/>
            </a:solidFill>
            <a:prstDash val="sysDot"/>
          </a:ln>
        </p:spPr>
        <p:txBody>
          <a:bodyPr/>
          <a:p/>
        </p:txBody>
      </p:sp>
      <p:sp>
        <p:nvSpPr>
          <p:cNvPr id="9" name="Text 7"/>
          <p:cNvSpPr txBox="1"/>
          <p:nvPr/>
        </p:nvSpPr>
        <p:spPr>
          <a:xfrm>
            <a:off x="9848088" y="969264"/>
            <a:ext cx="603504" cy="256032"/>
          </a:xfrm>
          <a:prstGeom prst="rect">
            <a:avLst/>
          </a:prstGeom>
          <a:noFill/>
          <a:ln/>
        </p:spPr>
        <p:txBody>
          <a:bodyPr wrap="square" lIns="0" tIns="0" rIns="0" bIns="0" rtlCol="0" anchor="ctr"/>
          <a:lstStyle/>
          <a:p>
            <a:pPr indent="0" marL="0">
              <a:buNone/>
            </a:pPr>
            <a:r>
              <a:rPr lang="en-US" sz="950" b="1" spc="100" kern="0" dirty="0">
                <a:solidFill>
                  <a:srgbClr val="BC3834"/>
                </a:solidFill>
                <a:latin typeface="IBM Plex Mono" panose="020B0509050203000203" pitchFamily="49" charset="0"/>
                <a:ea typeface="IBM Plex Mono" panose="020B0509050203000203" pitchFamily="49" charset="-122"/>
                <a:cs typeface="IBM Plex Mono" panose="020B0509050203000203" pitchFamily="49" charset="-120"/>
              </a:rPr>
              <a:t>PLANNED</a:t>
            </a:r>
            <a:endParaRPr lang="en-US" sz="950" dirty="0"/>
          </a:p>
        </p:txBody>
      </p:sp>
      <p:sp>
        <p:nvSpPr>
          <p:cNvPr id="10" name="Shape 8"/>
          <p:cNvSpPr/>
          <p:nvPr/>
        </p:nvSpPr>
        <p:spPr>
          <a:xfrm>
            <a:off x="10744200" y="1024128"/>
            <a:ext cx="155448" cy="155448"/>
          </a:xfrm>
          <a:prstGeom prst="ellipse">
            <a:avLst/>
          </a:prstGeom>
          <a:solidFill>
            <a:srgbClr val="FFFFFF"/>
          </a:solidFill>
          <a:ln w="15875">
            <a:solidFill>
              <a:srgbClr val="5B6577"/>
            </a:solidFill>
            <a:prstDash val="dash"/>
          </a:ln>
        </p:spPr>
        <p:txBody>
          <a:bodyPr/>
          <a:p/>
        </p:txBody>
      </p:sp>
      <p:sp>
        <p:nvSpPr>
          <p:cNvPr id="11" name="Text 9"/>
          <p:cNvSpPr txBox="1"/>
          <p:nvPr/>
        </p:nvSpPr>
        <p:spPr>
          <a:xfrm>
            <a:off x="10981944" y="969264"/>
            <a:ext cx="521208" cy="256032"/>
          </a:xfrm>
          <a:prstGeom prst="rect">
            <a:avLst/>
          </a:prstGeom>
          <a:noFill/>
          <a:ln/>
        </p:spPr>
        <p:txBody>
          <a:bodyPr wrap="square" lIns="0" tIns="0" rIns="0" bIns="0" rtlCol="0" anchor="ctr"/>
          <a:lstStyle/>
          <a:p>
            <a:pPr indent="0" marL="0">
              <a:buNone/>
            </a:pPr>
            <a:r>
              <a:rPr lang="en-US" sz="950" b="1" spc="100" kern="0" dirty="0">
                <a:solidFill>
                  <a:srgbClr val="5B6577"/>
                </a:solidFill>
                <a:latin typeface="IBM Plex Mono" panose="020B0509050203000203" pitchFamily="49" charset="0"/>
                <a:ea typeface="IBM Plex Mono" panose="020B0509050203000203" pitchFamily="49" charset="-122"/>
                <a:cs typeface="IBM Plex Mono" panose="020B0509050203000203" pitchFamily="49" charset="-120"/>
              </a:rPr>
              <a:t>FUTURE</a:t>
            </a:r>
            <a:endParaRPr lang="en-US" sz="950" dirty="0"/>
          </a:p>
        </p:txBody>
      </p:sp>
      <p:sp>
        <p:nvSpPr>
          <p:cNvPr id="12" name="Zone 1"/>
          <p:cNvSpPr/>
          <p:nvPr/>
        </p:nvSpPr>
        <p:spPr>
          <a:xfrm>
            <a:off x="685800" y="1481328"/>
            <a:ext cx="3310128" cy="4572000"/>
          </a:xfrm>
          <a:prstGeom prst="roundRect">
            <a:avLst>
              <a:gd name="adj" fmla="val 3315"/>
            </a:avLst>
          </a:prstGeom>
          <a:solidFill>
            <a:schemeClr val="bg2"/>
          </a:solidFill>
          <a:ln/>
        </p:spPr>
        <p:txBody>
          <a:bodyPr/>
          <a:p/>
        </p:txBody>
      </p:sp>
      <p:sp>
        <p:nvSpPr>
          <p:cNvPr id="13" name="Text 11"/>
          <p:cNvSpPr txBox="1"/>
          <p:nvPr/>
        </p:nvSpPr>
        <p:spPr>
          <a:xfrm>
            <a:off x="914400" y="1664208"/>
            <a:ext cx="2898648"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APPLICANT SIDE</a:t>
            </a:r>
            <a:endParaRPr lang="en-US" sz="1050" dirty="0"/>
          </a:p>
        </p:txBody>
      </p:sp>
      <p:sp>
        <p:nvSpPr>
          <p:cNvPr id="14" name="Text 12"/>
          <p:cNvSpPr txBox="1"/>
          <p:nvPr/>
        </p:nvSpPr>
        <p:spPr>
          <a:xfrm>
            <a:off x="914400" y="1911096"/>
            <a:ext cx="2898648" cy="237744"/>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What researchers and staff see</a:t>
            </a:r>
            <a:endParaRPr lang="en-US" sz="1200" dirty="0"/>
          </a:p>
        </p:txBody>
      </p:sp>
      <p:sp>
        <p:nvSpPr>
          <p:cNvPr id="15" name="Shape 13"/>
          <p:cNvSpPr/>
          <p:nvPr/>
        </p:nvSpPr>
        <p:spPr>
          <a:xfrm>
            <a:off x="914400" y="2258568"/>
            <a:ext cx="2852928" cy="0"/>
          </a:xfrm>
          <a:prstGeom prst="line">
            <a:avLst/>
          </a:prstGeom>
          <a:noFill/>
          <a:ln w="12700">
            <a:solidFill>
              <a:srgbClr val="DDD9D1"/>
            </a:solidFill>
            <a:prstDash val="solid"/>
          </a:ln>
        </p:spPr>
        <p:txBody>
          <a:bodyPr/>
          <a:p/>
        </p:txBody>
      </p:sp>
      <p:sp>
        <p:nvSpPr>
          <p:cNvPr id="16" name="Shape 14"/>
          <p:cNvSpPr/>
          <p:nvPr/>
        </p:nvSpPr>
        <p:spPr>
          <a:xfrm>
            <a:off x="914400" y="2404872"/>
            <a:ext cx="155448" cy="155448"/>
          </a:xfrm>
          <a:prstGeom prst="ellipse">
            <a:avLst/>
          </a:prstGeom>
          <a:solidFill>
            <a:srgbClr val="1E6A55"/>
          </a:solidFill>
          <a:ln w="12700">
            <a:solidFill>
              <a:srgbClr val="1E6A55"/>
            </a:solidFill>
            <a:prstDash val="solid"/>
          </a:ln>
        </p:spPr>
        <p:txBody>
          <a:bodyPr/>
          <a:p/>
        </p:txBody>
      </p:sp>
      <p:sp>
        <p:nvSpPr>
          <p:cNvPr id="17" name="Text 15"/>
          <p:cNvSpPr txBox="1"/>
          <p:nvPr/>
        </p:nvSpPr>
        <p:spPr>
          <a:xfrm>
            <a:off x="1188720" y="2331720"/>
            <a:ext cx="2624328"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Plain-language entry</a:t>
            </a:r>
            <a:endParaRPr lang="en-US" sz="1400" dirty="0"/>
          </a:p>
        </p:txBody>
      </p:sp>
      <p:sp>
        <p:nvSpPr>
          <p:cNvPr id="18" name="Shape 16"/>
          <p:cNvSpPr/>
          <p:nvPr/>
        </p:nvSpPr>
        <p:spPr>
          <a:xfrm>
            <a:off x="914400" y="2715768"/>
            <a:ext cx="2852928" cy="0"/>
          </a:xfrm>
          <a:prstGeom prst="line">
            <a:avLst/>
          </a:prstGeom>
          <a:noFill/>
          <a:ln w="12700">
            <a:solidFill>
              <a:srgbClr val="DDD9D1"/>
            </a:solidFill>
            <a:prstDash val="solid"/>
          </a:ln>
        </p:spPr>
        <p:txBody>
          <a:bodyPr/>
          <a:p/>
        </p:txBody>
      </p:sp>
      <p:sp>
        <p:nvSpPr>
          <p:cNvPr id="19" name="Shape 17"/>
          <p:cNvSpPr/>
          <p:nvPr/>
        </p:nvSpPr>
        <p:spPr>
          <a:xfrm>
            <a:off x="914400" y="2862072"/>
            <a:ext cx="155448" cy="155448"/>
          </a:xfrm>
          <a:prstGeom prst="ellipse">
            <a:avLst/>
          </a:prstGeom>
          <a:solidFill>
            <a:srgbClr val="1E6A55"/>
          </a:solidFill>
          <a:ln w="12700">
            <a:solidFill>
              <a:srgbClr val="1E6A55"/>
            </a:solidFill>
            <a:prstDash val="solid"/>
          </a:ln>
        </p:spPr>
        <p:txBody>
          <a:bodyPr/>
          <a:p/>
        </p:txBody>
      </p:sp>
      <p:sp>
        <p:nvSpPr>
          <p:cNvPr id="20" name="Text 18"/>
          <p:cNvSpPr txBox="1"/>
          <p:nvPr/>
        </p:nvSpPr>
        <p:spPr>
          <a:xfrm>
            <a:off x="1188720" y="2788920"/>
            <a:ext cx="2624328"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Guided request builder</a:t>
            </a:r>
            <a:endParaRPr lang="en-US" sz="1400" dirty="0"/>
          </a:p>
        </p:txBody>
      </p:sp>
      <p:sp>
        <p:nvSpPr>
          <p:cNvPr id="21" name="Shape 19"/>
          <p:cNvSpPr/>
          <p:nvPr/>
        </p:nvSpPr>
        <p:spPr>
          <a:xfrm>
            <a:off x="914400" y="3172968"/>
            <a:ext cx="2852928" cy="0"/>
          </a:xfrm>
          <a:prstGeom prst="line">
            <a:avLst/>
          </a:prstGeom>
          <a:noFill/>
          <a:ln w="12700">
            <a:solidFill>
              <a:srgbClr val="DDD9D1"/>
            </a:solidFill>
            <a:prstDash val="solid"/>
          </a:ln>
        </p:spPr>
        <p:txBody>
          <a:bodyPr/>
          <a:p/>
        </p:txBody>
      </p:sp>
      <p:sp>
        <p:nvSpPr>
          <p:cNvPr id="22" name="Shape 20"/>
          <p:cNvSpPr/>
          <p:nvPr/>
        </p:nvSpPr>
        <p:spPr>
          <a:xfrm>
            <a:off x="914400" y="3319272"/>
            <a:ext cx="155448" cy="155448"/>
          </a:xfrm>
          <a:prstGeom prst="ellipse">
            <a:avLst/>
          </a:prstGeom>
          <a:solidFill>
            <a:srgbClr val="1E6A55"/>
          </a:solidFill>
          <a:ln w="12700">
            <a:solidFill>
              <a:srgbClr val="1E6A55"/>
            </a:solidFill>
            <a:prstDash val="solid"/>
          </a:ln>
        </p:spPr>
        <p:txBody>
          <a:bodyPr/>
          <a:p/>
        </p:txBody>
      </p:sp>
      <p:sp>
        <p:nvSpPr>
          <p:cNvPr id="23" name="Text 21"/>
          <p:cNvSpPr txBox="1"/>
          <p:nvPr/>
        </p:nvSpPr>
        <p:spPr>
          <a:xfrm>
            <a:off x="1188720" y="3246120"/>
            <a:ext cx="2624328"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Advanced options, JSON</a:t>
            </a:r>
            <a:endParaRPr lang="en-US" sz="1400" dirty="0"/>
          </a:p>
        </p:txBody>
      </p:sp>
      <p:sp>
        <p:nvSpPr>
          <p:cNvPr id="24" name="Shape 22"/>
          <p:cNvSpPr/>
          <p:nvPr/>
        </p:nvSpPr>
        <p:spPr>
          <a:xfrm>
            <a:off x="914400" y="3630168"/>
            <a:ext cx="2852928" cy="0"/>
          </a:xfrm>
          <a:prstGeom prst="line">
            <a:avLst/>
          </a:prstGeom>
          <a:noFill/>
          <a:ln w="12700">
            <a:solidFill>
              <a:srgbClr val="DDD9D1"/>
            </a:solidFill>
            <a:prstDash val="solid"/>
          </a:ln>
        </p:spPr>
        <p:txBody>
          <a:bodyPr/>
          <a:p/>
        </p:txBody>
      </p:sp>
      <p:sp>
        <p:nvSpPr>
          <p:cNvPr id="25" name="Shape 23"/>
          <p:cNvSpPr/>
          <p:nvPr/>
        </p:nvSpPr>
        <p:spPr>
          <a:xfrm>
            <a:off x="914400" y="3776472"/>
            <a:ext cx="155448" cy="155448"/>
          </a:xfrm>
          <a:prstGeom prst="ellipse">
            <a:avLst/>
          </a:prstGeom>
          <a:solidFill>
            <a:srgbClr val="1E6A55"/>
          </a:solidFill>
          <a:ln w="12700">
            <a:solidFill>
              <a:srgbClr val="1E6A55"/>
            </a:solidFill>
            <a:prstDash val="solid"/>
          </a:ln>
        </p:spPr>
        <p:txBody>
          <a:bodyPr/>
          <a:p/>
        </p:txBody>
      </p:sp>
      <p:sp>
        <p:nvSpPr>
          <p:cNvPr id="26" name="Text 24"/>
          <p:cNvSpPr txBox="1"/>
          <p:nvPr/>
        </p:nvSpPr>
        <p:spPr>
          <a:xfrm>
            <a:off x="1188720" y="3703320"/>
            <a:ext cx="2624328"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Applicant and purpose form</a:t>
            </a:r>
            <a:endParaRPr lang="en-US" sz="1400" dirty="0"/>
          </a:p>
        </p:txBody>
      </p:sp>
      <p:sp>
        <p:nvSpPr>
          <p:cNvPr id="27" name="Shape 25"/>
          <p:cNvSpPr/>
          <p:nvPr/>
        </p:nvSpPr>
        <p:spPr>
          <a:xfrm>
            <a:off x="914400" y="4087368"/>
            <a:ext cx="2852928" cy="0"/>
          </a:xfrm>
          <a:prstGeom prst="line">
            <a:avLst/>
          </a:prstGeom>
          <a:noFill/>
          <a:ln w="12700">
            <a:solidFill>
              <a:srgbClr val="DDD9D1"/>
            </a:solidFill>
            <a:prstDash val="solid"/>
          </a:ln>
        </p:spPr>
        <p:txBody>
          <a:bodyPr/>
          <a:p/>
        </p:txBody>
      </p:sp>
      <p:sp>
        <p:nvSpPr>
          <p:cNvPr id="28" name="Shape 26"/>
          <p:cNvSpPr/>
          <p:nvPr/>
        </p:nvSpPr>
        <p:spPr>
          <a:xfrm>
            <a:off x="914400" y="4233672"/>
            <a:ext cx="155448" cy="155448"/>
          </a:xfrm>
          <a:prstGeom prst="ellipse">
            <a:avLst/>
          </a:prstGeom>
          <a:solidFill>
            <a:srgbClr val="1E6A55"/>
          </a:solidFill>
          <a:ln w="12700">
            <a:solidFill>
              <a:srgbClr val="1E6A55"/>
            </a:solidFill>
            <a:prstDash val="solid"/>
          </a:ln>
        </p:spPr>
        <p:txBody>
          <a:bodyPr/>
          <a:p/>
        </p:txBody>
      </p:sp>
      <p:sp>
        <p:nvSpPr>
          <p:cNvPr id="29" name="Text 27"/>
          <p:cNvSpPr txBox="1"/>
          <p:nvPr/>
        </p:nvSpPr>
        <p:spPr>
          <a:xfrm>
            <a:off x="1188720" y="4160520"/>
            <a:ext cx="2624328"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Plain-language summary</a:t>
            </a:r>
            <a:endParaRPr lang="en-US" sz="1400" dirty="0"/>
          </a:p>
        </p:txBody>
      </p:sp>
      <p:sp>
        <p:nvSpPr>
          <p:cNvPr id="30" name="Shape 28"/>
          <p:cNvSpPr/>
          <p:nvPr/>
        </p:nvSpPr>
        <p:spPr>
          <a:xfrm>
            <a:off x="914400" y="4544568"/>
            <a:ext cx="2852928" cy="0"/>
          </a:xfrm>
          <a:prstGeom prst="line">
            <a:avLst/>
          </a:prstGeom>
          <a:noFill/>
          <a:ln w="12700">
            <a:solidFill>
              <a:srgbClr val="DDD9D1"/>
            </a:solidFill>
            <a:prstDash val="solid"/>
          </a:ln>
        </p:spPr>
        <p:txBody>
          <a:bodyPr/>
          <a:p/>
        </p:txBody>
      </p:sp>
      <p:sp>
        <p:nvSpPr>
          <p:cNvPr id="31" name="Shape 29"/>
          <p:cNvSpPr/>
          <p:nvPr/>
        </p:nvSpPr>
        <p:spPr>
          <a:xfrm>
            <a:off x="914400" y="4690872"/>
            <a:ext cx="155448" cy="155448"/>
          </a:xfrm>
          <a:prstGeom prst="ellipse">
            <a:avLst/>
          </a:prstGeom>
          <a:solidFill>
            <a:srgbClr val="1E6A55"/>
          </a:solidFill>
          <a:ln w="12700">
            <a:solidFill>
              <a:srgbClr val="1E6A55"/>
            </a:solidFill>
            <a:prstDash val="solid"/>
          </a:ln>
        </p:spPr>
        <p:txBody>
          <a:bodyPr/>
          <a:p/>
        </p:txBody>
      </p:sp>
      <p:sp>
        <p:nvSpPr>
          <p:cNvPr id="32" name="Text 30"/>
          <p:cNvSpPr txBox="1"/>
          <p:nvPr/>
        </p:nvSpPr>
        <p:spPr>
          <a:xfrm>
            <a:off x="1188720" y="4617720"/>
            <a:ext cx="2624328"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Decision with reasons</a:t>
            </a:r>
            <a:endParaRPr lang="en-US" sz="1400" dirty="0"/>
          </a:p>
        </p:txBody>
      </p:sp>
      <p:sp>
        <p:nvSpPr>
          <p:cNvPr id="33" name="Zone 2"/>
          <p:cNvSpPr/>
          <p:nvPr/>
        </p:nvSpPr>
        <p:spPr>
          <a:xfrm>
            <a:off x="4206240" y="1481328"/>
            <a:ext cx="3310128" cy="4572000"/>
          </a:xfrm>
          <a:prstGeom prst="roundRect">
            <a:avLst>
              <a:gd name="adj" fmla="val 3315"/>
            </a:avLst>
          </a:prstGeom>
          <a:solidFill>
            <a:schemeClr val="accent2"/>
          </a:solidFill>
          <a:ln/>
        </p:spPr>
        <p:txBody>
          <a:bodyPr/>
          <a:p/>
        </p:txBody>
      </p:sp>
      <p:sp>
        <p:nvSpPr>
          <p:cNvPr id="34" name="Text 32"/>
          <p:cNvSpPr txBox="1"/>
          <p:nvPr/>
        </p:nvSpPr>
        <p:spPr>
          <a:xfrm>
            <a:off x="4434840" y="1664208"/>
            <a:ext cx="2898648"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INTERPRETATION</a:t>
            </a:r>
            <a:endParaRPr lang="en-US" sz="1050" dirty="0"/>
          </a:p>
        </p:txBody>
      </p:sp>
      <p:sp>
        <p:nvSpPr>
          <p:cNvPr id="35" name="Text 33"/>
          <p:cNvSpPr txBox="1"/>
          <p:nvPr/>
        </p:nvSpPr>
        <p:spPr>
          <a:xfrm>
            <a:off x="4434840" y="1911096"/>
            <a:ext cx="2898648" cy="237744"/>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Question text only, no patient data</a:t>
            </a:r>
            <a:endParaRPr lang="en-US" sz="1200" dirty="0"/>
          </a:p>
        </p:txBody>
      </p:sp>
      <p:sp>
        <p:nvSpPr>
          <p:cNvPr id="36" name="Shape 34"/>
          <p:cNvSpPr/>
          <p:nvPr/>
        </p:nvSpPr>
        <p:spPr>
          <a:xfrm>
            <a:off x="4434840" y="2258568"/>
            <a:ext cx="2852928" cy="0"/>
          </a:xfrm>
          <a:prstGeom prst="line">
            <a:avLst/>
          </a:prstGeom>
          <a:noFill/>
          <a:ln w="12700">
            <a:solidFill>
              <a:srgbClr val="D6CFF0"/>
            </a:solidFill>
            <a:prstDash val="solid"/>
          </a:ln>
        </p:spPr>
        <p:txBody>
          <a:bodyPr/>
          <a:p/>
        </p:txBody>
      </p:sp>
      <p:sp>
        <p:nvSpPr>
          <p:cNvPr id="37" name="Shape 35"/>
          <p:cNvSpPr/>
          <p:nvPr/>
        </p:nvSpPr>
        <p:spPr>
          <a:xfrm>
            <a:off x="4434840" y="2404872"/>
            <a:ext cx="155448" cy="155448"/>
          </a:xfrm>
          <a:prstGeom prst="ellipse">
            <a:avLst/>
          </a:prstGeom>
          <a:solidFill>
            <a:srgbClr val="1E6A55"/>
          </a:solidFill>
          <a:ln w="12700">
            <a:solidFill>
              <a:srgbClr val="1E6A55"/>
            </a:solidFill>
            <a:prstDash val="solid"/>
          </a:ln>
        </p:spPr>
        <p:txBody>
          <a:bodyPr/>
          <a:p/>
        </p:txBody>
      </p:sp>
      <p:sp>
        <p:nvSpPr>
          <p:cNvPr id="38" name="Text 36"/>
          <p:cNvSpPr txBox="1"/>
          <p:nvPr/>
        </p:nvSpPr>
        <p:spPr>
          <a:xfrm>
            <a:off x="4709160" y="2331720"/>
            <a:ext cx="2624328"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Rule-based interpreter</a:t>
            </a:r>
            <a:endParaRPr lang="en-US" sz="1400" dirty="0"/>
          </a:p>
        </p:txBody>
      </p:sp>
      <p:sp>
        <p:nvSpPr>
          <p:cNvPr id="39" name="Shape 37"/>
          <p:cNvSpPr/>
          <p:nvPr/>
        </p:nvSpPr>
        <p:spPr>
          <a:xfrm>
            <a:off x="4434840" y="2715768"/>
            <a:ext cx="2852928" cy="0"/>
          </a:xfrm>
          <a:prstGeom prst="line">
            <a:avLst/>
          </a:prstGeom>
          <a:noFill/>
          <a:ln w="12700">
            <a:solidFill>
              <a:srgbClr val="D6CFF0"/>
            </a:solidFill>
            <a:prstDash val="solid"/>
          </a:ln>
        </p:spPr>
        <p:txBody>
          <a:bodyPr/>
          <a:p/>
        </p:txBody>
      </p:sp>
      <p:sp>
        <p:nvSpPr>
          <p:cNvPr id="40" name="Shape 38"/>
          <p:cNvSpPr/>
          <p:nvPr/>
        </p:nvSpPr>
        <p:spPr>
          <a:xfrm>
            <a:off x="4434840" y="2862072"/>
            <a:ext cx="155448" cy="155448"/>
          </a:xfrm>
          <a:prstGeom prst="ellipse">
            <a:avLst/>
          </a:prstGeom>
          <a:solidFill>
            <a:srgbClr val="1E6A55"/>
          </a:solidFill>
          <a:ln w="12700">
            <a:solidFill>
              <a:srgbClr val="1E6A55"/>
            </a:solidFill>
            <a:prstDash val="solid"/>
          </a:ln>
        </p:spPr>
        <p:txBody>
          <a:bodyPr/>
          <a:p/>
        </p:txBody>
      </p:sp>
      <p:sp>
        <p:nvSpPr>
          <p:cNvPr id="41" name="Text 39"/>
          <p:cNvSpPr txBox="1"/>
          <p:nvPr/>
        </p:nvSpPr>
        <p:spPr>
          <a:xfrm>
            <a:off x="4709160" y="2788920"/>
            <a:ext cx="2624328"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Medical dictionaries</a:t>
            </a:r>
            <a:endParaRPr lang="en-US" sz="1400" dirty="0"/>
          </a:p>
        </p:txBody>
      </p:sp>
      <p:sp>
        <p:nvSpPr>
          <p:cNvPr id="42" name="Shape 40"/>
          <p:cNvSpPr/>
          <p:nvPr/>
        </p:nvSpPr>
        <p:spPr>
          <a:xfrm>
            <a:off x="4434840" y="3172968"/>
            <a:ext cx="2852928" cy="0"/>
          </a:xfrm>
          <a:prstGeom prst="line">
            <a:avLst/>
          </a:prstGeom>
          <a:noFill/>
          <a:ln w="12700">
            <a:solidFill>
              <a:srgbClr val="D6CFF0"/>
            </a:solidFill>
            <a:prstDash val="solid"/>
          </a:ln>
        </p:spPr>
        <p:txBody>
          <a:bodyPr/>
          <a:p/>
        </p:txBody>
      </p:sp>
      <p:sp>
        <p:nvSpPr>
          <p:cNvPr id="43" name="Shape 41"/>
          <p:cNvSpPr/>
          <p:nvPr/>
        </p:nvSpPr>
        <p:spPr>
          <a:xfrm>
            <a:off x="4434840" y="3319272"/>
            <a:ext cx="155448" cy="155448"/>
          </a:xfrm>
          <a:prstGeom prst="ellipse">
            <a:avLst/>
          </a:prstGeom>
          <a:solidFill>
            <a:srgbClr val="1E6A55"/>
          </a:solidFill>
          <a:ln w="12700">
            <a:solidFill>
              <a:srgbClr val="1E6A55"/>
            </a:solidFill>
            <a:prstDash val="solid"/>
          </a:ln>
        </p:spPr>
        <p:txBody>
          <a:bodyPr/>
          <a:p/>
        </p:txBody>
      </p:sp>
      <p:sp>
        <p:nvSpPr>
          <p:cNvPr id="44" name="Text 42"/>
          <p:cNvSpPr txBox="1"/>
          <p:nvPr/>
        </p:nvSpPr>
        <p:spPr>
          <a:xfrm>
            <a:off x="4709160" y="3246120"/>
            <a:ext cx="2624328"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Clarifying questions</a:t>
            </a:r>
            <a:endParaRPr lang="en-US" sz="1400" dirty="0"/>
          </a:p>
        </p:txBody>
      </p:sp>
      <p:sp>
        <p:nvSpPr>
          <p:cNvPr id="45" name="Shape 43"/>
          <p:cNvSpPr/>
          <p:nvPr/>
        </p:nvSpPr>
        <p:spPr>
          <a:xfrm>
            <a:off x="4434840" y="3630168"/>
            <a:ext cx="2852928" cy="0"/>
          </a:xfrm>
          <a:prstGeom prst="line">
            <a:avLst/>
          </a:prstGeom>
          <a:noFill/>
          <a:ln w="12700">
            <a:solidFill>
              <a:srgbClr val="D6CFF0"/>
            </a:solidFill>
            <a:prstDash val="solid"/>
          </a:ln>
        </p:spPr>
        <p:txBody>
          <a:bodyPr/>
          <a:p/>
        </p:txBody>
      </p:sp>
      <p:sp>
        <p:nvSpPr>
          <p:cNvPr id="46" name="Shape 44"/>
          <p:cNvSpPr/>
          <p:nvPr/>
        </p:nvSpPr>
        <p:spPr>
          <a:xfrm>
            <a:off x="4434840" y="3776472"/>
            <a:ext cx="155448" cy="155448"/>
          </a:xfrm>
          <a:prstGeom prst="ellipse">
            <a:avLst/>
          </a:prstGeom>
          <a:solidFill>
            <a:srgbClr val="FFFFFF"/>
          </a:solidFill>
          <a:ln w="15875">
            <a:solidFill>
              <a:srgbClr val="5B6577"/>
            </a:solidFill>
            <a:prstDash val="dash"/>
          </a:ln>
        </p:spPr>
        <p:txBody>
          <a:bodyPr/>
          <a:p/>
        </p:txBody>
      </p:sp>
      <p:sp>
        <p:nvSpPr>
          <p:cNvPr id="47" name="Text 45"/>
          <p:cNvSpPr txBox="1"/>
          <p:nvPr/>
        </p:nvSpPr>
        <p:spPr>
          <a:xfrm>
            <a:off x="4709160" y="3703320"/>
            <a:ext cx="2624328"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AI model adapters (future, untested)</a:t>
            </a:r>
            <a:endParaRPr lang="en-US" sz="1400" dirty="0"/>
          </a:p>
        </p:txBody>
      </p:sp>
      <p:sp>
        <p:nvSpPr>
          <p:cNvPr id="48" name="Zone 3"/>
          <p:cNvSpPr/>
          <p:nvPr/>
        </p:nvSpPr>
        <p:spPr>
          <a:xfrm>
            <a:off x="7726680" y="1481328"/>
            <a:ext cx="3776472" cy="4572000"/>
          </a:xfrm>
          <a:prstGeom prst="roundRect">
            <a:avLst>
              <a:gd name="adj" fmla="val 2906"/>
            </a:avLst>
          </a:prstGeom>
          <a:solidFill>
            <a:schemeClr val="accent3"/>
          </a:solidFill>
          <a:ln/>
        </p:spPr>
        <p:txBody>
          <a:bodyPr/>
          <a:p/>
        </p:txBody>
      </p:sp>
      <p:sp>
        <p:nvSpPr>
          <p:cNvPr id="49" name="Text 47"/>
          <p:cNvSpPr txBox="1"/>
          <p:nvPr/>
        </p:nvSpPr>
        <p:spPr>
          <a:xfrm>
            <a:off x="7955280" y="1664208"/>
            <a:ext cx="3364992"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CONTROLLED ENVIRONMENT</a:t>
            </a:r>
            <a:endParaRPr lang="en-US" sz="1050" dirty="0"/>
          </a:p>
        </p:txBody>
      </p:sp>
      <p:sp>
        <p:nvSpPr>
          <p:cNvPr id="50" name="Text 48"/>
          <p:cNvSpPr txBox="1"/>
          <p:nvPr/>
        </p:nvSpPr>
        <p:spPr>
          <a:xfrm>
            <a:off x="7955280" y="1911096"/>
            <a:ext cx="3364992" cy="237744"/>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Patient-level data stays here</a:t>
            </a:r>
            <a:endParaRPr lang="en-US" sz="1200" dirty="0"/>
          </a:p>
        </p:txBody>
      </p:sp>
      <p:sp>
        <p:nvSpPr>
          <p:cNvPr id="51" name="Shape 49"/>
          <p:cNvSpPr/>
          <p:nvPr/>
        </p:nvSpPr>
        <p:spPr>
          <a:xfrm>
            <a:off x="7955280" y="2258568"/>
            <a:ext cx="3319272" cy="0"/>
          </a:xfrm>
          <a:prstGeom prst="line">
            <a:avLst/>
          </a:prstGeom>
          <a:noFill/>
          <a:ln w="12700">
            <a:solidFill>
              <a:srgbClr val="C9DDD6"/>
            </a:solidFill>
            <a:prstDash val="solid"/>
          </a:ln>
        </p:spPr>
        <p:txBody>
          <a:bodyPr/>
          <a:p/>
        </p:txBody>
      </p:sp>
      <p:sp>
        <p:nvSpPr>
          <p:cNvPr id="52" name="Shape 50"/>
          <p:cNvSpPr/>
          <p:nvPr/>
        </p:nvSpPr>
        <p:spPr>
          <a:xfrm>
            <a:off x="7955280" y="2404872"/>
            <a:ext cx="155448" cy="155448"/>
          </a:xfrm>
          <a:prstGeom prst="ellipse">
            <a:avLst/>
          </a:prstGeom>
          <a:solidFill>
            <a:srgbClr val="1E6A55"/>
          </a:solidFill>
          <a:ln w="12700">
            <a:solidFill>
              <a:srgbClr val="1E6A55"/>
            </a:solidFill>
            <a:prstDash val="solid"/>
          </a:ln>
        </p:spPr>
        <p:txBody>
          <a:bodyPr/>
          <a:p/>
        </p:txBody>
      </p:sp>
      <p:sp>
        <p:nvSpPr>
          <p:cNvPr id="53" name="Text 51"/>
          <p:cNvSpPr txBox="1"/>
          <p:nvPr/>
        </p:nvSpPr>
        <p:spPr>
          <a:xfrm>
            <a:off x="8229600" y="2331720"/>
            <a:ext cx="3090672"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Decision rules, Art. 53 to 73</a:t>
            </a:r>
            <a:endParaRPr lang="en-US" sz="1400" dirty="0"/>
          </a:p>
        </p:txBody>
      </p:sp>
      <p:sp>
        <p:nvSpPr>
          <p:cNvPr id="54" name="Shape 52"/>
          <p:cNvSpPr/>
          <p:nvPr/>
        </p:nvSpPr>
        <p:spPr>
          <a:xfrm>
            <a:off x="7955280" y="2715768"/>
            <a:ext cx="3319272" cy="0"/>
          </a:xfrm>
          <a:prstGeom prst="line">
            <a:avLst/>
          </a:prstGeom>
          <a:noFill/>
          <a:ln w="12700">
            <a:solidFill>
              <a:srgbClr val="C9DDD6"/>
            </a:solidFill>
            <a:prstDash val="solid"/>
          </a:ln>
        </p:spPr>
        <p:txBody>
          <a:bodyPr/>
          <a:p/>
        </p:txBody>
      </p:sp>
      <p:sp>
        <p:nvSpPr>
          <p:cNvPr id="55" name="Shape 53"/>
          <p:cNvSpPr/>
          <p:nvPr/>
        </p:nvSpPr>
        <p:spPr>
          <a:xfrm>
            <a:off x="7955280" y="2862072"/>
            <a:ext cx="155448" cy="155448"/>
          </a:xfrm>
          <a:prstGeom prst="ellipse">
            <a:avLst/>
          </a:prstGeom>
          <a:solidFill>
            <a:srgbClr val="1E6A55"/>
          </a:solidFill>
          <a:ln w="12700">
            <a:solidFill>
              <a:srgbClr val="1E6A55"/>
            </a:solidFill>
            <a:prstDash val="solid"/>
          </a:ln>
        </p:spPr>
        <p:txBody>
          <a:bodyPr/>
          <a:p/>
        </p:txBody>
      </p:sp>
      <p:sp>
        <p:nvSpPr>
          <p:cNvPr id="56" name="Text 54"/>
          <p:cNvSpPr txBox="1"/>
          <p:nvPr/>
        </p:nvSpPr>
        <p:spPr>
          <a:xfrm>
            <a:off x="8229600" y="2788920"/>
            <a:ext cx="3090672"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Deterministic statistics</a:t>
            </a:r>
            <a:endParaRPr lang="en-US" sz="1400" dirty="0"/>
          </a:p>
        </p:txBody>
      </p:sp>
      <p:sp>
        <p:nvSpPr>
          <p:cNvPr id="57" name="Shape 55"/>
          <p:cNvSpPr/>
          <p:nvPr/>
        </p:nvSpPr>
        <p:spPr>
          <a:xfrm>
            <a:off x="7955280" y="3172968"/>
            <a:ext cx="3319272" cy="0"/>
          </a:xfrm>
          <a:prstGeom prst="line">
            <a:avLst/>
          </a:prstGeom>
          <a:noFill/>
          <a:ln w="12700">
            <a:solidFill>
              <a:srgbClr val="C9DDD6"/>
            </a:solidFill>
            <a:prstDash val="solid"/>
          </a:ln>
        </p:spPr>
        <p:txBody>
          <a:bodyPr/>
          <a:p/>
        </p:txBody>
      </p:sp>
      <p:sp>
        <p:nvSpPr>
          <p:cNvPr id="58" name="Shape 56"/>
          <p:cNvSpPr/>
          <p:nvPr/>
        </p:nvSpPr>
        <p:spPr>
          <a:xfrm>
            <a:off x="7955280" y="3319272"/>
            <a:ext cx="155448" cy="155448"/>
          </a:xfrm>
          <a:prstGeom prst="ellipse">
            <a:avLst/>
          </a:prstGeom>
          <a:solidFill>
            <a:srgbClr val="1E6A55"/>
          </a:solidFill>
          <a:ln w="12700">
            <a:solidFill>
              <a:srgbClr val="1E6A55"/>
            </a:solidFill>
            <a:prstDash val="solid"/>
          </a:ln>
        </p:spPr>
        <p:txBody>
          <a:bodyPr/>
          <a:p/>
        </p:txBody>
      </p:sp>
      <p:sp>
        <p:nvSpPr>
          <p:cNvPr id="59" name="Text 57"/>
          <p:cNvSpPr txBox="1"/>
          <p:nvPr/>
        </p:nvSpPr>
        <p:spPr>
          <a:xfrm>
            <a:off x="8229600" y="3246120"/>
            <a:ext cx="3090672"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Small cells, opt-outs excluded</a:t>
            </a:r>
            <a:endParaRPr lang="en-US" sz="1400" dirty="0"/>
          </a:p>
        </p:txBody>
      </p:sp>
      <p:sp>
        <p:nvSpPr>
          <p:cNvPr id="60" name="Shape 58"/>
          <p:cNvSpPr/>
          <p:nvPr/>
        </p:nvSpPr>
        <p:spPr>
          <a:xfrm>
            <a:off x="7955280" y="3630168"/>
            <a:ext cx="3319272" cy="0"/>
          </a:xfrm>
          <a:prstGeom prst="line">
            <a:avLst/>
          </a:prstGeom>
          <a:noFill/>
          <a:ln w="12700">
            <a:solidFill>
              <a:srgbClr val="C9DDD6"/>
            </a:solidFill>
            <a:prstDash val="solid"/>
          </a:ln>
        </p:spPr>
        <p:txBody>
          <a:bodyPr/>
          <a:p/>
        </p:txBody>
      </p:sp>
      <p:sp>
        <p:nvSpPr>
          <p:cNvPr id="61" name="Shape 59"/>
          <p:cNvSpPr/>
          <p:nvPr/>
        </p:nvSpPr>
        <p:spPr>
          <a:xfrm>
            <a:off x="7955280" y="3776472"/>
            <a:ext cx="155448" cy="155448"/>
          </a:xfrm>
          <a:prstGeom prst="ellipse">
            <a:avLst/>
          </a:prstGeom>
          <a:solidFill>
            <a:srgbClr val="1E6A55"/>
          </a:solidFill>
          <a:ln w="12700">
            <a:solidFill>
              <a:srgbClr val="1E6A55"/>
            </a:solidFill>
            <a:prstDash val="solid"/>
          </a:ln>
        </p:spPr>
        <p:txBody>
          <a:bodyPr/>
          <a:p/>
        </p:txBody>
      </p:sp>
      <p:sp>
        <p:nvSpPr>
          <p:cNvPr id="62" name="Text 60"/>
          <p:cNvSpPr txBox="1"/>
          <p:nvPr/>
        </p:nvSpPr>
        <p:spPr>
          <a:xfrm>
            <a:off x="8229600" y="3703320"/>
            <a:ext cx="3090672"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Disclosure ledger</a:t>
            </a:r>
            <a:endParaRPr lang="en-US" sz="1400" dirty="0"/>
          </a:p>
        </p:txBody>
      </p:sp>
      <p:sp>
        <p:nvSpPr>
          <p:cNvPr id="63" name="Shape 61"/>
          <p:cNvSpPr/>
          <p:nvPr/>
        </p:nvSpPr>
        <p:spPr>
          <a:xfrm>
            <a:off x="7955280" y="4087368"/>
            <a:ext cx="3319272" cy="0"/>
          </a:xfrm>
          <a:prstGeom prst="line">
            <a:avLst/>
          </a:prstGeom>
          <a:noFill/>
          <a:ln w="12700">
            <a:solidFill>
              <a:srgbClr val="C9DDD6"/>
            </a:solidFill>
            <a:prstDash val="solid"/>
          </a:ln>
        </p:spPr>
        <p:txBody>
          <a:bodyPr/>
          <a:p/>
        </p:txBody>
      </p:sp>
      <p:sp>
        <p:nvSpPr>
          <p:cNvPr id="64" name="Shape 62"/>
          <p:cNvSpPr/>
          <p:nvPr/>
        </p:nvSpPr>
        <p:spPr>
          <a:xfrm>
            <a:off x="7955280" y="4233672"/>
            <a:ext cx="155448" cy="155448"/>
          </a:xfrm>
          <a:prstGeom prst="ellipse">
            <a:avLst/>
          </a:prstGeom>
          <a:solidFill>
            <a:srgbClr val="1E6A55"/>
          </a:solidFill>
          <a:ln w="12700">
            <a:solidFill>
              <a:srgbClr val="1E6A55"/>
            </a:solidFill>
            <a:prstDash val="solid"/>
          </a:ln>
        </p:spPr>
        <p:txBody>
          <a:bodyPr/>
          <a:p/>
        </p:txBody>
      </p:sp>
      <p:sp>
        <p:nvSpPr>
          <p:cNvPr id="65" name="Text 63"/>
          <p:cNvSpPr txBox="1"/>
          <p:nvPr/>
        </p:nvSpPr>
        <p:spPr>
          <a:xfrm>
            <a:off x="8229600" y="4160520"/>
            <a:ext cx="3090672"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SPE, download block (simulated)</a:t>
            </a:r>
            <a:endParaRPr lang="en-US" sz="1400" dirty="0"/>
          </a:p>
        </p:txBody>
      </p:sp>
      <p:sp>
        <p:nvSpPr>
          <p:cNvPr id="66" name="Shape 64"/>
          <p:cNvSpPr/>
          <p:nvPr/>
        </p:nvSpPr>
        <p:spPr>
          <a:xfrm>
            <a:off x="7955280" y="4544568"/>
            <a:ext cx="3319272" cy="0"/>
          </a:xfrm>
          <a:prstGeom prst="line">
            <a:avLst/>
          </a:prstGeom>
          <a:noFill/>
          <a:ln w="12700">
            <a:solidFill>
              <a:srgbClr val="C9DDD6"/>
            </a:solidFill>
            <a:prstDash val="solid"/>
          </a:ln>
        </p:spPr>
        <p:txBody>
          <a:bodyPr/>
          <a:p/>
        </p:txBody>
      </p:sp>
      <p:sp>
        <p:nvSpPr>
          <p:cNvPr id="67" name="Shape 65"/>
          <p:cNvSpPr/>
          <p:nvPr/>
        </p:nvSpPr>
        <p:spPr>
          <a:xfrm>
            <a:off x="7955280" y="4690872"/>
            <a:ext cx="155448" cy="155448"/>
          </a:xfrm>
          <a:prstGeom prst="ellipse">
            <a:avLst/>
          </a:prstGeom>
          <a:solidFill>
            <a:srgbClr val="1E6A55"/>
          </a:solidFill>
          <a:ln w="12700">
            <a:solidFill>
              <a:srgbClr val="1E6A55"/>
            </a:solidFill>
            <a:prstDash val="solid"/>
          </a:ln>
        </p:spPr>
        <p:txBody>
          <a:bodyPr/>
          <a:p/>
        </p:txBody>
      </p:sp>
      <p:sp>
        <p:nvSpPr>
          <p:cNvPr id="68" name="Text 66"/>
          <p:cNvSpPr txBox="1"/>
          <p:nvPr/>
        </p:nvSpPr>
        <p:spPr>
          <a:xfrm>
            <a:off x="8229600" y="4617720"/>
            <a:ext cx="3090672" cy="310896"/>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Audit record</a:t>
            </a:r>
            <a:endParaRPr lang="en-US" sz="1400" dirty="0"/>
          </a:p>
        </p:txBody>
      </p:sp>
      <p:sp>
        <p:nvSpPr>
          <p:cNvPr id="69" name="Text 67"/>
          <p:cNvSpPr txBox="1"/>
          <p:nvPr/>
        </p:nvSpPr>
        <p:spPr>
          <a:xfrm>
            <a:off x="7955280" y="5669280"/>
            <a:ext cx="3383280" cy="237744"/>
          </a:xfrm>
          <a:prstGeom prst="rect">
            <a:avLst/>
          </a:prstGeom>
          <a:noFill/>
          <a:ln/>
        </p:spPr>
        <p:txBody>
          <a:bodyPr wrap="square" lIns="0" tIns="0" rIns="0" bIns="0" rtlCol="0" anchor="t"/>
          <a:lstStyle/>
          <a:p>
            <a:pPr indent="0" marL="0">
              <a:buNone/>
            </a:pPr>
            <a:r>
              <a:rPr lang="en-US" sz="1000" b="1" spc="8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20,000 PATIENTS  ·  839 OPTED OUT</a:t>
            </a:r>
            <a:endParaRPr lang="en-US" sz="1000" dirty="0"/>
          </a:p>
        </p:txBody>
      </p:sp>
      <p:sp>
        <p:nvSpPr>
          <p:cNvPr id="70" name="Zone arrow 1"/>
          <p:cNvSpPr/>
          <p:nvPr/>
        </p:nvSpPr>
        <p:spPr>
          <a:xfrm>
            <a:off x="4014216" y="1783080"/>
            <a:ext cx="173736" cy="0"/>
          </a:xfrm>
          <a:prstGeom prst="line">
            <a:avLst/>
          </a:prstGeom>
          <a:solidFill>
            <a:srgbClr val="1E6A55"/>
          </a:solidFill>
          <a:ln w="12700">
            <a:solidFill>
              <a:srgbClr val="1E6A55"/>
            </a:solidFill>
            <a:prstDash val="solid"/>
          </a:ln>
        </p:spPr>
        <p:txBody>
          <a:bodyPr/>
          <a:p/>
        </p:txBody>
      </p:sp>
      <p:sp>
        <p:nvSpPr>
          <p:cNvPr id="71" name="Zone arrow 2"/>
          <p:cNvSpPr/>
          <p:nvPr/>
        </p:nvSpPr>
        <p:spPr>
          <a:xfrm>
            <a:off x="7534656" y="1783080"/>
            <a:ext cx="173736" cy="0"/>
          </a:xfrm>
          <a:prstGeom prst="line">
            <a:avLst/>
          </a:prstGeom>
          <a:solidFill>
            <a:srgbClr val="1E6A55"/>
          </a:solidFill>
          <a:ln w="12700">
            <a:solidFill>
              <a:srgbClr val="1E6A55"/>
            </a:solidFill>
            <a:prstDash val="solid"/>
          </a:ln>
        </p:spPr>
        <p:txBody>
          <a:bodyPr/>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577"/>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685800" y="457200"/>
            <a:ext cx="10817352" cy="274320"/>
          </a:xfrm>
          <a:prstGeom prst="rect">
            <a:avLst/>
          </a:prstGeom>
          <a:noFill/>
          <a:ln/>
        </p:spPr>
        <p:txBody>
          <a:bodyPr wrap="square" lIns="0" tIns="0" rIns="0" bIns="0" rtlCol="0" anchor="ctr"/>
          <a:lstStyle/>
          <a:p>
            <a:pPr indent="0" marL="0">
              <a:buNone/>
            </a:pPr>
            <a:r>
              <a:rPr lang="en-US" sz="1200" spc="200" kern="0"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BACKUP 2  ·  TERMINOLOGY AND CLINICAL VALIDATION</a:t>
            </a:r>
            <a:endParaRPr lang="en-US" sz="1200" dirty="0"/>
          </a:p>
        </p:txBody>
      </p:sp>
      <p:sp>
        <p:nvSpPr>
          <p:cNvPr id="3" name="Text 2"/>
          <p:cNvSpPr/>
          <p:nvPr>
            <p:ph idx="103" type="title" hasCustomPrompt="1"/>
          </p:nvPr>
        </p:nvSpPr>
        <p:spPr>
          <a:xfrm>
            <a:off x="685800" y="749808"/>
            <a:ext cx="10817352" cy="685800"/>
          </a:xfrm>
          <a:prstGeom prst="rect">
            <a:avLst/>
          </a:prstGeom>
          <a:noFill/>
          <a:ln/>
        </p:spPr>
        <p:txBody>
          <a:bodyPr wrap="square" lIns="0" tIns="0" rIns="0" bIns="0" rtlCol="0" anchor="t"/>
          <a:lstStyle/>
          <a:p>
            <a:pPr algn="l" indent="0" marL="0">
              <a:buNone/>
            </a:pPr>
            <a:r>
              <a:rPr lang="en-US" sz="4000" dirty="0">
                <a:solidFill>
                  <a:srgbClr val="0E2848"/>
                </a:solidFill>
                <a:latin typeface="Instrument Serif" panose="02020603050405020304" pitchFamily="18" charset="0"/>
                <a:ea typeface="Instrument Serif" panose="02020603050405020304" pitchFamily="18" charset="-122"/>
                <a:cs typeface="Instrument Serif" panose="02020603050405020304" pitchFamily="18" charset="-120"/>
              </a:rPr>
              <a:t>Clinical words in, </a:t>
            </a:r>
            <a:r>
              <a:rPr lang="en-US" sz="4000" i="1" dirty="0">
                <a:solidFill>
                  <a:schemeClr val="accent6"/>
                </a:solidFill>
                <a:latin typeface="Instrument Serif" panose="02020603050405020304" pitchFamily="18" charset="0"/>
                <a:ea typeface="Instrument Serif" panose="02020603050405020304" pitchFamily="18" charset="-122"/>
                <a:cs typeface="Instrument Serif" panose="02020603050405020304" pitchFamily="18" charset="-120"/>
              </a:rPr>
              <a:t>standard codes out</a:t>
            </a:r>
            <a:endParaRPr lang="en-US" sz="4000" dirty="0"/>
          </a:p>
        </p:txBody>
      </p:sp>
      <p:sp>
        <p:nvSpPr>
          <p:cNvPr id="4" name="Mapping card"/>
          <p:cNvSpPr/>
          <p:nvPr/>
        </p:nvSpPr>
        <p:spPr>
          <a:xfrm>
            <a:off x="685800" y="1481328"/>
            <a:ext cx="3611880" cy="4572000"/>
          </a:xfrm>
          <a:prstGeom prst="roundRect">
            <a:avLst>
              <a:gd name="adj" fmla="val 3038"/>
            </a:avLst>
          </a:prstGeom>
          <a:solidFill>
            <a:schemeClr val="bg2"/>
          </a:solidFill>
          <a:ln/>
        </p:spPr>
        <p:txBody>
          <a:bodyPr/>
          <a:p/>
        </p:txBody>
      </p:sp>
      <p:sp>
        <p:nvSpPr>
          <p:cNvPr id="5" name="Text 3"/>
          <p:cNvSpPr txBox="1"/>
          <p:nvPr/>
        </p:nvSpPr>
        <p:spPr>
          <a:xfrm>
            <a:off x="914400" y="1682496"/>
            <a:ext cx="3200400"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FROM THE OFFICIAL REQUESTS</a:t>
            </a:r>
            <a:endParaRPr lang="en-US" sz="1050" dirty="0"/>
          </a:p>
        </p:txBody>
      </p:sp>
      <p:sp>
        <p:nvSpPr>
          <p:cNvPr id="6" name="Shape 4"/>
          <p:cNvSpPr/>
          <p:nvPr/>
        </p:nvSpPr>
        <p:spPr>
          <a:xfrm>
            <a:off x="914400" y="2048256"/>
            <a:ext cx="3154680" cy="0"/>
          </a:xfrm>
          <a:prstGeom prst="line">
            <a:avLst/>
          </a:prstGeom>
          <a:noFill/>
          <a:ln w="12700">
            <a:solidFill>
              <a:srgbClr val="DDD9D1"/>
            </a:solidFill>
            <a:prstDash val="solid"/>
          </a:ln>
        </p:spPr>
        <p:txBody>
          <a:bodyPr/>
          <a:p/>
        </p:txBody>
      </p:sp>
      <p:sp>
        <p:nvSpPr>
          <p:cNvPr id="7" name="Text 5"/>
          <p:cNvSpPr txBox="1"/>
          <p:nvPr/>
        </p:nvSpPr>
        <p:spPr>
          <a:xfrm>
            <a:off x="914400" y="2121408"/>
            <a:ext cx="1600200" cy="365760"/>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Type 2 diabetes</a:t>
            </a:r>
            <a:endParaRPr lang="en-US" sz="1400" dirty="0"/>
          </a:p>
        </p:txBody>
      </p:sp>
      <p:sp>
        <p:nvSpPr>
          <p:cNvPr id="8" name="Text 6"/>
          <p:cNvSpPr txBox="1"/>
          <p:nvPr/>
        </p:nvSpPr>
        <p:spPr>
          <a:xfrm>
            <a:off x="2423160" y="2121408"/>
            <a:ext cx="1645920" cy="365760"/>
          </a:xfrm>
          <a:prstGeom prst="rect">
            <a:avLst/>
          </a:prstGeom>
          <a:noFill/>
          <a:ln/>
        </p:spPr>
        <p:txBody>
          <a:bodyPr wrap="square" lIns="0" tIns="0" rIns="0" bIns="0" rtlCol="0" anchor="ctr"/>
          <a:lstStyle/>
          <a:p>
            <a:pPr algn="r" indent="0" marL="0">
              <a:buNone/>
            </a:pPr>
            <a:r>
              <a:rPr lang="en-US" sz="1050" b="1"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ICD-10 E11</a:t>
            </a:r>
            <a:endParaRPr lang="en-US" sz="1050" dirty="0"/>
          </a:p>
        </p:txBody>
      </p:sp>
      <p:sp>
        <p:nvSpPr>
          <p:cNvPr id="9" name="Shape 7"/>
          <p:cNvSpPr/>
          <p:nvPr/>
        </p:nvSpPr>
        <p:spPr>
          <a:xfrm>
            <a:off x="914400" y="2523744"/>
            <a:ext cx="3154680" cy="0"/>
          </a:xfrm>
          <a:prstGeom prst="line">
            <a:avLst/>
          </a:prstGeom>
          <a:noFill/>
          <a:ln w="12700">
            <a:solidFill>
              <a:srgbClr val="DDD9D1"/>
            </a:solidFill>
            <a:prstDash val="solid"/>
          </a:ln>
        </p:spPr>
        <p:txBody>
          <a:bodyPr/>
          <a:p/>
        </p:txBody>
      </p:sp>
      <p:sp>
        <p:nvSpPr>
          <p:cNvPr id="10" name="Text 8"/>
          <p:cNvSpPr txBox="1"/>
          <p:nvPr/>
        </p:nvSpPr>
        <p:spPr>
          <a:xfrm>
            <a:off x="914400" y="2596896"/>
            <a:ext cx="1600200" cy="365760"/>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Atrial fibrillation</a:t>
            </a:r>
            <a:endParaRPr lang="en-US" sz="1400" dirty="0"/>
          </a:p>
        </p:txBody>
      </p:sp>
      <p:sp>
        <p:nvSpPr>
          <p:cNvPr id="11" name="Text 9"/>
          <p:cNvSpPr txBox="1"/>
          <p:nvPr/>
        </p:nvSpPr>
        <p:spPr>
          <a:xfrm>
            <a:off x="2423160" y="2596896"/>
            <a:ext cx="1645920" cy="365760"/>
          </a:xfrm>
          <a:prstGeom prst="rect">
            <a:avLst/>
          </a:prstGeom>
          <a:noFill/>
          <a:ln/>
        </p:spPr>
        <p:txBody>
          <a:bodyPr wrap="square" lIns="0" tIns="0" rIns="0" bIns="0" rtlCol="0" anchor="ctr"/>
          <a:lstStyle/>
          <a:p>
            <a:pPr algn="r" indent="0" marL="0">
              <a:buNone/>
            </a:pPr>
            <a:r>
              <a:rPr lang="en-US" sz="1050" b="1"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ICD-10 I48</a:t>
            </a:r>
            <a:endParaRPr lang="en-US" sz="1050" dirty="0"/>
          </a:p>
        </p:txBody>
      </p:sp>
      <p:sp>
        <p:nvSpPr>
          <p:cNvPr id="12" name="Shape 10"/>
          <p:cNvSpPr/>
          <p:nvPr/>
        </p:nvSpPr>
        <p:spPr>
          <a:xfrm>
            <a:off x="914400" y="2999232"/>
            <a:ext cx="3154680" cy="0"/>
          </a:xfrm>
          <a:prstGeom prst="line">
            <a:avLst/>
          </a:prstGeom>
          <a:noFill/>
          <a:ln w="12700">
            <a:solidFill>
              <a:srgbClr val="DDD9D1"/>
            </a:solidFill>
            <a:prstDash val="solid"/>
          </a:ln>
        </p:spPr>
        <p:txBody>
          <a:bodyPr/>
          <a:p/>
        </p:txBody>
      </p:sp>
      <p:sp>
        <p:nvSpPr>
          <p:cNvPr id="13" name="Text 11"/>
          <p:cNvSpPr txBox="1"/>
          <p:nvPr/>
        </p:nvSpPr>
        <p:spPr>
          <a:xfrm>
            <a:off x="914400" y="3072384"/>
            <a:ext cx="1600200" cy="365760"/>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Breast cancer</a:t>
            </a:r>
            <a:endParaRPr lang="en-US" sz="1400" dirty="0"/>
          </a:p>
        </p:txBody>
      </p:sp>
      <p:sp>
        <p:nvSpPr>
          <p:cNvPr id="14" name="Text 12"/>
          <p:cNvSpPr txBox="1"/>
          <p:nvPr/>
        </p:nvSpPr>
        <p:spPr>
          <a:xfrm>
            <a:off x="2423160" y="3072384"/>
            <a:ext cx="1645920" cy="365760"/>
          </a:xfrm>
          <a:prstGeom prst="rect">
            <a:avLst/>
          </a:prstGeom>
          <a:noFill/>
          <a:ln/>
        </p:spPr>
        <p:txBody>
          <a:bodyPr wrap="square" lIns="0" tIns="0" rIns="0" bIns="0" rtlCol="0" anchor="ctr"/>
          <a:lstStyle/>
          <a:p>
            <a:pPr algn="r" indent="0" marL="0">
              <a:buNone/>
            </a:pPr>
            <a:r>
              <a:rPr lang="en-US" sz="1050" b="1"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ICD-10 C50</a:t>
            </a:r>
            <a:endParaRPr lang="en-US" sz="1050" dirty="0"/>
          </a:p>
        </p:txBody>
      </p:sp>
      <p:sp>
        <p:nvSpPr>
          <p:cNvPr id="15" name="Shape 13"/>
          <p:cNvSpPr/>
          <p:nvPr/>
        </p:nvSpPr>
        <p:spPr>
          <a:xfrm>
            <a:off x="914400" y="3474720"/>
            <a:ext cx="3154680" cy="0"/>
          </a:xfrm>
          <a:prstGeom prst="line">
            <a:avLst/>
          </a:prstGeom>
          <a:noFill/>
          <a:ln w="12700">
            <a:solidFill>
              <a:srgbClr val="DDD9D1"/>
            </a:solidFill>
            <a:prstDash val="solid"/>
          </a:ln>
        </p:spPr>
        <p:txBody>
          <a:bodyPr/>
          <a:p/>
        </p:txBody>
      </p:sp>
      <p:sp>
        <p:nvSpPr>
          <p:cNvPr id="16" name="Text 14"/>
          <p:cNvSpPr txBox="1"/>
          <p:nvPr/>
        </p:nvSpPr>
        <p:spPr>
          <a:xfrm>
            <a:off x="914400" y="3547872"/>
            <a:ext cx="1600200" cy="365760"/>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Oral anticoagulant</a:t>
            </a:r>
            <a:endParaRPr lang="en-US" sz="1400" dirty="0"/>
          </a:p>
        </p:txBody>
      </p:sp>
      <p:sp>
        <p:nvSpPr>
          <p:cNvPr id="17" name="Text 15"/>
          <p:cNvSpPr txBox="1"/>
          <p:nvPr/>
        </p:nvSpPr>
        <p:spPr>
          <a:xfrm>
            <a:off x="2423160" y="3547872"/>
            <a:ext cx="1645920" cy="365760"/>
          </a:xfrm>
          <a:prstGeom prst="rect">
            <a:avLst/>
          </a:prstGeom>
          <a:noFill/>
          <a:ln/>
        </p:spPr>
        <p:txBody>
          <a:bodyPr wrap="square" lIns="0" tIns="0" rIns="0" bIns="0" rtlCol="0" anchor="ctr"/>
          <a:lstStyle/>
          <a:p>
            <a:pPr algn="r" indent="0" marL="0">
              <a:buNone/>
            </a:pPr>
            <a:r>
              <a:rPr lang="en-US" sz="1050" b="1"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ATC B01AA, B01AF</a:t>
            </a:r>
            <a:endParaRPr lang="en-US" sz="1050" dirty="0"/>
          </a:p>
        </p:txBody>
      </p:sp>
      <p:sp>
        <p:nvSpPr>
          <p:cNvPr id="18" name="Shape 16"/>
          <p:cNvSpPr/>
          <p:nvPr/>
        </p:nvSpPr>
        <p:spPr>
          <a:xfrm>
            <a:off x="914400" y="3950208"/>
            <a:ext cx="3154680" cy="0"/>
          </a:xfrm>
          <a:prstGeom prst="line">
            <a:avLst/>
          </a:prstGeom>
          <a:noFill/>
          <a:ln w="12700">
            <a:solidFill>
              <a:srgbClr val="DDD9D1"/>
            </a:solidFill>
            <a:prstDash val="solid"/>
          </a:ln>
        </p:spPr>
        <p:txBody>
          <a:bodyPr/>
          <a:p/>
        </p:txBody>
      </p:sp>
      <p:sp>
        <p:nvSpPr>
          <p:cNvPr id="19" name="Text 17"/>
          <p:cNvSpPr txBox="1"/>
          <p:nvPr/>
        </p:nvSpPr>
        <p:spPr>
          <a:xfrm>
            <a:off x="914400" y="4023360"/>
            <a:ext cx="1600200" cy="365760"/>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SGLT2 inhibitor</a:t>
            </a:r>
            <a:endParaRPr lang="en-US" sz="1400" dirty="0"/>
          </a:p>
        </p:txBody>
      </p:sp>
      <p:sp>
        <p:nvSpPr>
          <p:cNvPr id="20" name="Text 18"/>
          <p:cNvSpPr txBox="1"/>
          <p:nvPr/>
        </p:nvSpPr>
        <p:spPr>
          <a:xfrm>
            <a:off x="2423160" y="4023360"/>
            <a:ext cx="1645920" cy="365760"/>
          </a:xfrm>
          <a:prstGeom prst="rect">
            <a:avLst/>
          </a:prstGeom>
          <a:noFill/>
          <a:ln/>
        </p:spPr>
        <p:txBody>
          <a:bodyPr wrap="square" lIns="0" tIns="0" rIns="0" bIns="0" rtlCol="0" anchor="ctr"/>
          <a:lstStyle/>
          <a:p>
            <a:pPr algn="r" indent="0" marL="0">
              <a:buNone/>
            </a:pPr>
            <a:r>
              <a:rPr lang="en-US" sz="1050" b="1"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ATC A10BK</a:t>
            </a:r>
            <a:endParaRPr lang="en-US" sz="1050" dirty="0"/>
          </a:p>
        </p:txBody>
      </p:sp>
      <p:sp>
        <p:nvSpPr>
          <p:cNvPr id="21" name="Shape 19"/>
          <p:cNvSpPr/>
          <p:nvPr/>
        </p:nvSpPr>
        <p:spPr>
          <a:xfrm>
            <a:off x="914400" y="4425696"/>
            <a:ext cx="3154680" cy="0"/>
          </a:xfrm>
          <a:prstGeom prst="line">
            <a:avLst/>
          </a:prstGeom>
          <a:noFill/>
          <a:ln w="12700">
            <a:solidFill>
              <a:srgbClr val="DDD9D1"/>
            </a:solidFill>
            <a:prstDash val="solid"/>
          </a:ln>
        </p:spPr>
        <p:txBody>
          <a:bodyPr/>
          <a:p/>
        </p:txBody>
      </p:sp>
      <p:sp>
        <p:nvSpPr>
          <p:cNvPr id="22" name="Text 20"/>
          <p:cNvSpPr txBox="1"/>
          <p:nvPr/>
        </p:nvSpPr>
        <p:spPr>
          <a:xfrm>
            <a:off x="914400" y="4498848"/>
            <a:ext cx="1600200" cy="365760"/>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HbA1c</a:t>
            </a:r>
            <a:endParaRPr lang="en-US" sz="1400" dirty="0"/>
          </a:p>
        </p:txBody>
      </p:sp>
      <p:sp>
        <p:nvSpPr>
          <p:cNvPr id="23" name="Text 21"/>
          <p:cNvSpPr txBox="1"/>
          <p:nvPr/>
        </p:nvSpPr>
        <p:spPr>
          <a:xfrm>
            <a:off x="2423160" y="4498848"/>
            <a:ext cx="1645920" cy="365760"/>
          </a:xfrm>
          <a:prstGeom prst="rect">
            <a:avLst/>
          </a:prstGeom>
          <a:noFill/>
          <a:ln/>
        </p:spPr>
        <p:txBody>
          <a:bodyPr wrap="square" lIns="0" tIns="0" rIns="0" bIns="0" rtlCol="0" anchor="ctr"/>
          <a:lstStyle/>
          <a:p>
            <a:pPr algn="r" indent="0" marL="0">
              <a:buNone/>
            </a:pPr>
            <a:r>
              <a:rPr lang="en-US" sz="1050" b="1"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LOINC 4548-4</a:t>
            </a:r>
            <a:endParaRPr lang="en-US" sz="1050" dirty="0"/>
          </a:p>
        </p:txBody>
      </p:sp>
      <p:sp>
        <p:nvSpPr>
          <p:cNvPr id="24" name="Shape 22"/>
          <p:cNvSpPr/>
          <p:nvPr/>
        </p:nvSpPr>
        <p:spPr>
          <a:xfrm>
            <a:off x="914400" y="4901184"/>
            <a:ext cx="3154680" cy="0"/>
          </a:xfrm>
          <a:prstGeom prst="line">
            <a:avLst/>
          </a:prstGeom>
          <a:noFill/>
          <a:ln w="12700">
            <a:solidFill>
              <a:srgbClr val="DDD9D1"/>
            </a:solidFill>
            <a:prstDash val="solid"/>
          </a:ln>
        </p:spPr>
        <p:txBody>
          <a:bodyPr/>
          <a:p/>
        </p:txBody>
      </p:sp>
      <p:sp>
        <p:nvSpPr>
          <p:cNvPr id="25" name="Text 23"/>
          <p:cNvSpPr txBox="1"/>
          <p:nvPr/>
        </p:nvSpPr>
        <p:spPr>
          <a:xfrm>
            <a:off x="914400" y="4974336"/>
            <a:ext cx="1600200" cy="365760"/>
          </a:xfrm>
          <a:prstGeom prst="rect">
            <a:avLst/>
          </a:prstGeom>
          <a:noFill/>
          <a:ln/>
        </p:spPr>
        <p:txBody>
          <a:bodyPr wrap="square" lIns="0" tIns="0" rIns="0" bIns="0" rtlCol="0" anchor="ctr"/>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BMI</a:t>
            </a:r>
            <a:endParaRPr lang="en-US" sz="1400" dirty="0"/>
          </a:p>
        </p:txBody>
      </p:sp>
      <p:sp>
        <p:nvSpPr>
          <p:cNvPr id="26" name="Text 24"/>
          <p:cNvSpPr txBox="1"/>
          <p:nvPr/>
        </p:nvSpPr>
        <p:spPr>
          <a:xfrm>
            <a:off x="2423160" y="4974336"/>
            <a:ext cx="1645920" cy="365760"/>
          </a:xfrm>
          <a:prstGeom prst="rect">
            <a:avLst/>
          </a:prstGeom>
          <a:noFill/>
          <a:ln/>
        </p:spPr>
        <p:txBody>
          <a:bodyPr wrap="square" lIns="0" tIns="0" rIns="0" bIns="0" rtlCol="0" anchor="ctr"/>
          <a:lstStyle/>
          <a:p>
            <a:pPr algn="r" indent="0" marL="0">
              <a:buNone/>
            </a:pPr>
            <a:r>
              <a:rPr lang="en-US" sz="1050" b="1"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LOINC 39156-5</a:t>
            </a:r>
            <a:endParaRPr lang="en-US" sz="1050" dirty="0"/>
          </a:p>
        </p:txBody>
      </p:sp>
      <p:sp>
        <p:nvSpPr>
          <p:cNvPr id="27" name="Text 25"/>
          <p:cNvSpPr txBox="1"/>
          <p:nvPr/>
        </p:nvSpPr>
        <p:spPr>
          <a:xfrm>
            <a:off x="914400" y="5522976"/>
            <a:ext cx="3154680" cy="411480"/>
          </a:xfrm>
          <a:prstGeom prst="rect">
            <a:avLst/>
          </a:prstGeom>
          <a:noFill/>
          <a:ln/>
        </p:spPr>
        <p:txBody>
          <a:bodyPr wrap="square" lIns="0" tIns="0" rIns="0" bIns="0" rtlCol="0" anchor="t"/>
          <a:lstStyle/>
          <a:p>
            <a:pPr indent="0" marL="0">
              <a:buNone/>
            </a:pPr>
            <a:r>
              <a:rPr lang="en-US" sz="1100" dirty="0">
                <a:solidFill>
                  <a:srgbClr val="5B6577"/>
                </a:solidFill>
                <a:latin typeface="Inter" panose="02000503000000020004" pitchFamily="34" charset="0"/>
                <a:ea typeface="Inter" panose="02000503000000020004" pitchFamily="34" charset="-122"/>
                <a:cs typeface="Inter" panose="02000503000000020004" pitchFamily="34" charset="-120"/>
              </a:rPr>
              <a:t>Codes match on the prefixes given in each request’s definitions.</a:t>
            </a:r>
            <a:endParaRPr lang="en-US" sz="1100" dirty="0"/>
          </a:p>
        </p:txBody>
      </p:sp>
      <p:sp>
        <p:nvSpPr>
          <p:cNvPr id="28" name="Ambiguity card"/>
          <p:cNvSpPr/>
          <p:nvPr/>
        </p:nvSpPr>
        <p:spPr>
          <a:xfrm>
            <a:off x="4526280" y="1481328"/>
            <a:ext cx="3611880" cy="4572000"/>
          </a:xfrm>
          <a:prstGeom prst="roundRect">
            <a:avLst>
              <a:gd name="adj" fmla="val 3038"/>
            </a:avLst>
          </a:prstGeom>
          <a:solidFill>
            <a:schemeClr val="accent2"/>
          </a:solidFill>
          <a:ln/>
        </p:spPr>
        <p:txBody>
          <a:bodyPr/>
          <a:p/>
        </p:txBody>
      </p:sp>
      <p:sp>
        <p:nvSpPr>
          <p:cNvPr id="29" name="Text 27"/>
          <p:cNvSpPr txBox="1"/>
          <p:nvPr/>
        </p:nvSpPr>
        <p:spPr>
          <a:xfrm>
            <a:off x="4754880" y="1682496"/>
            <a:ext cx="3200400"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SAME WORDS, TWO COHORTS</a:t>
            </a:r>
            <a:endParaRPr lang="en-US" sz="1050" dirty="0"/>
          </a:p>
        </p:txBody>
      </p:sp>
      <p:sp>
        <p:nvSpPr>
          <p:cNvPr id="30" name="Text 28"/>
          <p:cNvSpPr txBox="1"/>
          <p:nvPr/>
        </p:nvSpPr>
        <p:spPr>
          <a:xfrm>
            <a:off x="4754880" y="1993392"/>
            <a:ext cx="3200400" cy="868680"/>
          </a:xfrm>
          <a:prstGeom prst="rect">
            <a:avLst/>
          </a:prstGeom>
          <a:noFill/>
          <a:ln/>
        </p:spPr>
        <p:txBody>
          <a:bodyPr wrap="square" lIns="0" tIns="0" rIns="0" bIns="0" rtlCol="0" anchor="t"/>
          <a:lstStyle/>
          <a:p>
            <a:pPr indent="0" marL="0">
              <a:buNone/>
            </a:pPr>
            <a:r>
              <a:rPr lang="en-US" sz="2400" i="1" dirty="0">
                <a:solidFill>
                  <a:schemeClr val="tx1"/>
                </a:solidFill>
                <a:latin typeface="Instrument Serif" panose="02020603050405020304" pitchFamily="18" charset="0"/>
                <a:ea typeface="Instrument Serif" panose="02020603050405020304" pitchFamily="18" charset="-122"/>
                <a:cs typeface="Instrument Serif" panose="02020603050405020304" pitchFamily="18" charset="-120"/>
              </a:rPr>
              <a:t>“Hospitalised for heart failure in 2025”</a:t>
            </a:r>
            <a:endParaRPr lang="en-US" sz="2400" dirty="0"/>
          </a:p>
        </p:txBody>
      </p:sp>
      <p:sp>
        <p:nvSpPr>
          <p:cNvPr id="31" name="Cohort option 1"/>
          <p:cNvSpPr/>
          <p:nvPr/>
        </p:nvSpPr>
        <p:spPr>
          <a:xfrm>
            <a:off x="4754880" y="2944368"/>
            <a:ext cx="3154680" cy="914400"/>
          </a:xfrm>
          <a:prstGeom prst="roundRect">
            <a:avLst>
              <a:gd name="adj" fmla="val 10000"/>
            </a:avLst>
          </a:prstGeom>
          <a:solidFill>
            <a:schemeClr val="bg1"/>
          </a:solidFill>
          <a:ln/>
        </p:spPr>
        <p:txBody>
          <a:bodyPr/>
          <a:p/>
        </p:txBody>
      </p:sp>
      <p:sp>
        <p:nvSpPr>
          <p:cNvPr id="32" name="Text 30"/>
          <p:cNvSpPr txBox="1"/>
          <p:nvPr/>
        </p:nvSpPr>
        <p:spPr>
          <a:xfrm>
            <a:off x="4892040" y="3035808"/>
            <a:ext cx="1024128" cy="731520"/>
          </a:xfrm>
          <a:prstGeom prst="rect">
            <a:avLst/>
          </a:prstGeom>
          <a:noFill/>
          <a:ln/>
        </p:spPr>
        <p:txBody>
          <a:bodyPr wrap="square" lIns="0" tIns="0" rIns="0" bIns="0" rtlCol="0" anchor="ctr"/>
          <a:lstStyle/>
          <a:p>
            <a:pPr indent="0" marL="0">
              <a:buNone/>
            </a:pPr>
            <a:r>
              <a:rPr lang="en-US" sz="4400" dirty="0">
                <a:solidFill>
                  <a:schemeClr val="tx1"/>
                </a:solidFill>
                <a:latin typeface="Instrument Serif" panose="02020603050405020304" pitchFamily="18" charset="0"/>
                <a:ea typeface="Instrument Serif" panose="02020603050405020304" pitchFamily="18" charset="-122"/>
                <a:cs typeface="Instrument Serif" panose="02020603050405020304" pitchFamily="18" charset="-120"/>
              </a:rPr>
              <a:t>103</a:t>
            </a:r>
            <a:endParaRPr lang="en-US" sz="4400" dirty="0"/>
          </a:p>
        </p:txBody>
      </p:sp>
      <p:sp>
        <p:nvSpPr>
          <p:cNvPr id="33" name="Text 31"/>
          <p:cNvSpPr txBox="1"/>
          <p:nvPr/>
        </p:nvSpPr>
        <p:spPr>
          <a:xfrm>
            <a:off x="5971032" y="3054096"/>
            <a:ext cx="1901952" cy="694944"/>
          </a:xfrm>
          <a:prstGeom prst="rect">
            <a:avLst/>
          </a:prstGeom>
          <a:noFill/>
          <a:ln/>
        </p:spPr>
        <p:txBody>
          <a:bodyPr wrap="square" lIns="0" tIns="0" rIns="0" bIns="0" rtlCol="0" anchor="ctr"/>
          <a:lstStyle/>
          <a:p>
            <a:pPr indent="0" marL="0">
              <a:buNone/>
            </a:pPr>
            <a:r>
              <a:rPr lang="en-US" sz="1250" dirty="0">
                <a:solidFill>
                  <a:schemeClr val="tx1"/>
                </a:solidFill>
                <a:latin typeface="Inter" panose="02000503000000020004" pitchFamily="34" charset="0"/>
                <a:ea typeface="Inter" panose="02000503000000020004" pitchFamily="34" charset="-122"/>
                <a:cs typeface="Inter" panose="02000503000000020004" pitchFamily="34" charset="-120"/>
              </a:rPr>
              <a:t>patients whose stay had heart failure as the main diagnosis</a:t>
            </a:r>
            <a:endParaRPr lang="en-US" sz="1250" dirty="0"/>
          </a:p>
        </p:txBody>
      </p:sp>
      <p:sp>
        <p:nvSpPr>
          <p:cNvPr id="34" name="Cohort option 2"/>
          <p:cNvSpPr/>
          <p:nvPr/>
        </p:nvSpPr>
        <p:spPr>
          <a:xfrm>
            <a:off x="4754880" y="4023360"/>
            <a:ext cx="3154680" cy="914400"/>
          </a:xfrm>
          <a:prstGeom prst="roundRect">
            <a:avLst>
              <a:gd name="adj" fmla="val 10000"/>
            </a:avLst>
          </a:prstGeom>
          <a:solidFill>
            <a:schemeClr val="bg1"/>
          </a:solidFill>
          <a:ln/>
        </p:spPr>
        <p:txBody>
          <a:bodyPr/>
          <a:p/>
        </p:txBody>
      </p:sp>
      <p:sp>
        <p:nvSpPr>
          <p:cNvPr id="35" name="Text 33"/>
          <p:cNvSpPr txBox="1"/>
          <p:nvPr/>
        </p:nvSpPr>
        <p:spPr>
          <a:xfrm>
            <a:off x="4892040" y="4114800"/>
            <a:ext cx="1024128" cy="731520"/>
          </a:xfrm>
          <a:prstGeom prst="rect">
            <a:avLst/>
          </a:prstGeom>
          <a:noFill/>
          <a:ln/>
        </p:spPr>
        <p:txBody>
          <a:bodyPr wrap="square" lIns="0" tIns="0" rIns="0" bIns="0" rtlCol="0" anchor="ctr"/>
          <a:lstStyle/>
          <a:p>
            <a:pPr indent="0" marL="0">
              <a:buNone/>
            </a:pPr>
            <a:r>
              <a:rPr lang="en-US" sz="4400" dirty="0">
                <a:solidFill>
                  <a:schemeClr val="tx1"/>
                </a:solidFill>
                <a:latin typeface="Instrument Serif" panose="02020603050405020304" pitchFamily="18" charset="0"/>
                <a:ea typeface="Instrument Serif" panose="02020603050405020304" pitchFamily="18" charset="-122"/>
                <a:cs typeface="Instrument Serif" panose="02020603050405020304" pitchFamily="18" charset="-120"/>
              </a:rPr>
              <a:t>123</a:t>
            </a:r>
            <a:endParaRPr lang="en-US" sz="4400" dirty="0"/>
          </a:p>
        </p:txBody>
      </p:sp>
      <p:sp>
        <p:nvSpPr>
          <p:cNvPr id="36" name="Text 34"/>
          <p:cNvSpPr txBox="1"/>
          <p:nvPr/>
        </p:nvSpPr>
        <p:spPr>
          <a:xfrm>
            <a:off x="5971032" y="4133088"/>
            <a:ext cx="1901952" cy="694944"/>
          </a:xfrm>
          <a:prstGeom prst="rect">
            <a:avLst/>
          </a:prstGeom>
          <a:noFill/>
          <a:ln/>
        </p:spPr>
        <p:txBody>
          <a:bodyPr wrap="square" lIns="0" tIns="0" rIns="0" bIns="0" rtlCol="0" anchor="ctr"/>
          <a:lstStyle/>
          <a:p>
            <a:pPr indent="0" marL="0">
              <a:buNone/>
            </a:pPr>
            <a:r>
              <a:rPr lang="en-US" sz="1250" dirty="0">
                <a:solidFill>
                  <a:schemeClr val="tx1"/>
                </a:solidFill>
                <a:latin typeface="Inter" panose="02000503000000020004" pitchFamily="34" charset="0"/>
                <a:ea typeface="Inter" panose="02000503000000020004" pitchFamily="34" charset="-122"/>
                <a:cs typeface="Inter" panose="02000503000000020004" pitchFamily="34" charset="-120"/>
              </a:rPr>
              <a:t>patients with heart failure who had any inpatient stay</a:t>
            </a:r>
            <a:endParaRPr lang="en-US" sz="1250" dirty="0"/>
          </a:p>
        </p:txBody>
      </p:sp>
      <p:sp>
        <p:nvSpPr>
          <p:cNvPr id="37" name="Text 35"/>
          <p:cNvSpPr txBox="1"/>
          <p:nvPr/>
        </p:nvSpPr>
        <p:spPr>
          <a:xfrm>
            <a:off x="4754880" y="5010912"/>
            <a:ext cx="3154680" cy="457200"/>
          </a:xfrm>
          <a:prstGeom prst="rect">
            <a:avLst/>
          </a:prstGeom>
          <a:noFill/>
          <a:ln/>
        </p:spPr>
        <p:txBody>
          <a:bodyPr wrap="square" lIns="0" tIns="0" rIns="0" bIns="0" rtlCol="0" anchor="t"/>
          <a:lstStyle/>
          <a:p>
            <a:pPr indent="0" marL="0">
              <a:buNone/>
            </a:pPr>
            <a:r>
              <a:rPr lang="en-US" sz="1350" b="1" dirty="0">
                <a:solidFill>
                  <a:schemeClr val="tx1"/>
                </a:solidFill>
                <a:latin typeface="Inter" panose="02000503000000020004" pitchFamily="34" charset="0"/>
                <a:ea typeface="Inter" panose="02000503000000020004" pitchFamily="34" charset="-122"/>
                <a:cs typeface="Inter" panose="02000503000000020004" pitchFamily="34" charset="-120"/>
              </a:rPr>
              <a:t>The gateway asks which one you mean.</a:t>
            </a:r>
            <a:endParaRPr lang="en-US" sz="1350" dirty="0"/>
          </a:p>
        </p:txBody>
      </p:sp>
      <p:sp>
        <p:nvSpPr>
          <p:cNvPr id="38" name="Clarifying questions status"/>
          <p:cNvSpPr/>
          <p:nvPr/>
        </p:nvSpPr>
        <p:spPr>
          <a:xfrm>
            <a:off x="4754880" y="5596128"/>
            <a:ext cx="1024128" cy="237744"/>
          </a:xfrm>
          <a:prstGeom prst="roundRect">
            <a:avLst>
              <a:gd name="adj" fmla="val 50000"/>
            </a:avLst>
          </a:prstGeom>
          <a:solidFill>
            <a:schemeClr val="accent3"/>
          </a:solidFill>
          <a:ln/>
        </p:spPr>
        <p:txBody>
          <a:bodyPr/>
          <a:p/>
        </p:txBody>
      </p:sp>
      <p:sp>
        <p:nvSpPr>
          <p:cNvPr id="39" name="Clarifying questions status text"/>
          <p:cNvSpPr txBox="1"/>
          <p:nvPr/>
        </p:nvSpPr>
        <p:spPr>
          <a:xfrm>
            <a:off x="4754880" y="5596128"/>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40" name="Text 38"/>
          <p:cNvSpPr txBox="1"/>
          <p:nvPr/>
        </p:nvSpPr>
        <p:spPr>
          <a:xfrm>
            <a:off x="5897880" y="5541264"/>
            <a:ext cx="2057400" cy="457200"/>
          </a:xfrm>
          <a:prstGeom prst="rect">
            <a:avLst/>
          </a:prstGeom>
          <a:noFill/>
          <a:ln/>
        </p:spPr>
        <p:txBody>
          <a:bodyPr wrap="square" lIns="0" tIns="0" rIns="0" bIns="0" rtlCol="0" anchor="t"/>
          <a:lstStyle/>
          <a:p>
            <a:pPr indent="0" marL="0">
              <a:buNone/>
            </a:pPr>
            <a:r>
              <a:rPr lang="en-US" sz="1050" dirty="0">
                <a:solidFill>
                  <a:srgbClr val="5B6577"/>
                </a:solidFill>
                <a:latin typeface="Inter" panose="02000503000000020004" pitchFamily="34" charset="0"/>
                <a:ea typeface="Inter" panose="02000503000000020004" pitchFamily="34" charset="-122"/>
                <a:cs typeface="Inter" panose="02000503000000020004" pitchFamily="34" charset="-120"/>
              </a:rPr>
              <a:t>Official synthetic dataset · stays starting in 2025 · opt-outs excluded</a:t>
            </a:r>
            <a:endParaRPr lang="en-US" sz="1050" dirty="0"/>
          </a:p>
        </p:txBody>
      </p:sp>
      <p:sp>
        <p:nvSpPr>
          <p:cNvPr id="41" name="Realism card"/>
          <p:cNvSpPr/>
          <p:nvPr/>
        </p:nvSpPr>
        <p:spPr>
          <a:xfrm>
            <a:off x="8366760" y="1481328"/>
            <a:ext cx="3136392" cy="4572000"/>
          </a:xfrm>
          <a:prstGeom prst="roundRect">
            <a:avLst>
              <a:gd name="adj" fmla="val 3499"/>
            </a:avLst>
          </a:prstGeom>
          <a:solidFill>
            <a:schemeClr val="accent4"/>
          </a:solidFill>
          <a:ln/>
        </p:spPr>
        <p:txBody>
          <a:bodyPr/>
          <a:p/>
        </p:txBody>
      </p:sp>
      <p:sp>
        <p:nvSpPr>
          <p:cNvPr id="42" name="Text 40"/>
          <p:cNvSpPr txBox="1"/>
          <p:nvPr/>
        </p:nvSpPr>
        <p:spPr>
          <a:xfrm>
            <a:off x="8595360" y="1682496"/>
            <a:ext cx="2743200"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CLINICAL REALISM</a:t>
            </a:r>
            <a:endParaRPr lang="en-US" sz="1050" dirty="0"/>
          </a:p>
        </p:txBody>
      </p:sp>
      <p:sp>
        <p:nvSpPr>
          <p:cNvPr id="43" name="Text 41"/>
          <p:cNvSpPr txBox="1"/>
          <p:nvPr/>
        </p:nvSpPr>
        <p:spPr>
          <a:xfrm>
            <a:off x="8595360" y="2011680"/>
            <a:ext cx="2697480" cy="1188720"/>
          </a:xfrm>
          <a:prstGeom prst="rect">
            <a:avLst/>
          </a:prstGeom>
          <a:noFill/>
          <a:ln/>
        </p:spPr>
        <p:txBody>
          <a:bodyPr wrap="square" lIns="0" tIns="0" rIns="0" bIns="0" rtlCol="0" anchor="t"/>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Synthetic data is cleaner than hospital data. Real records add free text, local codes, mixed units and missing context.</a:t>
            </a:r>
            <a:endParaRPr lang="en-US" sz="1400" dirty="0"/>
          </a:p>
        </p:txBody>
      </p:sp>
      <p:sp>
        <p:nvSpPr>
          <p:cNvPr id="44" name="Text 42"/>
          <p:cNvSpPr txBox="1"/>
          <p:nvPr/>
        </p:nvSpPr>
        <p:spPr>
          <a:xfrm>
            <a:off x="8595360" y="3273552"/>
            <a:ext cx="2697480" cy="274320"/>
          </a:xfrm>
          <a:prstGeom prst="rect">
            <a:avLst/>
          </a:prstGeom>
          <a:noFill/>
          <a:ln/>
        </p:spPr>
        <p:txBody>
          <a:bodyPr wrap="square" lIns="0" tIns="0" rIns="0" bIns="0" rtlCol="0" anchor="t"/>
          <a:lstStyle/>
          <a:p>
            <a:pPr indent="0" marL="0">
              <a:buNone/>
            </a:pPr>
            <a:r>
              <a:rPr lang="en-US" sz="1400" b="1" dirty="0">
                <a:solidFill>
                  <a:schemeClr val="tx1"/>
                </a:solidFill>
                <a:latin typeface="Inter" panose="02000503000000020004" pitchFamily="34" charset="0"/>
                <a:ea typeface="Inter" panose="02000503000000020004" pitchFamily="34" charset="-122"/>
                <a:cs typeface="Inter" panose="02000503000000020004" pitchFamily="34" charset="-120"/>
              </a:rPr>
              <a:t>Before deployment</a:t>
            </a:r>
            <a:endParaRPr lang="en-US" sz="1400" dirty="0"/>
          </a:p>
        </p:txBody>
      </p:sp>
      <p:sp>
        <p:nvSpPr>
          <p:cNvPr id="45" name="Before deployment status"/>
          <p:cNvSpPr/>
          <p:nvPr/>
        </p:nvSpPr>
        <p:spPr>
          <a:xfrm>
            <a:off x="8595360" y="3584448"/>
            <a:ext cx="1024128" cy="237744"/>
          </a:xfrm>
          <a:prstGeom prst="roundRect">
            <a:avLst>
              <a:gd name="adj" fmla="val 50000"/>
            </a:avLst>
          </a:prstGeom>
          <a:ln w="12700">
            <a:solidFill>
              <a:srgbClr val="5B6577"/>
            </a:solidFill>
            <a:prstDash val="dash"/>
          </a:ln>
        </p:spPr>
        <p:txBody>
          <a:bodyPr/>
          <a:p/>
        </p:txBody>
      </p:sp>
      <p:sp>
        <p:nvSpPr>
          <p:cNvPr id="46" name="Before deployment status text"/>
          <p:cNvSpPr txBox="1"/>
          <p:nvPr/>
        </p:nvSpPr>
        <p:spPr>
          <a:xfrm>
            <a:off x="8595360" y="3584448"/>
            <a:ext cx="1024128" cy="237744"/>
          </a:xfrm>
          <a:prstGeom prst="rect">
            <a:avLst/>
          </a:prstGeom>
          <a:noFill/>
          <a:ln/>
        </p:spPr>
        <p:txBody>
          <a:bodyPr wrap="square" lIns="0" tIns="0" rIns="0" bIns="0" rtlCol="0" anchor="ctr"/>
          <a:lstStyle/>
          <a:p>
            <a:pPr algn="ctr" indent="0" marL="0">
              <a:buNone/>
            </a:pPr>
            <a:r>
              <a:rPr lang="en-US" sz="900" b="1" spc="100" kern="0" dirty="0">
                <a:solidFill>
                  <a:srgbClr val="5B6577"/>
                </a:solidFill>
                <a:latin typeface="IBM Plex Mono" panose="020B0509050203000203" pitchFamily="49" charset="0"/>
                <a:ea typeface="IBM Plex Mono" panose="020B0509050203000203" pitchFamily="49" charset="-122"/>
                <a:cs typeface="IBM Plex Mono" panose="020B0509050203000203" pitchFamily="49" charset="-120"/>
              </a:rPr>
              <a:t>FUTURE</a:t>
            </a:r>
            <a:endParaRPr lang="en-US" sz="900" dirty="0"/>
          </a:p>
        </p:txBody>
      </p:sp>
      <p:sp>
        <p:nvSpPr>
          <p:cNvPr id="47" name="Text 45"/>
          <p:cNvSpPr txBox="1"/>
          <p:nvPr/>
        </p:nvSpPr>
        <p:spPr>
          <a:xfrm>
            <a:off x="8595360" y="3913632"/>
            <a:ext cx="2697480" cy="731520"/>
          </a:xfrm>
          <a:prstGeom prst="rect">
            <a:avLst/>
          </a:prstGeom>
          <a:noFill/>
          <a:ln/>
        </p:spPr>
        <p:txBody>
          <a:bodyPr wrap="square" lIns="0" tIns="0" rIns="0" bIns="0" rtlCol="0" anchor="t"/>
          <a:lstStyle/>
          <a:p>
            <a:pPr indent="0" marL="0">
              <a:buNone/>
            </a:pPr>
            <a:r>
              <a:rPr lang="en-US" sz="1400" dirty="0">
                <a:solidFill>
                  <a:schemeClr val="tx1"/>
                </a:solidFill>
                <a:latin typeface="Inter" panose="02000503000000020004" pitchFamily="34" charset="0"/>
                <a:ea typeface="Inter" panose="02000503000000020004" pitchFamily="34" charset="-122"/>
                <a:cs typeface="Inter" panose="02000503000000020004" pitchFamily="34" charset="-120"/>
              </a:rPr>
              <a:t>Harmonisation to OMOP or FHIR, unit checks, and validation on real-world data.</a:t>
            </a:r>
            <a:endParaRPr lang="en-US" sz="1400" dirty="0"/>
          </a:p>
        </p:txBody>
      </p:sp>
      <p:sp>
        <p:nvSpPr>
          <p:cNvPr id="48" name="Text 46"/>
          <p:cNvSpPr txBox="1"/>
          <p:nvPr/>
        </p:nvSpPr>
        <p:spPr>
          <a:xfrm>
            <a:off x="8595360" y="4727448"/>
            <a:ext cx="2697480" cy="1188720"/>
          </a:xfrm>
          <a:prstGeom prst="rect">
            <a:avLst/>
          </a:prstGeom>
          <a:noFill/>
          <a:ln/>
        </p:spPr>
        <p:txBody>
          <a:bodyPr wrap="square" lIns="0" tIns="0" rIns="0" bIns="0" rtlCol="0" anchor="t"/>
          <a:lstStyle/>
          <a:p>
            <a:pPr indent="0" marL="0">
              <a:buNone/>
            </a:pPr>
            <a:r>
              <a:rPr lang="en-US" sz="2000" i="1" dirty="0">
                <a:solidFill>
                  <a:srgbClr val="BC3834"/>
                </a:solidFill>
                <a:latin typeface="Instrument Serif" panose="02020603050405020304" pitchFamily="18" charset="0"/>
                <a:ea typeface="Instrument Serif" panose="02020603050405020304" pitchFamily="18" charset="-122"/>
                <a:cs typeface="Instrument Serif" panose="02020603050405020304" pitchFamily="18" charset="-120"/>
              </a:rPr>
              <a:t>A working prototype is the beginning of clinical validation, not the end.</a:t>
            </a:r>
            <a:endParaRPr lang="en-US" sz="2000" dirty="0"/>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577"/>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685800" y="457200"/>
            <a:ext cx="10817352" cy="274320"/>
          </a:xfrm>
          <a:prstGeom prst="rect">
            <a:avLst/>
          </a:prstGeom>
          <a:noFill/>
          <a:ln/>
        </p:spPr>
        <p:txBody>
          <a:bodyPr wrap="square" lIns="0" tIns="0" rIns="0" bIns="0" rtlCol="0" anchor="ctr"/>
          <a:lstStyle/>
          <a:p>
            <a:pPr indent="0" marL="0">
              <a:buNone/>
            </a:pPr>
            <a:r>
              <a:rPr lang="en-US" sz="1200" spc="200" kern="0"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BACKUP 3  ·  STATISTICAL DISCLOSURE CONTROL</a:t>
            </a:r>
            <a:endParaRPr lang="en-US" sz="1200" dirty="0"/>
          </a:p>
        </p:txBody>
      </p:sp>
      <p:sp>
        <p:nvSpPr>
          <p:cNvPr id="3" name="Text 2"/>
          <p:cNvSpPr/>
          <p:nvPr>
            <p:ph idx="103" type="title" hasCustomPrompt="1"/>
          </p:nvPr>
        </p:nvSpPr>
        <p:spPr>
          <a:xfrm>
            <a:off x="685800" y="749808"/>
            <a:ext cx="10817352" cy="685800"/>
          </a:xfrm>
          <a:prstGeom prst="rect">
            <a:avLst/>
          </a:prstGeom>
          <a:noFill/>
          <a:ln/>
        </p:spPr>
        <p:txBody>
          <a:bodyPr wrap="square" lIns="0" tIns="0" rIns="0" bIns="0" rtlCol="0" anchor="t"/>
          <a:lstStyle/>
          <a:p>
            <a:pPr algn="l" indent="0" marL="0">
              <a:buNone/>
            </a:pPr>
            <a:r>
              <a:rPr lang="en-US" sz="4000" dirty="0">
                <a:solidFill>
                  <a:srgbClr val="0E2848"/>
                </a:solidFill>
                <a:latin typeface="Instrument Serif" panose="02020603050405020304" pitchFamily="18" charset="0"/>
                <a:ea typeface="Instrument Serif" panose="02020603050405020304" pitchFamily="18" charset="-122"/>
                <a:cs typeface="Instrument Serif" panose="02020603050405020304" pitchFamily="18" charset="-120"/>
              </a:rPr>
              <a:t>What we enforce, </a:t>
            </a:r>
            <a:r>
              <a:rPr lang="en-US" sz="4000" i="1" dirty="0">
                <a:solidFill>
                  <a:schemeClr val="accent6"/>
                </a:solidFill>
                <a:latin typeface="Instrument Serif" panose="02020603050405020304" pitchFamily="18" charset="0"/>
                <a:ea typeface="Instrument Serif" panose="02020603050405020304" pitchFamily="18" charset="-122"/>
                <a:cs typeface="Instrument Serif" panose="02020603050405020304" pitchFamily="18" charset="-120"/>
              </a:rPr>
              <a:t>and where it ends</a:t>
            </a:r>
            <a:endParaRPr lang="en-US" sz="4000" dirty="0"/>
          </a:p>
        </p:txBody>
      </p:sp>
      <p:sp>
        <p:nvSpPr>
          <p:cNvPr id="4" name="SDC card 1"/>
          <p:cNvSpPr/>
          <p:nvPr/>
        </p:nvSpPr>
        <p:spPr>
          <a:xfrm>
            <a:off x="685800" y="1481328"/>
            <a:ext cx="3456432" cy="3611880"/>
          </a:xfrm>
          <a:prstGeom prst="roundRect">
            <a:avLst>
              <a:gd name="adj" fmla="val 3175"/>
            </a:avLst>
          </a:prstGeom>
          <a:solidFill>
            <a:schemeClr val="accent3"/>
          </a:solidFill>
          <a:ln/>
        </p:spPr>
        <p:txBody>
          <a:bodyPr/>
          <a:p/>
        </p:txBody>
      </p:sp>
      <p:sp>
        <p:nvSpPr>
          <p:cNvPr id="5" name="Text 3"/>
          <p:cNvSpPr txBox="1"/>
          <p:nvPr/>
        </p:nvSpPr>
        <p:spPr>
          <a:xfrm>
            <a:off x="914400" y="1682496"/>
            <a:ext cx="1993392"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PER ANSWER</a:t>
            </a:r>
            <a:endParaRPr lang="en-US" sz="1050" dirty="0"/>
          </a:p>
        </p:txBody>
      </p:sp>
      <p:sp>
        <p:nvSpPr>
          <p:cNvPr id="6" name="SDC card 1 status"/>
          <p:cNvSpPr/>
          <p:nvPr/>
        </p:nvSpPr>
        <p:spPr>
          <a:xfrm>
            <a:off x="2889504" y="1664208"/>
            <a:ext cx="1024128" cy="237744"/>
          </a:xfrm>
          <a:prstGeom prst="roundRect">
            <a:avLst>
              <a:gd name="adj" fmla="val 50000"/>
            </a:avLst>
          </a:prstGeom>
          <a:solidFill>
            <a:schemeClr val="accent3"/>
          </a:solidFill>
          <a:ln/>
        </p:spPr>
        <p:txBody>
          <a:bodyPr/>
          <a:p/>
        </p:txBody>
      </p:sp>
      <p:sp>
        <p:nvSpPr>
          <p:cNvPr id="7" name="SDC card 1 status text"/>
          <p:cNvSpPr txBox="1"/>
          <p:nvPr/>
        </p:nvSpPr>
        <p:spPr>
          <a:xfrm>
            <a:off x="2889504" y="1664208"/>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8" name="Shape 6"/>
          <p:cNvSpPr/>
          <p:nvPr/>
        </p:nvSpPr>
        <p:spPr>
          <a:xfrm>
            <a:off x="914400" y="2084832"/>
            <a:ext cx="2999232" cy="0"/>
          </a:xfrm>
          <a:prstGeom prst="line">
            <a:avLst/>
          </a:prstGeom>
          <a:noFill/>
          <a:ln w="12700">
            <a:solidFill>
              <a:srgbClr val="C9DDD6"/>
            </a:solidFill>
            <a:prstDash val="solid"/>
          </a:ln>
        </p:spPr>
        <p:txBody>
          <a:bodyPr/>
          <a:p/>
        </p:txBody>
      </p:sp>
      <p:sp>
        <p:nvSpPr>
          <p:cNvPr id="9" name="Text 7"/>
          <p:cNvSpPr txBox="1"/>
          <p:nvPr/>
        </p:nvSpPr>
        <p:spPr>
          <a:xfrm>
            <a:off x="914400" y="2157984"/>
            <a:ext cx="2999232" cy="475488"/>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Counts below 10, including 0, shown as “&lt;10”</a:t>
            </a:r>
            <a:endParaRPr lang="en-US" sz="1350" dirty="0"/>
          </a:p>
        </p:txBody>
      </p:sp>
      <p:sp>
        <p:nvSpPr>
          <p:cNvPr id="10" name="Shape 8"/>
          <p:cNvSpPr/>
          <p:nvPr/>
        </p:nvSpPr>
        <p:spPr>
          <a:xfrm>
            <a:off x="914400" y="2670048"/>
            <a:ext cx="2999232" cy="0"/>
          </a:xfrm>
          <a:prstGeom prst="line">
            <a:avLst/>
          </a:prstGeom>
          <a:noFill/>
          <a:ln w="12700">
            <a:solidFill>
              <a:srgbClr val="C9DDD6"/>
            </a:solidFill>
            <a:prstDash val="solid"/>
          </a:ln>
        </p:spPr>
        <p:txBody>
          <a:bodyPr/>
          <a:p/>
        </p:txBody>
      </p:sp>
      <p:sp>
        <p:nvSpPr>
          <p:cNvPr id="11" name="Text 9"/>
          <p:cNvSpPr txBox="1"/>
          <p:nvPr/>
        </p:nvSpPr>
        <p:spPr>
          <a:xfrm>
            <a:off x="914400" y="2743200"/>
            <a:ext cx="2999232" cy="475488"/>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Percentages hidden if numerator or denominator is below 10</a:t>
            </a:r>
            <a:endParaRPr lang="en-US" sz="1350" dirty="0"/>
          </a:p>
        </p:txBody>
      </p:sp>
      <p:sp>
        <p:nvSpPr>
          <p:cNvPr id="12" name="Shape 10"/>
          <p:cNvSpPr/>
          <p:nvPr/>
        </p:nvSpPr>
        <p:spPr>
          <a:xfrm>
            <a:off x="914400" y="3255264"/>
            <a:ext cx="2999232" cy="0"/>
          </a:xfrm>
          <a:prstGeom prst="line">
            <a:avLst/>
          </a:prstGeom>
          <a:noFill/>
          <a:ln w="12700">
            <a:solidFill>
              <a:srgbClr val="C9DDD6"/>
            </a:solidFill>
            <a:prstDash val="solid"/>
          </a:ln>
        </p:spPr>
        <p:txBody>
          <a:bodyPr/>
          <a:p/>
        </p:txBody>
      </p:sp>
      <p:sp>
        <p:nvSpPr>
          <p:cNvPr id="13" name="Text 11"/>
          <p:cNvSpPr txBox="1"/>
          <p:nvPr/>
        </p:nvSpPr>
        <p:spPr>
          <a:xfrm>
            <a:off x="914400" y="3328416"/>
            <a:ext cx="2999232" cy="475488"/>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Means hidden below 10 patients</a:t>
            </a:r>
            <a:endParaRPr lang="en-US" sz="1350" dirty="0"/>
          </a:p>
        </p:txBody>
      </p:sp>
      <p:sp>
        <p:nvSpPr>
          <p:cNvPr id="14" name="Shape 12"/>
          <p:cNvSpPr/>
          <p:nvPr/>
        </p:nvSpPr>
        <p:spPr>
          <a:xfrm>
            <a:off x="914400" y="3840480"/>
            <a:ext cx="2999232" cy="0"/>
          </a:xfrm>
          <a:prstGeom prst="line">
            <a:avLst/>
          </a:prstGeom>
          <a:noFill/>
          <a:ln w="12700">
            <a:solidFill>
              <a:srgbClr val="C9DDD6"/>
            </a:solidFill>
            <a:prstDash val="solid"/>
          </a:ln>
        </p:spPr>
        <p:txBody>
          <a:bodyPr/>
          <a:p/>
        </p:txBody>
      </p:sp>
      <p:sp>
        <p:nvSpPr>
          <p:cNvPr id="15" name="Text 13"/>
          <p:cNvSpPr txBox="1"/>
          <p:nvPr/>
        </p:nvSpPr>
        <p:spPr>
          <a:xfrm>
            <a:off x="914400" y="3913632"/>
            <a:ext cx="2999232" cy="475488"/>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Every requested group shown, even if empty</a:t>
            </a:r>
            <a:endParaRPr lang="en-US" sz="1350" dirty="0"/>
          </a:p>
        </p:txBody>
      </p:sp>
      <p:sp>
        <p:nvSpPr>
          <p:cNvPr id="16" name="Shape 14"/>
          <p:cNvSpPr/>
          <p:nvPr/>
        </p:nvSpPr>
        <p:spPr>
          <a:xfrm>
            <a:off x="914400" y="4425696"/>
            <a:ext cx="2999232" cy="0"/>
          </a:xfrm>
          <a:prstGeom prst="line">
            <a:avLst/>
          </a:prstGeom>
          <a:noFill/>
          <a:ln w="12700">
            <a:solidFill>
              <a:srgbClr val="C9DDD6"/>
            </a:solidFill>
            <a:prstDash val="solid"/>
          </a:ln>
        </p:spPr>
        <p:txBody>
          <a:bodyPr/>
          <a:p/>
        </p:txBody>
      </p:sp>
      <p:sp>
        <p:nvSpPr>
          <p:cNvPr id="17" name="Text 15"/>
          <p:cNvSpPr txBox="1"/>
          <p:nvPr/>
        </p:nvSpPr>
        <p:spPr>
          <a:xfrm>
            <a:off x="914400" y="4498848"/>
            <a:ext cx="2999232" cy="475488"/>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All 839 opted-out patients excluded</a:t>
            </a:r>
            <a:endParaRPr lang="en-US" sz="1350" dirty="0"/>
          </a:p>
        </p:txBody>
      </p:sp>
      <p:sp>
        <p:nvSpPr>
          <p:cNvPr id="18" name="SDC card 2"/>
          <p:cNvSpPr/>
          <p:nvPr/>
        </p:nvSpPr>
        <p:spPr>
          <a:xfrm>
            <a:off x="4366260" y="1481328"/>
            <a:ext cx="3456432" cy="3611880"/>
          </a:xfrm>
          <a:prstGeom prst="roundRect">
            <a:avLst>
              <a:gd name="adj" fmla="val 3175"/>
            </a:avLst>
          </a:prstGeom>
          <a:solidFill>
            <a:schemeClr val="accent4"/>
          </a:solidFill>
          <a:ln/>
        </p:spPr>
        <p:txBody>
          <a:bodyPr/>
          <a:p/>
        </p:txBody>
      </p:sp>
      <p:sp>
        <p:nvSpPr>
          <p:cNvPr id="19" name="Text 17"/>
          <p:cNvSpPr txBox="1"/>
          <p:nvPr/>
        </p:nvSpPr>
        <p:spPr>
          <a:xfrm>
            <a:off x="4594860" y="1682496"/>
            <a:ext cx="1993392"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ACROSS ANSWERS</a:t>
            </a:r>
            <a:endParaRPr lang="en-US" sz="1050" dirty="0"/>
          </a:p>
        </p:txBody>
      </p:sp>
      <p:sp>
        <p:nvSpPr>
          <p:cNvPr id="20" name="SDC card 2 status"/>
          <p:cNvSpPr/>
          <p:nvPr/>
        </p:nvSpPr>
        <p:spPr>
          <a:xfrm>
            <a:off x="6569964" y="1664208"/>
            <a:ext cx="1024128" cy="237744"/>
          </a:xfrm>
          <a:prstGeom prst="roundRect">
            <a:avLst>
              <a:gd name="adj" fmla="val 50000"/>
            </a:avLst>
          </a:prstGeom>
          <a:solidFill>
            <a:schemeClr val="accent3"/>
          </a:solidFill>
          <a:ln/>
        </p:spPr>
        <p:txBody>
          <a:bodyPr/>
          <a:p/>
        </p:txBody>
      </p:sp>
      <p:sp>
        <p:nvSpPr>
          <p:cNvPr id="21" name="SDC card 2 status text"/>
          <p:cNvSpPr txBox="1"/>
          <p:nvPr/>
        </p:nvSpPr>
        <p:spPr>
          <a:xfrm>
            <a:off x="6569964" y="1664208"/>
            <a:ext cx="1024128" cy="237744"/>
          </a:xfrm>
          <a:prstGeom prst="rect">
            <a:avLst/>
          </a:prstGeom>
          <a:noFill/>
          <a:ln/>
        </p:spPr>
        <p:txBody>
          <a:bodyPr wrap="square" lIns="0" tIns="0" rIns="0" bIns="0" rtlCol="0" anchor="ctr"/>
          <a:lstStyle/>
          <a:p>
            <a:pPr algn="ctr" indent="0" marL="0">
              <a:buNone/>
            </a:pPr>
            <a:r>
              <a:rPr lang="en-US" sz="900" b="1" spc="100" kern="0" dirty="0">
                <a:solidFill>
                  <a:srgbClr val="1E6A55"/>
                </a:solidFill>
                <a:latin typeface="IBM Plex Mono" panose="020B0509050203000203" pitchFamily="49" charset="0"/>
                <a:ea typeface="IBM Plex Mono" panose="020B0509050203000203" pitchFamily="49" charset="-122"/>
                <a:cs typeface="IBM Plex Mono" panose="020B0509050203000203" pitchFamily="49" charset="-120"/>
              </a:rPr>
              <a:t>WORKING</a:t>
            </a:r>
            <a:endParaRPr lang="en-US" sz="900" dirty="0"/>
          </a:p>
        </p:txBody>
      </p:sp>
      <p:sp>
        <p:nvSpPr>
          <p:cNvPr id="22" name="Shape 20"/>
          <p:cNvSpPr/>
          <p:nvPr/>
        </p:nvSpPr>
        <p:spPr>
          <a:xfrm>
            <a:off x="4594860" y="2084832"/>
            <a:ext cx="2999232" cy="0"/>
          </a:xfrm>
          <a:prstGeom prst="line">
            <a:avLst/>
          </a:prstGeom>
          <a:noFill/>
          <a:ln w="12700">
            <a:solidFill>
              <a:srgbClr val="EBCFC4"/>
            </a:solidFill>
            <a:prstDash val="solid"/>
          </a:ln>
        </p:spPr>
        <p:txBody>
          <a:bodyPr/>
          <a:p/>
        </p:txBody>
      </p:sp>
      <p:sp>
        <p:nvSpPr>
          <p:cNvPr id="23" name="Text 21"/>
          <p:cNvSpPr txBox="1"/>
          <p:nvPr/>
        </p:nvSpPr>
        <p:spPr>
          <a:xfrm>
            <a:off x="4594860" y="2157984"/>
            <a:ext cx="2999232" cy="621792"/>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Built: a disclosure ledger records every released result</a:t>
            </a:r>
            <a:endParaRPr lang="en-US" sz="1350" dirty="0"/>
          </a:p>
        </p:txBody>
      </p:sp>
      <p:sp>
        <p:nvSpPr>
          <p:cNvPr id="24" name="Shape 22"/>
          <p:cNvSpPr/>
          <p:nvPr/>
        </p:nvSpPr>
        <p:spPr>
          <a:xfrm>
            <a:off x="4594860" y="2816352"/>
            <a:ext cx="2999232" cy="0"/>
          </a:xfrm>
          <a:prstGeom prst="line">
            <a:avLst/>
          </a:prstGeom>
          <a:noFill/>
          <a:ln w="12700">
            <a:solidFill>
              <a:srgbClr val="EBCFC4"/>
            </a:solidFill>
            <a:prstDash val="solid"/>
          </a:ln>
        </p:spPr>
        <p:txBody>
          <a:bodyPr/>
          <a:p/>
        </p:txBody>
      </p:sp>
      <p:sp>
        <p:nvSpPr>
          <p:cNvPr id="25" name="Text 23"/>
          <p:cNvSpPr txBox="1"/>
          <p:nvPr/>
        </p:nvSpPr>
        <p:spPr>
          <a:xfrm>
            <a:off x="4594860" y="2889504"/>
            <a:ext cx="2999232" cy="621792"/>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Each new result is compared with everything released before, to any applicant</a:t>
            </a:r>
            <a:endParaRPr lang="en-US" sz="1350" dirty="0"/>
          </a:p>
        </p:txBody>
      </p:sp>
      <p:sp>
        <p:nvSpPr>
          <p:cNvPr id="26" name="Shape 24"/>
          <p:cNvSpPr/>
          <p:nvPr/>
        </p:nvSpPr>
        <p:spPr>
          <a:xfrm>
            <a:off x="4594860" y="3547872"/>
            <a:ext cx="2999232" cy="0"/>
          </a:xfrm>
          <a:prstGeom prst="line">
            <a:avLst/>
          </a:prstGeom>
          <a:noFill/>
          <a:ln w="12700">
            <a:solidFill>
              <a:srgbClr val="EBCFC4"/>
            </a:solidFill>
            <a:prstDash val="solid"/>
          </a:ln>
        </p:spPr>
        <p:txBody>
          <a:bodyPr/>
          <a:p/>
        </p:txBody>
      </p:sp>
      <p:sp>
        <p:nvSpPr>
          <p:cNvPr id="27" name="Text 25"/>
          <p:cNvSpPr txBox="1"/>
          <p:nvPr/>
        </p:nvSpPr>
        <p:spPr>
          <a:xfrm>
            <a:off x="4594860" y="3621024"/>
            <a:ext cx="2999232" cy="621792"/>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Withheld when one population contains the other and they differ by fewer than 10, including 0</a:t>
            </a:r>
            <a:endParaRPr lang="en-US" sz="1350" dirty="0"/>
          </a:p>
        </p:txBody>
      </p:sp>
      <p:sp>
        <p:nvSpPr>
          <p:cNvPr id="28" name="Shape 26"/>
          <p:cNvSpPr/>
          <p:nvPr/>
        </p:nvSpPr>
        <p:spPr>
          <a:xfrm>
            <a:off x="4594860" y="4279392"/>
            <a:ext cx="2999232" cy="0"/>
          </a:xfrm>
          <a:prstGeom prst="line">
            <a:avLst/>
          </a:prstGeom>
          <a:noFill/>
          <a:ln w="12700">
            <a:solidFill>
              <a:srgbClr val="EBCFC4"/>
            </a:solidFill>
            <a:prstDash val="solid"/>
          </a:ln>
        </p:spPr>
        <p:txBody>
          <a:bodyPr/>
          <a:p/>
        </p:txBody>
      </p:sp>
      <p:sp>
        <p:nvSpPr>
          <p:cNvPr id="29" name="Text 27"/>
          <p:cNvSpPr txBox="1"/>
          <p:nvPr/>
        </p:nvSpPr>
        <p:spPr>
          <a:xfrm>
            <a:off x="4594860" y="4352544"/>
            <a:ext cx="2999232" cy="621792"/>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Tested: subset and complement pairs, other applicants, reruns (pytest)</a:t>
            </a:r>
            <a:endParaRPr lang="en-US" sz="1350" dirty="0"/>
          </a:p>
        </p:txBody>
      </p:sp>
      <p:sp>
        <p:nvSpPr>
          <p:cNvPr id="30" name="SDC card 3"/>
          <p:cNvSpPr/>
          <p:nvPr/>
        </p:nvSpPr>
        <p:spPr>
          <a:xfrm>
            <a:off x="8046720" y="1481328"/>
            <a:ext cx="3456432" cy="3611880"/>
          </a:xfrm>
          <a:prstGeom prst="roundRect">
            <a:avLst>
              <a:gd name="adj" fmla="val 3175"/>
            </a:avLst>
          </a:prstGeom>
          <a:solidFill>
            <a:schemeClr val="bg2"/>
          </a:solidFill>
          <a:ln/>
        </p:spPr>
        <p:txBody>
          <a:bodyPr/>
          <a:p/>
        </p:txBody>
      </p:sp>
      <p:sp>
        <p:nvSpPr>
          <p:cNvPr id="31" name="Text 29"/>
          <p:cNvSpPr txBox="1"/>
          <p:nvPr/>
        </p:nvSpPr>
        <p:spPr>
          <a:xfrm>
            <a:off x="8275320" y="1682496"/>
            <a:ext cx="1993392"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WHERE IT ENDS</a:t>
            </a:r>
            <a:endParaRPr lang="en-US" sz="1050" dirty="0"/>
          </a:p>
        </p:txBody>
      </p:sp>
      <p:sp>
        <p:nvSpPr>
          <p:cNvPr id="32" name="Shape 30"/>
          <p:cNvSpPr/>
          <p:nvPr/>
        </p:nvSpPr>
        <p:spPr>
          <a:xfrm>
            <a:off x="8275320" y="2084832"/>
            <a:ext cx="2999232" cy="0"/>
          </a:xfrm>
          <a:prstGeom prst="line">
            <a:avLst/>
          </a:prstGeom>
          <a:noFill/>
          <a:ln w="12700">
            <a:solidFill>
              <a:srgbClr val="DDD9D1"/>
            </a:solidFill>
            <a:prstDash val="solid"/>
          </a:ln>
        </p:spPr>
        <p:txBody>
          <a:bodyPr/>
          <a:p/>
        </p:txBody>
      </p:sp>
      <p:sp>
        <p:nvSpPr>
          <p:cNvPr id="33" name="Text 31"/>
          <p:cNvSpPr txBox="1"/>
          <p:nvPr/>
        </p:nvSpPr>
        <p:spPr>
          <a:xfrm>
            <a:off x="8275320" y="2157984"/>
            <a:ext cx="2999232" cy="365760"/>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Overlapping, non-nested queries</a:t>
            </a:r>
            <a:endParaRPr lang="en-US" sz="1350" dirty="0"/>
          </a:p>
        </p:txBody>
      </p:sp>
      <p:sp>
        <p:nvSpPr>
          <p:cNvPr id="34" name="Shape 32"/>
          <p:cNvSpPr/>
          <p:nvPr/>
        </p:nvSpPr>
        <p:spPr>
          <a:xfrm>
            <a:off x="8275320" y="2560320"/>
            <a:ext cx="2999232" cy="0"/>
          </a:xfrm>
          <a:prstGeom prst="line">
            <a:avLst/>
          </a:prstGeom>
          <a:noFill/>
          <a:ln w="12700">
            <a:solidFill>
              <a:srgbClr val="DDD9D1"/>
            </a:solidFill>
            <a:prstDash val="solid"/>
          </a:ln>
        </p:spPr>
        <p:txBody>
          <a:bodyPr/>
          <a:p/>
        </p:txBody>
      </p:sp>
      <p:sp>
        <p:nvSpPr>
          <p:cNvPr id="35" name="Text 33"/>
          <p:cNvSpPr txBox="1"/>
          <p:nvPr/>
        </p:nvSpPr>
        <p:spPr>
          <a:xfrm>
            <a:off x="8275320" y="2633472"/>
            <a:ext cx="2999232" cy="365760"/>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Chains of three or more answers</a:t>
            </a:r>
            <a:endParaRPr lang="en-US" sz="1350" dirty="0"/>
          </a:p>
        </p:txBody>
      </p:sp>
      <p:sp>
        <p:nvSpPr>
          <p:cNvPr id="36" name="Shape 34"/>
          <p:cNvSpPr/>
          <p:nvPr/>
        </p:nvSpPr>
        <p:spPr>
          <a:xfrm>
            <a:off x="8275320" y="3035808"/>
            <a:ext cx="2999232" cy="0"/>
          </a:xfrm>
          <a:prstGeom prst="line">
            <a:avLst/>
          </a:prstGeom>
          <a:noFill/>
          <a:ln w="12700">
            <a:solidFill>
              <a:srgbClr val="DDD9D1"/>
            </a:solidFill>
            <a:prstDash val="solid"/>
          </a:ln>
        </p:spPr>
        <p:txBody>
          <a:bodyPr/>
          <a:p/>
        </p:txBody>
      </p:sp>
      <p:sp>
        <p:nvSpPr>
          <p:cNvPr id="37" name="Text 35"/>
          <p:cNvSpPr txBox="1"/>
          <p:nvPr/>
        </p:nvSpPr>
        <p:spPr>
          <a:xfrm>
            <a:off x="8275320" y="3108960"/>
            <a:ext cx="2999232" cy="365760"/>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Several applicants combining results</a:t>
            </a:r>
            <a:endParaRPr lang="en-US" sz="1350" dirty="0"/>
          </a:p>
        </p:txBody>
      </p:sp>
      <p:sp>
        <p:nvSpPr>
          <p:cNvPr id="38" name="Shape 36"/>
          <p:cNvSpPr/>
          <p:nvPr/>
        </p:nvSpPr>
        <p:spPr>
          <a:xfrm>
            <a:off x="8275320" y="3511296"/>
            <a:ext cx="2999232" cy="0"/>
          </a:xfrm>
          <a:prstGeom prst="line">
            <a:avLst/>
          </a:prstGeom>
          <a:noFill/>
          <a:ln w="12700">
            <a:solidFill>
              <a:srgbClr val="DDD9D1"/>
            </a:solidFill>
            <a:prstDash val="solid"/>
          </a:ln>
        </p:spPr>
        <p:txBody>
          <a:bodyPr/>
          <a:p/>
        </p:txBody>
      </p:sp>
      <p:sp>
        <p:nvSpPr>
          <p:cNvPr id="39" name="Text 37"/>
          <p:cNvSpPr txBox="1"/>
          <p:nvPr/>
        </p:nvSpPr>
        <p:spPr>
          <a:xfrm>
            <a:off x="8275320" y="3584448"/>
            <a:ext cx="2999232" cy="365760"/>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Outside knowledge about individuals</a:t>
            </a:r>
            <a:endParaRPr lang="en-US" sz="1350" dirty="0"/>
          </a:p>
        </p:txBody>
      </p:sp>
      <p:sp>
        <p:nvSpPr>
          <p:cNvPr id="40" name="Next measures"/>
          <p:cNvSpPr/>
          <p:nvPr/>
        </p:nvSpPr>
        <p:spPr>
          <a:xfrm>
            <a:off x="8183880" y="4059936"/>
            <a:ext cx="3182112" cy="896112"/>
          </a:xfrm>
          <a:prstGeom prst="roundRect">
            <a:avLst>
              <a:gd name="adj" fmla="val 10204"/>
            </a:avLst>
          </a:prstGeom>
          <a:solidFill>
            <a:schemeClr val="bg1"/>
          </a:solidFill>
          <a:ln/>
        </p:spPr>
        <p:txBody>
          <a:bodyPr/>
          <a:p/>
        </p:txBody>
      </p:sp>
      <p:sp>
        <p:nvSpPr>
          <p:cNvPr id="41" name="Text 39"/>
          <p:cNvSpPr txBox="1"/>
          <p:nvPr/>
        </p:nvSpPr>
        <p:spPr>
          <a:xfrm>
            <a:off x="8339328" y="4187952"/>
            <a:ext cx="914400" cy="219456"/>
          </a:xfrm>
          <a:prstGeom prst="rect">
            <a:avLst/>
          </a:prstGeom>
          <a:noFill/>
          <a:ln/>
        </p:spPr>
        <p:txBody>
          <a:bodyPr wrap="square" lIns="0" tIns="0" rIns="0" bIns="0" rtlCol="0" anchor="t"/>
          <a:lstStyle/>
          <a:p>
            <a:pPr indent="0" marL="0">
              <a:buNone/>
            </a:pPr>
            <a:r>
              <a:rPr lang="en-US" sz="100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NEXT</a:t>
            </a:r>
            <a:endParaRPr lang="en-US" sz="1000" dirty="0"/>
          </a:p>
        </p:txBody>
      </p:sp>
      <p:sp>
        <p:nvSpPr>
          <p:cNvPr id="42" name="Next measures status"/>
          <p:cNvSpPr/>
          <p:nvPr/>
        </p:nvSpPr>
        <p:spPr>
          <a:xfrm>
            <a:off x="10186416" y="4169664"/>
            <a:ext cx="1024128" cy="237744"/>
          </a:xfrm>
          <a:prstGeom prst="roundRect">
            <a:avLst>
              <a:gd name="adj" fmla="val 50000"/>
            </a:avLst>
          </a:prstGeom>
          <a:ln w="12700">
            <a:solidFill>
              <a:srgbClr val="5B6577"/>
            </a:solidFill>
            <a:prstDash val="dash"/>
          </a:ln>
        </p:spPr>
        <p:txBody>
          <a:bodyPr/>
          <a:p/>
        </p:txBody>
      </p:sp>
      <p:sp>
        <p:nvSpPr>
          <p:cNvPr id="43" name="Next measures status text"/>
          <p:cNvSpPr txBox="1"/>
          <p:nvPr/>
        </p:nvSpPr>
        <p:spPr>
          <a:xfrm>
            <a:off x="10186416" y="4169664"/>
            <a:ext cx="1024128" cy="237744"/>
          </a:xfrm>
          <a:prstGeom prst="rect">
            <a:avLst/>
          </a:prstGeom>
          <a:noFill/>
          <a:ln/>
        </p:spPr>
        <p:txBody>
          <a:bodyPr wrap="square" lIns="0" tIns="0" rIns="0" bIns="0" rtlCol="0" anchor="ctr"/>
          <a:lstStyle/>
          <a:p>
            <a:pPr algn="ctr" indent="0" marL="0">
              <a:buNone/>
            </a:pPr>
            <a:r>
              <a:rPr lang="en-US" sz="900" b="1" spc="100" kern="0" dirty="0">
                <a:solidFill>
                  <a:srgbClr val="5B6577"/>
                </a:solidFill>
                <a:latin typeface="IBM Plex Mono" panose="020B0509050203000203" pitchFamily="49" charset="0"/>
                <a:ea typeface="IBM Plex Mono" panose="020B0509050203000203" pitchFamily="49" charset="-122"/>
                <a:cs typeface="IBM Plex Mono" panose="020B0509050203000203" pitchFamily="49" charset="-120"/>
              </a:rPr>
              <a:t>FUTURE</a:t>
            </a:r>
            <a:endParaRPr lang="en-US" sz="900" dirty="0"/>
          </a:p>
        </p:txBody>
      </p:sp>
      <p:sp>
        <p:nvSpPr>
          <p:cNvPr id="44" name="Text 42"/>
          <p:cNvSpPr txBox="1"/>
          <p:nvPr/>
        </p:nvSpPr>
        <p:spPr>
          <a:xfrm>
            <a:off x="8339328" y="4462272"/>
            <a:ext cx="2871216" cy="384048"/>
          </a:xfrm>
          <a:prstGeom prst="rect">
            <a:avLst/>
          </a:prstGeom>
          <a:noFill/>
          <a:ln/>
        </p:spPr>
        <p:txBody>
          <a:bodyPr wrap="square" lIns="0" tIns="0" rIns="0" bIns="0" rtlCol="0" anchor="t"/>
          <a:lstStyle/>
          <a:p>
            <a:pPr indent="0" marL="0">
              <a:buNone/>
            </a:pPr>
            <a:r>
              <a:rPr lang="en-US" sz="1200" dirty="0">
                <a:solidFill>
                  <a:schemeClr val="tx1"/>
                </a:solidFill>
                <a:latin typeface="Inter" panose="02000503000000020004" pitchFamily="34" charset="0"/>
                <a:ea typeface="Inter" panose="02000503000000020004" pitchFamily="34" charset="-122"/>
                <a:cs typeface="Inter" panose="02000503000000020004" pitchFamily="34" charset="-120"/>
              </a:rPr>
              <a:t>Query budgets, staff output checks, noise for high-risk outputs</a:t>
            </a:r>
            <a:endParaRPr lang="en-US" sz="1200" dirty="0"/>
          </a:p>
        </p:txBody>
      </p:sp>
      <p:sp>
        <p:nvSpPr>
          <p:cNvPr id="45" name="Verified examples"/>
          <p:cNvSpPr/>
          <p:nvPr/>
        </p:nvSpPr>
        <p:spPr>
          <a:xfrm>
            <a:off x="685800" y="5285232"/>
            <a:ext cx="10817352" cy="841248"/>
          </a:xfrm>
          <a:prstGeom prst="roundRect">
            <a:avLst>
              <a:gd name="adj" fmla="val 13043"/>
            </a:avLst>
          </a:prstGeom>
          <a:solidFill>
            <a:schemeClr val="accent2"/>
          </a:solidFill>
          <a:ln/>
        </p:spPr>
        <p:txBody>
          <a:bodyPr/>
          <a:p/>
        </p:txBody>
      </p:sp>
      <p:sp>
        <p:nvSpPr>
          <p:cNvPr id="46" name="Text 44"/>
          <p:cNvSpPr txBox="1"/>
          <p:nvPr/>
        </p:nvSpPr>
        <p:spPr>
          <a:xfrm>
            <a:off x="914400" y="5394960"/>
            <a:ext cx="5486400"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VERIFIED ON THE OFFICIAL SYNTHETIC DATASET</a:t>
            </a:r>
            <a:endParaRPr lang="en-US" sz="1050" dirty="0"/>
          </a:p>
        </p:txBody>
      </p:sp>
      <p:sp>
        <p:nvSpPr>
          <p:cNvPr id="47" name="Text 45"/>
          <p:cNvSpPr txBox="1"/>
          <p:nvPr/>
        </p:nvSpPr>
        <p:spPr>
          <a:xfrm>
            <a:off x="914400" y="5687568"/>
            <a:ext cx="10424160" cy="310896"/>
          </a:xfrm>
          <a:prstGeom prst="rect">
            <a:avLst/>
          </a:prstGeom>
          <a:noFill/>
          <a:ln/>
        </p:spPr>
        <p:txBody>
          <a:bodyPr wrap="square" lIns="0" tIns="0" rIns="0" bIns="0" rtlCol="0" anchor="t"/>
          <a:lstStyle/>
          <a:p>
            <a:pPr indent="0" marL="0">
              <a:buNone/>
            </a:pPr>
            <a:r>
              <a:rPr lang="en-US" sz="1350" dirty="0">
                <a:solidFill>
                  <a:schemeClr val="tx1"/>
                </a:solidFill>
                <a:latin typeface="Inter" panose="02000503000000020004" pitchFamily="34" charset="0"/>
                <a:ea typeface="Inter" panose="02000503000000020004" pitchFamily="34" charset="-122"/>
                <a:cs typeface="Inter" panose="02000503000000020004" pitchFamily="34" charset="-120"/>
              </a:rPr>
              <a:t>Women aged 45 to 74 with breast cancer: 72 − 71 = 1   ·   All ages: 114 − 112 = 2   ·   Official R08 answer: Burgenland “&lt;10”</a:t>
            </a:r>
            <a:endParaRPr lang="en-US" sz="1350" dirty="0"/>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577"/>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685800" y="457200"/>
            <a:ext cx="10817352" cy="274320"/>
          </a:xfrm>
          <a:prstGeom prst="rect">
            <a:avLst/>
          </a:prstGeom>
          <a:noFill/>
          <a:ln/>
        </p:spPr>
        <p:txBody>
          <a:bodyPr wrap="square" lIns="0" tIns="0" rIns="0" bIns="0" rtlCol="0" anchor="ctr"/>
          <a:lstStyle/>
          <a:p>
            <a:pPr indent="0" marL="0">
              <a:buNone/>
            </a:pPr>
            <a:r>
              <a:rPr lang="en-US" sz="1200" spc="200" kern="0" dirty="0">
                <a:solidFill>
                  <a:srgbClr val="4B4DB8"/>
                </a:solidFill>
                <a:latin typeface="IBM Plex Mono" panose="020B0509050203000203" pitchFamily="49" charset="0"/>
                <a:ea typeface="IBM Plex Mono" panose="020B0509050203000203" pitchFamily="49" charset="-122"/>
                <a:cs typeface="IBM Plex Mono" panose="020B0509050203000203" pitchFamily="49" charset="-120"/>
              </a:rPr>
              <a:t>BACKUP 4  ·  OFFICIAL METRICS AND ROADMAP  ·  MEASURED WITH evaluate.py</a:t>
            </a:r>
            <a:endParaRPr lang="en-US" sz="1200" dirty="0"/>
          </a:p>
        </p:txBody>
      </p:sp>
      <p:sp>
        <p:nvSpPr>
          <p:cNvPr id="3" name="Text 2"/>
          <p:cNvSpPr/>
          <p:nvPr>
            <p:ph idx="103" type="title" hasCustomPrompt="1"/>
          </p:nvPr>
        </p:nvSpPr>
        <p:spPr>
          <a:xfrm>
            <a:off x="685800" y="749808"/>
            <a:ext cx="10817352" cy="685800"/>
          </a:xfrm>
          <a:prstGeom prst="rect">
            <a:avLst/>
          </a:prstGeom>
          <a:noFill/>
          <a:ln/>
        </p:spPr>
        <p:txBody>
          <a:bodyPr wrap="square" lIns="0" tIns="0" rIns="0" bIns="0" rtlCol="0" anchor="t"/>
          <a:lstStyle/>
          <a:p>
            <a:pPr algn="l" indent="0" marL="0">
              <a:buNone/>
            </a:pPr>
            <a:r>
              <a:rPr lang="en-US" sz="4000" dirty="0">
                <a:solidFill>
                  <a:srgbClr val="0E2848"/>
                </a:solidFill>
                <a:latin typeface="Instrument Serif" panose="02020603050405020304" pitchFamily="18" charset="0"/>
                <a:ea typeface="Instrument Serif" panose="02020603050405020304" pitchFamily="18" charset="-122"/>
                <a:cs typeface="Instrument Serif" panose="02020603050405020304" pitchFamily="18" charset="-120"/>
              </a:rPr>
              <a:t>Measured results, </a:t>
            </a:r>
            <a:r>
              <a:rPr lang="en-US" sz="4000" i="1" dirty="0">
                <a:solidFill>
                  <a:schemeClr val="accent6"/>
                </a:solidFill>
                <a:latin typeface="Instrument Serif" panose="02020603050405020304" pitchFamily="18" charset="0"/>
                <a:ea typeface="Instrument Serif" panose="02020603050405020304" pitchFamily="18" charset="-122"/>
                <a:cs typeface="Instrument Serif" panose="02020603050405020304" pitchFamily="18" charset="-120"/>
              </a:rPr>
              <a:t>then the road ahead</a:t>
            </a:r>
            <a:endParaRPr lang="en-US" sz="4000" dirty="0"/>
          </a:p>
        </p:txBody>
      </p:sp>
      <p:sp>
        <p:nvSpPr>
          <p:cNvPr id="4" name="Text 2"/>
          <p:cNvSpPr txBox="1"/>
          <p:nvPr/>
        </p:nvSpPr>
        <p:spPr>
          <a:xfrm>
            <a:off x="685800" y="1517904"/>
            <a:ext cx="5943600"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OFFICIAL CHALLENGE METRICS  ·  THE 10 REQUESTS</a:t>
            </a:r>
            <a:endParaRPr lang="en-US" sz="1050" dirty="0"/>
          </a:p>
        </p:txBody>
      </p:sp>
      <p:sp>
        <p:nvSpPr>
          <p:cNvPr id="5" name="Metric 1"/>
          <p:cNvSpPr/>
          <p:nvPr/>
        </p:nvSpPr>
        <p:spPr>
          <a:xfrm>
            <a:off x="685800" y="1874520"/>
            <a:ext cx="1810512" cy="1389888"/>
          </a:xfrm>
          <a:prstGeom prst="roundRect">
            <a:avLst>
              <a:gd name="adj" fmla="val 7895"/>
            </a:avLst>
          </a:prstGeom>
          <a:solidFill>
            <a:schemeClr val="bg2"/>
          </a:solidFill>
          <a:ln/>
        </p:spPr>
        <p:txBody>
          <a:bodyPr/>
          <a:p/>
        </p:txBody>
      </p:sp>
      <p:sp>
        <p:nvSpPr>
          <p:cNvPr id="6" name="Text 4"/>
          <p:cNvSpPr txBox="1"/>
          <p:nvPr/>
        </p:nvSpPr>
        <p:spPr>
          <a:xfrm>
            <a:off x="868680" y="2020824"/>
            <a:ext cx="1490472" cy="274320"/>
          </a:xfrm>
          <a:prstGeom prst="rect">
            <a:avLst/>
          </a:prstGeom>
          <a:noFill/>
          <a:ln/>
        </p:spPr>
        <p:txBody>
          <a:bodyPr wrap="square" lIns="0" tIns="0" rIns="0" bIns="0" rtlCol="0" anchor="t"/>
          <a:lstStyle/>
          <a:p>
            <a:pPr indent="0" marL="0">
              <a:buNone/>
            </a:pPr>
            <a:r>
              <a:rPr lang="en-US" sz="1350" b="1" dirty="0">
                <a:solidFill>
                  <a:schemeClr val="tx1"/>
                </a:solidFill>
                <a:latin typeface="Inter" panose="02000503000000020004" pitchFamily="34" charset="0"/>
                <a:ea typeface="Inter" panose="02000503000000020004" pitchFamily="34" charset="-122"/>
                <a:cs typeface="Inter" panose="02000503000000020004" pitchFamily="34" charset="-120"/>
              </a:rPr>
              <a:t>Correct decisions</a:t>
            </a:r>
            <a:endParaRPr lang="en-US" sz="1350" dirty="0"/>
          </a:p>
        </p:txBody>
      </p:sp>
      <p:sp>
        <p:nvSpPr>
          <p:cNvPr id="7" name="Text 5"/>
          <p:cNvSpPr txBox="1"/>
          <p:nvPr/>
        </p:nvSpPr>
        <p:spPr>
          <a:xfrm>
            <a:off x="868680" y="2295144"/>
            <a:ext cx="1490472" cy="237744"/>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Target 10 of 10</a:t>
            </a:r>
            <a:endParaRPr lang="en-US" sz="1200" dirty="0"/>
          </a:p>
        </p:txBody>
      </p:sp>
      <p:sp>
        <p:nvSpPr>
          <p:cNvPr id="8" name="Metric result 1"/>
          <p:cNvSpPr/>
          <p:nvPr/>
        </p:nvSpPr>
        <p:spPr>
          <a:xfrm>
            <a:off x="868680" y="2642616"/>
            <a:ext cx="1444752" cy="438912"/>
          </a:xfrm>
          <a:prstGeom prst="roundRect">
            <a:avLst>
              <a:gd name="adj" fmla="val 16667"/>
            </a:avLst>
          </a:prstGeom>
          <a:solidFill>
            <a:srgbClr val="FFFFFF"/>
          </a:solidFill>
          <a:ln w="12700">
            <a:solidFill>
              <a:srgbClr val="BC3834"/>
            </a:solidFill>
            <a:prstDash val="dash"/>
          </a:ln>
        </p:spPr>
        <p:txBody>
          <a:bodyPr/>
          <a:p/>
        </p:txBody>
      </p:sp>
      <p:sp>
        <p:nvSpPr>
          <p:cNvPr id="9" name="Text 7"/>
          <p:cNvSpPr txBox="1"/>
          <p:nvPr/>
        </p:nvSpPr>
        <p:spPr>
          <a:xfrm>
            <a:off x="960120" y="2642616"/>
            <a:ext cx="1261872" cy="438912"/>
          </a:xfrm>
          <a:prstGeom prst="rect">
            <a:avLst/>
          </a:prstGeom>
          <a:noFill/>
          <a:ln/>
        </p:spPr>
        <p:txBody>
          <a:bodyPr wrap="square" lIns="0" tIns="0" rIns="0" bIns="0" rtlCol="0" anchor="ctr"/>
          <a:lstStyle/>
          <a:p>
            <a:pPr indent="0" marL="0">
              <a:buNone/>
            </a:pPr>
            <a:r>
              <a:rPr lang="en-US" sz="900" b="1" dirty="0">
                <a:solidFill>
                  <a:srgbClr val="BC3834"/>
                </a:solidFill>
                <a:latin typeface="IBM Plex Mono" panose="020B0509050203000203" pitchFamily="49" charset="0"/>
                <a:ea typeface="IBM Plex Mono" panose="020B0509050203000203" pitchFamily="49" charset="-122"/>
                <a:cs typeface="IBM Plex Mono" panose="020B0509050203000203" pitchFamily="49" charset="-120"/>
              </a:rPr>
              <a:t>Ours: 10 of 10</a:t>
            </a:r>
            <a:endParaRPr lang="en-US" sz="1200" dirty="0"/>
          </a:p>
        </p:txBody>
      </p:sp>
      <p:sp>
        <p:nvSpPr>
          <p:cNvPr id="10" name="Metric 2"/>
          <p:cNvSpPr/>
          <p:nvPr/>
        </p:nvSpPr>
        <p:spPr>
          <a:xfrm>
            <a:off x="2624328" y="1874520"/>
            <a:ext cx="1810512" cy="1389888"/>
          </a:xfrm>
          <a:prstGeom prst="roundRect">
            <a:avLst>
              <a:gd name="adj" fmla="val 7895"/>
            </a:avLst>
          </a:prstGeom>
          <a:solidFill>
            <a:schemeClr val="bg2"/>
          </a:solidFill>
          <a:ln/>
        </p:spPr>
        <p:txBody>
          <a:bodyPr/>
          <a:p/>
        </p:txBody>
      </p:sp>
      <p:sp>
        <p:nvSpPr>
          <p:cNvPr id="11" name="Text 9"/>
          <p:cNvSpPr txBox="1"/>
          <p:nvPr/>
        </p:nvSpPr>
        <p:spPr>
          <a:xfrm>
            <a:off x="2807208" y="2020824"/>
            <a:ext cx="1490472" cy="274320"/>
          </a:xfrm>
          <a:prstGeom prst="rect">
            <a:avLst/>
          </a:prstGeom>
          <a:noFill/>
          <a:ln/>
        </p:spPr>
        <p:txBody>
          <a:bodyPr wrap="square" lIns="0" tIns="0" rIns="0" bIns="0" rtlCol="0" anchor="t"/>
          <a:lstStyle/>
          <a:p>
            <a:pPr indent="0" marL="0">
              <a:buNone/>
            </a:pPr>
            <a:r>
              <a:rPr lang="en-US" sz="1350" b="1" dirty="0">
                <a:solidFill>
                  <a:schemeClr val="tx1"/>
                </a:solidFill>
                <a:latin typeface="Inter" panose="02000503000000020004" pitchFamily="34" charset="0"/>
                <a:ea typeface="Inter" panose="02000503000000020004" pitchFamily="34" charset="-122"/>
                <a:cs typeface="Inter" panose="02000503000000020004" pitchFamily="34" charset="-120"/>
              </a:rPr>
              <a:t>Correct numbers</a:t>
            </a:r>
            <a:endParaRPr lang="en-US" sz="1350" dirty="0"/>
          </a:p>
        </p:txBody>
      </p:sp>
      <p:sp>
        <p:nvSpPr>
          <p:cNvPr id="12" name="Text 10"/>
          <p:cNvSpPr txBox="1"/>
          <p:nvPr/>
        </p:nvSpPr>
        <p:spPr>
          <a:xfrm>
            <a:off x="2807208" y="2295144"/>
            <a:ext cx="1490472" cy="237744"/>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Target 6 of 6</a:t>
            </a:r>
            <a:endParaRPr lang="en-US" sz="1200" dirty="0"/>
          </a:p>
        </p:txBody>
      </p:sp>
      <p:sp>
        <p:nvSpPr>
          <p:cNvPr id="13" name="Metric result 2"/>
          <p:cNvSpPr/>
          <p:nvPr/>
        </p:nvSpPr>
        <p:spPr>
          <a:xfrm>
            <a:off x="2807208" y="2642616"/>
            <a:ext cx="1444752" cy="438912"/>
          </a:xfrm>
          <a:prstGeom prst="roundRect">
            <a:avLst>
              <a:gd name="adj" fmla="val 16667"/>
            </a:avLst>
          </a:prstGeom>
          <a:solidFill>
            <a:srgbClr val="FFFFFF"/>
          </a:solidFill>
          <a:ln w="12700">
            <a:solidFill>
              <a:srgbClr val="BC3834"/>
            </a:solidFill>
            <a:prstDash val="dash"/>
          </a:ln>
        </p:spPr>
        <p:txBody>
          <a:bodyPr/>
          <a:p/>
        </p:txBody>
      </p:sp>
      <p:sp>
        <p:nvSpPr>
          <p:cNvPr id="14" name="Text 12"/>
          <p:cNvSpPr txBox="1"/>
          <p:nvPr/>
        </p:nvSpPr>
        <p:spPr>
          <a:xfrm>
            <a:off x="2898648" y="2642616"/>
            <a:ext cx="1261872" cy="438912"/>
          </a:xfrm>
          <a:prstGeom prst="rect">
            <a:avLst/>
          </a:prstGeom>
          <a:noFill/>
          <a:ln/>
        </p:spPr>
        <p:txBody>
          <a:bodyPr wrap="square" lIns="0" tIns="0" rIns="0" bIns="0" rtlCol="0" anchor="ctr"/>
          <a:lstStyle/>
          <a:p>
            <a:pPr indent="0" marL="0">
              <a:buNone/>
            </a:pPr>
            <a:r>
              <a:rPr lang="en-US" sz="900" b="1" dirty="0">
                <a:solidFill>
                  <a:srgbClr val="BC3834"/>
                </a:solidFill>
                <a:latin typeface="IBM Plex Mono" panose="020B0509050203000203" pitchFamily="49" charset="0"/>
                <a:ea typeface="IBM Plex Mono" panose="020B0509050203000203" pitchFamily="49" charset="-122"/>
                <a:cs typeface="IBM Plex Mono" panose="020B0509050203000203" pitchFamily="49" charset="-120"/>
              </a:rPr>
              <a:t>Ours: 6 of 6</a:t>
            </a:r>
            <a:endParaRPr lang="en-US" sz="1200" dirty="0"/>
          </a:p>
        </p:txBody>
      </p:sp>
      <p:sp>
        <p:nvSpPr>
          <p:cNvPr id="15" name="Metric 3"/>
          <p:cNvSpPr/>
          <p:nvPr/>
        </p:nvSpPr>
        <p:spPr>
          <a:xfrm>
            <a:off x="4562856" y="1874520"/>
            <a:ext cx="1810512" cy="1389888"/>
          </a:xfrm>
          <a:prstGeom prst="roundRect">
            <a:avLst>
              <a:gd name="adj" fmla="val 7895"/>
            </a:avLst>
          </a:prstGeom>
          <a:solidFill>
            <a:schemeClr val="bg2"/>
          </a:solidFill>
          <a:ln/>
        </p:spPr>
        <p:txBody>
          <a:bodyPr/>
          <a:p/>
        </p:txBody>
      </p:sp>
      <p:sp>
        <p:nvSpPr>
          <p:cNvPr id="16" name="Text 14"/>
          <p:cNvSpPr txBox="1"/>
          <p:nvPr/>
        </p:nvSpPr>
        <p:spPr>
          <a:xfrm>
            <a:off x="4745736" y="2020824"/>
            <a:ext cx="1490472" cy="274320"/>
          </a:xfrm>
          <a:prstGeom prst="rect">
            <a:avLst/>
          </a:prstGeom>
          <a:noFill/>
          <a:ln/>
        </p:spPr>
        <p:txBody>
          <a:bodyPr wrap="square" lIns="0" tIns="0" rIns="0" bIns="0" rtlCol="0" anchor="t"/>
          <a:lstStyle/>
          <a:p>
            <a:pPr indent="0" marL="0">
              <a:buNone/>
            </a:pPr>
            <a:r>
              <a:rPr lang="en-US" sz="1350" b="1" dirty="0">
                <a:solidFill>
                  <a:schemeClr val="tx1"/>
                </a:solidFill>
                <a:latin typeface="Inter" panose="02000503000000020004" pitchFamily="34" charset="0"/>
                <a:ea typeface="Inter" panose="02000503000000020004" pitchFamily="34" charset="-122"/>
                <a:cs typeface="Inter" panose="02000503000000020004" pitchFamily="34" charset="-120"/>
              </a:rPr>
              <a:t>Privacy leaks</a:t>
            </a:r>
            <a:endParaRPr lang="en-US" sz="1350" dirty="0"/>
          </a:p>
        </p:txBody>
      </p:sp>
      <p:sp>
        <p:nvSpPr>
          <p:cNvPr id="17" name="Text 15"/>
          <p:cNvSpPr txBox="1"/>
          <p:nvPr/>
        </p:nvSpPr>
        <p:spPr>
          <a:xfrm>
            <a:off x="4745736" y="2295144"/>
            <a:ext cx="1490472" cy="237744"/>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Target 0</a:t>
            </a:r>
            <a:endParaRPr lang="en-US" sz="1200" dirty="0"/>
          </a:p>
        </p:txBody>
      </p:sp>
      <p:sp>
        <p:nvSpPr>
          <p:cNvPr id="18" name="Metric result 3"/>
          <p:cNvSpPr/>
          <p:nvPr/>
        </p:nvSpPr>
        <p:spPr>
          <a:xfrm>
            <a:off x="4745736" y="2642616"/>
            <a:ext cx="1444752" cy="438912"/>
          </a:xfrm>
          <a:prstGeom prst="roundRect">
            <a:avLst>
              <a:gd name="adj" fmla="val 16667"/>
            </a:avLst>
          </a:prstGeom>
          <a:solidFill>
            <a:srgbClr val="FFFFFF"/>
          </a:solidFill>
          <a:ln w="12700">
            <a:solidFill>
              <a:srgbClr val="BC3834"/>
            </a:solidFill>
            <a:prstDash val="dash"/>
          </a:ln>
        </p:spPr>
        <p:txBody>
          <a:bodyPr/>
          <a:p/>
        </p:txBody>
      </p:sp>
      <p:sp>
        <p:nvSpPr>
          <p:cNvPr id="19" name="Text 17"/>
          <p:cNvSpPr txBox="1"/>
          <p:nvPr/>
        </p:nvSpPr>
        <p:spPr>
          <a:xfrm>
            <a:off x="4837176" y="2642616"/>
            <a:ext cx="1261872" cy="438912"/>
          </a:xfrm>
          <a:prstGeom prst="rect">
            <a:avLst/>
          </a:prstGeom>
          <a:noFill/>
          <a:ln/>
        </p:spPr>
        <p:txBody>
          <a:bodyPr wrap="square" lIns="0" tIns="0" rIns="0" bIns="0" rtlCol="0" anchor="ctr"/>
          <a:lstStyle/>
          <a:p>
            <a:pPr indent="0" marL="0">
              <a:buNone/>
            </a:pPr>
            <a:r>
              <a:rPr lang="en-US" sz="900" b="1" dirty="0">
                <a:solidFill>
                  <a:srgbClr val="BC3834"/>
                </a:solidFill>
                <a:latin typeface="IBM Plex Mono" panose="020B0509050203000203" pitchFamily="49" charset="0"/>
                <a:ea typeface="IBM Plex Mono" panose="020B0509050203000203" pitchFamily="49" charset="-122"/>
                <a:cs typeface="IBM Plex Mono" panose="020B0509050203000203" pitchFamily="49" charset="-120"/>
              </a:rPr>
              <a:t>Ours: 0</a:t>
            </a:r>
            <a:endParaRPr lang="en-US" sz="1200" dirty="0"/>
          </a:p>
        </p:txBody>
      </p:sp>
      <p:sp>
        <p:nvSpPr>
          <p:cNvPr id="20" name="Metric 4"/>
          <p:cNvSpPr/>
          <p:nvPr/>
        </p:nvSpPr>
        <p:spPr>
          <a:xfrm>
            <a:off x="685800" y="3410712"/>
            <a:ext cx="1810512" cy="1389888"/>
          </a:xfrm>
          <a:prstGeom prst="roundRect">
            <a:avLst>
              <a:gd name="adj" fmla="val 7895"/>
            </a:avLst>
          </a:prstGeom>
          <a:solidFill>
            <a:schemeClr val="bg2"/>
          </a:solidFill>
          <a:ln/>
        </p:spPr>
        <p:txBody>
          <a:bodyPr/>
          <a:p/>
        </p:txBody>
      </p:sp>
      <p:sp>
        <p:nvSpPr>
          <p:cNvPr id="21" name="Text 19"/>
          <p:cNvSpPr txBox="1"/>
          <p:nvPr/>
        </p:nvSpPr>
        <p:spPr>
          <a:xfrm>
            <a:off x="868680" y="3557016"/>
            <a:ext cx="1490472" cy="274320"/>
          </a:xfrm>
          <a:prstGeom prst="rect">
            <a:avLst/>
          </a:prstGeom>
          <a:noFill/>
          <a:ln/>
        </p:spPr>
        <p:txBody>
          <a:bodyPr wrap="square" lIns="0" tIns="0" rIns="0" bIns="0" rtlCol="0" anchor="t"/>
          <a:lstStyle/>
          <a:p>
            <a:pPr indent="0" marL="0">
              <a:buNone/>
            </a:pPr>
            <a:r>
              <a:rPr lang="en-US" sz="1350" b="1" dirty="0">
                <a:solidFill>
                  <a:schemeClr val="tx1"/>
                </a:solidFill>
                <a:latin typeface="Inter" panose="02000503000000020004" pitchFamily="34" charset="0"/>
                <a:ea typeface="Inter" panose="02000503000000020004" pitchFamily="34" charset="-122"/>
                <a:cs typeface="Inter" panose="02000503000000020004" pitchFamily="34" charset="-120"/>
              </a:rPr>
              <a:t>Consistency</a:t>
            </a:r>
            <a:endParaRPr lang="en-US" sz="1350" dirty="0"/>
          </a:p>
        </p:txBody>
      </p:sp>
      <p:sp>
        <p:nvSpPr>
          <p:cNvPr id="22" name="Text 20"/>
          <p:cNvSpPr txBox="1"/>
          <p:nvPr/>
        </p:nvSpPr>
        <p:spPr>
          <a:xfrm>
            <a:off x="868680" y="3831336"/>
            <a:ext cx="1490472" cy="237744"/>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Target 10 of 10</a:t>
            </a:r>
            <a:endParaRPr lang="en-US" sz="1200" dirty="0"/>
          </a:p>
        </p:txBody>
      </p:sp>
      <p:sp>
        <p:nvSpPr>
          <p:cNvPr id="23" name="Metric result 4"/>
          <p:cNvSpPr/>
          <p:nvPr/>
        </p:nvSpPr>
        <p:spPr>
          <a:xfrm>
            <a:off x="868680" y="4178808"/>
            <a:ext cx="1444752" cy="438912"/>
          </a:xfrm>
          <a:prstGeom prst="roundRect">
            <a:avLst>
              <a:gd name="adj" fmla="val 16667"/>
            </a:avLst>
          </a:prstGeom>
          <a:solidFill>
            <a:srgbClr val="FFFFFF"/>
          </a:solidFill>
          <a:ln w="12700">
            <a:solidFill>
              <a:srgbClr val="BC3834"/>
            </a:solidFill>
            <a:prstDash val="dash"/>
          </a:ln>
        </p:spPr>
        <p:txBody>
          <a:bodyPr/>
          <a:p/>
        </p:txBody>
      </p:sp>
      <p:sp>
        <p:nvSpPr>
          <p:cNvPr id="24" name="Text 22"/>
          <p:cNvSpPr txBox="1"/>
          <p:nvPr/>
        </p:nvSpPr>
        <p:spPr>
          <a:xfrm>
            <a:off x="960120" y="4178808"/>
            <a:ext cx="1261872" cy="438912"/>
          </a:xfrm>
          <a:prstGeom prst="rect">
            <a:avLst/>
          </a:prstGeom>
          <a:noFill/>
          <a:ln/>
        </p:spPr>
        <p:txBody>
          <a:bodyPr wrap="square" lIns="0" tIns="0" rIns="0" bIns="0" rtlCol="0" anchor="ctr"/>
          <a:lstStyle/>
          <a:p>
            <a:pPr indent="0" marL="0">
              <a:buNone/>
            </a:pPr>
            <a:r>
              <a:rPr lang="en-US" sz="900" b="1" dirty="0">
                <a:solidFill>
                  <a:srgbClr val="BC3834"/>
                </a:solidFill>
                <a:latin typeface="IBM Plex Mono" panose="020B0509050203000203" pitchFamily="49" charset="0"/>
                <a:ea typeface="IBM Plex Mono" panose="020B0509050203000203" pitchFamily="49" charset="-122"/>
                <a:cs typeface="IBM Plex Mono" panose="020B0509050203000203" pitchFamily="49" charset="-120"/>
              </a:rPr>
              <a:t>Ours: 10 of 10</a:t>
            </a:r>
            <a:endParaRPr lang="en-US" sz="1200" dirty="0"/>
          </a:p>
        </p:txBody>
      </p:sp>
      <p:sp>
        <p:nvSpPr>
          <p:cNvPr id="25" name="Metric 5"/>
          <p:cNvSpPr/>
          <p:nvPr/>
        </p:nvSpPr>
        <p:spPr>
          <a:xfrm>
            <a:off x="2624328" y="3410712"/>
            <a:ext cx="1810512" cy="1389888"/>
          </a:xfrm>
          <a:prstGeom prst="roundRect">
            <a:avLst>
              <a:gd name="adj" fmla="val 7895"/>
            </a:avLst>
          </a:prstGeom>
          <a:solidFill>
            <a:schemeClr val="bg2"/>
          </a:solidFill>
          <a:ln/>
        </p:spPr>
        <p:txBody>
          <a:bodyPr/>
          <a:p/>
        </p:txBody>
      </p:sp>
      <p:sp>
        <p:nvSpPr>
          <p:cNvPr id="26" name="Text 24"/>
          <p:cNvSpPr txBox="1"/>
          <p:nvPr/>
        </p:nvSpPr>
        <p:spPr>
          <a:xfrm>
            <a:off x="2807208" y="3557016"/>
            <a:ext cx="1490472" cy="274320"/>
          </a:xfrm>
          <a:prstGeom prst="rect">
            <a:avLst/>
          </a:prstGeom>
          <a:noFill/>
          <a:ln/>
        </p:spPr>
        <p:txBody>
          <a:bodyPr wrap="square" lIns="0" tIns="0" rIns="0" bIns="0" rtlCol="0" anchor="t"/>
          <a:lstStyle/>
          <a:p>
            <a:pPr indent="0" marL="0">
              <a:buNone/>
            </a:pPr>
            <a:r>
              <a:rPr lang="en-US" sz="1350" b="1" dirty="0">
                <a:solidFill>
                  <a:schemeClr val="tx1"/>
                </a:solidFill>
                <a:latin typeface="Inter" panose="02000503000000020004" pitchFamily="34" charset="0"/>
                <a:ea typeface="Inter" panose="02000503000000020004" pitchFamily="34" charset="-122"/>
                <a:cs typeface="Inter" panose="02000503000000020004" pitchFamily="34" charset="-120"/>
              </a:rPr>
              <a:t>Slowest answer</a:t>
            </a:r>
            <a:endParaRPr lang="en-US" sz="1350" dirty="0"/>
          </a:p>
        </p:txBody>
      </p:sp>
      <p:sp>
        <p:nvSpPr>
          <p:cNvPr id="27" name="Text 25"/>
          <p:cNvSpPr txBox="1"/>
          <p:nvPr/>
        </p:nvSpPr>
        <p:spPr>
          <a:xfrm>
            <a:off x="2807208" y="3831336"/>
            <a:ext cx="1490472" cy="237744"/>
          </a:xfrm>
          <a:prstGeom prst="rect">
            <a:avLst/>
          </a:prstGeom>
          <a:noFill/>
          <a:ln/>
        </p:spPr>
        <p:txBody>
          <a:bodyPr wrap="square" lIns="0" tIns="0" rIns="0" bIns="0" rtlCol="0" anchor="t"/>
          <a:lstStyle/>
          <a:p>
            <a:pPr indent="0" marL="0">
              <a:buNone/>
            </a:pPr>
            <a:r>
              <a:rPr lang="en-US" sz="1200" dirty="0">
                <a:solidFill>
                  <a:srgbClr val="5B6577"/>
                </a:solidFill>
                <a:latin typeface="Inter" panose="02000503000000020004" pitchFamily="34" charset="0"/>
                <a:ea typeface="Inter" panose="02000503000000020004" pitchFamily="34" charset="-122"/>
                <a:cs typeface="Inter" panose="02000503000000020004" pitchFamily="34" charset="-120"/>
              </a:rPr>
              <a:t>Target under 60 s</a:t>
            </a:r>
            <a:endParaRPr lang="en-US" sz="1200" dirty="0"/>
          </a:p>
        </p:txBody>
      </p:sp>
      <p:sp>
        <p:nvSpPr>
          <p:cNvPr id="28" name="Metric result 5"/>
          <p:cNvSpPr/>
          <p:nvPr/>
        </p:nvSpPr>
        <p:spPr>
          <a:xfrm>
            <a:off x="2807208" y="4178808"/>
            <a:ext cx="1444752" cy="438912"/>
          </a:xfrm>
          <a:prstGeom prst="roundRect">
            <a:avLst>
              <a:gd name="adj" fmla="val 16667"/>
            </a:avLst>
          </a:prstGeom>
          <a:solidFill>
            <a:srgbClr val="FFFFFF"/>
          </a:solidFill>
          <a:ln w="12700">
            <a:solidFill>
              <a:srgbClr val="BC3834"/>
            </a:solidFill>
            <a:prstDash val="dash"/>
          </a:ln>
        </p:spPr>
        <p:txBody>
          <a:bodyPr/>
          <a:p/>
        </p:txBody>
      </p:sp>
      <p:sp>
        <p:nvSpPr>
          <p:cNvPr id="29" name="Text 27"/>
          <p:cNvSpPr txBox="1"/>
          <p:nvPr/>
        </p:nvSpPr>
        <p:spPr>
          <a:xfrm>
            <a:off x="2898648" y="4178808"/>
            <a:ext cx="1261872" cy="438912"/>
          </a:xfrm>
          <a:prstGeom prst="rect">
            <a:avLst/>
          </a:prstGeom>
          <a:noFill/>
          <a:ln/>
        </p:spPr>
        <p:txBody>
          <a:bodyPr wrap="square" lIns="0" tIns="0" rIns="0" bIns="0" rtlCol="0" anchor="ctr"/>
          <a:lstStyle/>
          <a:p>
            <a:pPr indent="0" marL="0">
              <a:buNone/>
            </a:pPr>
            <a:r>
              <a:rPr lang="en-US" sz="900" b="1" dirty="0">
                <a:solidFill>
                  <a:srgbClr val="BC3834"/>
                </a:solidFill>
                <a:latin typeface="IBM Plex Mono" panose="020B0509050203000203" pitchFamily="49" charset="0"/>
                <a:ea typeface="IBM Plex Mono" panose="020B0509050203000203" pitchFamily="49" charset="-122"/>
                <a:cs typeface="IBM Plex Mono" panose="020B0509050203000203" pitchFamily="49" charset="-120"/>
              </a:rPr>
              <a:t>Ours: 0.25 s</a:t>
            </a:r>
            <a:endParaRPr lang="en-US" sz="1200" dirty="0"/>
          </a:p>
        </p:txBody>
      </p:sp>
      <p:sp>
        <p:nvSpPr>
          <p:cNvPr id="30" name="Own tests"/>
          <p:cNvSpPr/>
          <p:nvPr/>
        </p:nvSpPr>
        <p:spPr>
          <a:xfrm>
            <a:off x="4562856" y="3410712"/>
            <a:ext cx="1810512" cy="1389888"/>
          </a:xfrm>
          <a:prstGeom prst="roundRect">
            <a:avLst>
              <a:gd name="adj" fmla="val 7895"/>
            </a:avLst>
          </a:prstGeom>
          <a:solidFill>
            <a:schemeClr val="accent2"/>
          </a:solidFill>
          <a:ln/>
        </p:spPr>
        <p:txBody>
          <a:bodyPr/>
          <a:p/>
        </p:txBody>
      </p:sp>
      <p:sp>
        <p:nvSpPr>
          <p:cNvPr id="31" name="Text 29"/>
          <p:cNvSpPr txBox="1"/>
          <p:nvPr/>
        </p:nvSpPr>
        <p:spPr>
          <a:xfrm>
            <a:off x="4745736" y="3557016"/>
            <a:ext cx="1463040" cy="274320"/>
          </a:xfrm>
          <a:prstGeom prst="rect">
            <a:avLst/>
          </a:prstGeom>
          <a:noFill/>
          <a:ln/>
        </p:spPr>
        <p:txBody>
          <a:bodyPr wrap="square" lIns="0" tIns="0" rIns="0" bIns="0" rtlCol="0" anchor="t"/>
          <a:lstStyle/>
          <a:p>
            <a:pPr indent="0" marL="0">
              <a:buNone/>
            </a:pPr>
            <a:r>
              <a:rPr lang="en-US" sz="1350" b="1" dirty="0">
                <a:solidFill>
                  <a:schemeClr val="tx1"/>
                </a:solidFill>
                <a:latin typeface="Inter" panose="02000503000000020004" pitchFamily="34" charset="0"/>
                <a:ea typeface="Inter" panose="02000503000000020004" pitchFamily="34" charset="-122"/>
                <a:cs typeface="Inter" panose="02000503000000020004" pitchFamily="34" charset="-120"/>
              </a:rPr>
              <a:t>Our own tests</a:t>
            </a:r>
            <a:endParaRPr lang="en-US" sz="1350" dirty="0"/>
          </a:p>
        </p:txBody>
      </p:sp>
      <p:sp>
        <p:nvSpPr>
          <p:cNvPr id="32" name="Text 30"/>
          <p:cNvSpPr txBox="1"/>
          <p:nvPr/>
        </p:nvSpPr>
        <p:spPr>
          <a:xfrm>
            <a:off x="4745736" y="3840480"/>
            <a:ext cx="1481328" cy="868680"/>
          </a:xfrm>
          <a:prstGeom prst="rect">
            <a:avLst/>
          </a:prstGeom>
          <a:noFill/>
          <a:ln/>
        </p:spPr>
        <p:txBody>
          <a:bodyPr wrap="square" lIns="0" tIns="0" rIns="0" bIns="0" rtlCol="0" anchor="t"/>
          <a:lstStyle/>
          <a:p>
            <a:pPr indent="0" marL="0">
              <a:buNone/>
            </a:pPr>
            <a:r>
              <a:rPr lang="en-US" sz="1100" dirty="0">
                <a:solidFill>
                  <a:schemeClr val="tx1"/>
                </a:solidFill>
                <a:latin typeface="Inter" panose="02000503000000020004" pitchFamily="34" charset="0"/>
                <a:ea typeface="Inter" panose="02000503000000020004" pitchFamily="34" charset="-122"/>
                <a:cs typeface="Inter" panose="02000503000000020004" pitchFamily="34" charset="-120"/>
              </a:rPr>
              <a:t>208 automated tests pass: new requests, reworded purposes, prompt injection, differencing pairs, UI flows</a:t>
            </a:r>
            <a:endParaRPr lang="en-US" sz="1100" dirty="0"/>
          </a:p>
        </p:txBody>
      </p:sp>
      <p:sp>
        <p:nvSpPr>
          <p:cNvPr id="34" name="Text 32"/>
          <p:cNvSpPr txBox="1"/>
          <p:nvPr/>
        </p:nvSpPr>
        <p:spPr>
          <a:xfrm>
            <a:off x="6812280" y="1517904"/>
            <a:ext cx="4690872" cy="237744"/>
          </a:xfrm>
          <a:prstGeom prst="rect">
            <a:avLst/>
          </a:prstGeom>
          <a:noFill/>
          <a:ln/>
        </p:spPr>
        <p:txBody>
          <a:bodyPr wrap="square" lIns="0" tIns="0" rIns="0" bIns="0" rtlCol="0" anchor="t"/>
          <a:lstStyle/>
          <a:p>
            <a:pPr indent="0" marL="0">
              <a:buNone/>
            </a:pPr>
            <a:r>
              <a:rPr lang="en-US" sz="1050" b="1" spc="120" kern="0" dirty="0">
                <a:solidFill>
                  <a:schemeClr val="tx1"/>
                </a:solidFill>
                <a:latin typeface="IBM Plex Mono" panose="020B0509050203000203" pitchFamily="49" charset="0"/>
                <a:ea typeface="IBM Plex Mono" panose="020B0509050203000203" pitchFamily="49" charset="-122"/>
                <a:cs typeface="IBM Plex Mono" panose="020B0509050203000203" pitchFamily="49" charset="-120"/>
              </a:rPr>
              <a:t>ROADMAP</a:t>
            </a:r>
            <a:endParaRPr lang="en-US" sz="1050" dirty="0"/>
          </a:p>
        </p:txBody>
      </p:sp>
      <p:sp>
        <p:nvSpPr>
          <p:cNvPr id="35" name="Roadmap spine"/>
          <p:cNvSpPr/>
          <p:nvPr/>
        </p:nvSpPr>
        <p:spPr>
          <a:xfrm>
            <a:off x="7004304" y="2103120"/>
            <a:ext cx="0" cy="3200400"/>
          </a:xfrm>
          <a:prstGeom prst="line">
            <a:avLst/>
          </a:prstGeom>
          <a:noFill/>
          <a:ln w="19050">
            <a:solidFill>
              <a:srgbClr val="DDD9D1"/>
            </a:solidFill>
            <a:prstDash val="solid"/>
          </a:ln>
        </p:spPr>
        <p:txBody>
          <a:bodyPr/>
          <a:p/>
        </p:txBody>
      </p:sp>
      <p:sp>
        <p:nvSpPr>
          <p:cNvPr id="36" name="Text 34"/>
          <p:cNvSpPr/>
          <p:nvPr/>
        </p:nvSpPr>
        <p:spPr>
          <a:xfrm>
            <a:off x="6812280" y="1874520"/>
            <a:ext cx="384048" cy="384048"/>
          </a:xfrm>
          <a:prstGeom prst="ellipse">
            <a:avLst/>
          </a:prstGeom>
          <a:solidFill>
            <a:schemeClr val="accent6"/>
          </a:solidFill>
          <a:ln w="15875">
            <a:solidFill>
              <a:schemeClr val="accent6"/>
            </a:solidFill>
          </a:ln>
        </p:spPr>
        <p:txBody>
          <a:bodyPr wrap="square" lIns="0" tIns="0" rIns="0" bIns="0" rtlCol="0" anchor="ctr"/>
          <a:lstStyle/>
          <a:p>
            <a:pPr algn="ctr" indent="0" marL="0">
              <a:buNone/>
            </a:pPr>
            <a:r>
              <a:rPr lang="en-US" sz="1050" dirty="0">
                <a:solidFill>
                  <a:schemeClr val="bg1"/>
                </a:solidFill>
                <a:latin typeface="IBM Plex Mono" panose="020B0509050203000203" pitchFamily="49" charset="0"/>
                <a:ea typeface="IBM Plex Mono" panose="020B0509050203000203" pitchFamily="49" charset="-122"/>
                <a:cs typeface="IBM Plex Mono" panose="020B0509050203000203" pitchFamily="49" charset="-120"/>
              </a:rPr>
              <a:t>01</a:t>
            </a:r>
            <a:endParaRPr lang="en-US" sz="1050" dirty="0"/>
          </a:p>
        </p:txBody>
      </p:sp>
      <p:sp>
        <p:nvSpPr>
          <p:cNvPr id="37" name="Text 35"/>
          <p:cNvSpPr txBox="1"/>
          <p:nvPr/>
        </p:nvSpPr>
        <p:spPr>
          <a:xfrm>
            <a:off x="7379208" y="1865376"/>
            <a:ext cx="1828800" cy="292608"/>
          </a:xfrm>
          <a:prstGeom prst="rect">
            <a:avLst/>
          </a:prstGeom>
          <a:noFill/>
          <a:ln/>
        </p:spPr>
        <p:txBody>
          <a:bodyPr wrap="square" lIns="0" tIns="0" rIns="0" bIns="0" rtlCol="0" anchor="t"/>
          <a:lstStyle/>
          <a:p>
            <a:pPr indent="0" marL="0">
              <a:buNone/>
            </a:pPr>
            <a:r>
              <a:rPr lang="en-US" sz="1500" b="1" dirty="0">
                <a:solidFill>
                  <a:schemeClr val="tx1"/>
                </a:solidFill>
                <a:latin typeface="Inter" panose="02000503000000020004" pitchFamily="34" charset="0"/>
                <a:ea typeface="Inter" panose="02000503000000020004" pitchFamily="34" charset="-122"/>
                <a:cs typeface="Inter" panose="02000503000000020004" pitchFamily="34" charset="-120"/>
              </a:rPr>
              <a:t>Today</a:t>
            </a:r>
            <a:endParaRPr lang="en-US" sz="1500" dirty="0"/>
          </a:p>
        </p:txBody>
      </p:sp>
      <p:sp>
        <p:nvSpPr>
          <p:cNvPr id="38" name="Text 36"/>
          <p:cNvSpPr txBox="1"/>
          <p:nvPr/>
        </p:nvSpPr>
        <p:spPr>
          <a:xfrm>
            <a:off x="7379208" y="2185416"/>
            <a:ext cx="4050792" cy="658368"/>
          </a:xfrm>
          <a:prstGeom prst="rect">
            <a:avLst/>
          </a:prstGeom>
          <a:noFill/>
          <a:ln/>
        </p:spPr>
        <p:txBody>
          <a:bodyPr wrap="square" lIns="0" tIns="0" rIns="0" bIns="0" rtlCol="0" anchor="t"/>
          <a:lstStyle/>
          <a:p>
            <a:pPr indent="0" marL="0">
              <a:buNone/>
            </a:pPr>
            <a:r>
              <a:rPr lang="en-US" sz="1300" dirty="0">
                <a:solidFill>
                  <a:srgbClr val="5B6577"/>
                </a:solidFill>
                <a:latin typeface="Inter" panose="02000503000000020004" pitchFamily="34" charset="0"/>
                <a:ea typeface="Inter" panose="02000503000000020004" pitchFamily="34" charset="-122"/>
                <a:cs typeface="Inter" panose="02000503000000020004" pitchFamily="34" charset="-120"/>
              </a:rPr>
              <a:t>Working end to end: plain-language entry, interpretation, EHDS decisions, statistics, disclosure ledger. HDAB and SPE simulated.</a:t>
            </a:r>
            <a:endParaRPr lang="en-US" sz="1300" dirty="0"/>
          </a:p>
        </p:txBody>
      </p:sp>
      <p:sp>
        <p:nvSpPr>
          <p:cNvPr id="39" name="Text 37"/>
          <p:cNvSpPr/>
          <p:nvPr/>
        </p:nvSpPr>
        <p:spPr>
          <a:xfrm>
            <a:off x="6812280" y="2944368"/>
            <a:ext cx="384048" cy="384048"/>
          </a:xfrm>
          <a:prstGeom prst="ellipse">
            <a:avLst/>
          </a:prstGeom>
          <a:solidFill>
            <a:schemeClr val="bg1"/>
          </a:solidFill>
          <a:ln w="15875">
            <a:solidFill>
              <a:schemeClr val="accent6"/>
            </a:solidFill>
          </a:ln>
        </p:spPr>
        <p:txBody>
          <a:bodyPr wrap="square" lIns="0" tIns="0" rIns="0" bIns="0" rtlCol="0" anchor="ctr"/>
          <a:lstStyle/>
          <a:p>
            <a:pPr algn="ctr" indent="0" marL="0">
              <a:buNone/>
            </a:pPr>
            <a:r>
              <a:rPr lang="en-US" sz="1050" dirty="0">
                <a:solidFill>
                  <a:schemeClr val="accent6"/>
                </a:solidFill>
                <a:latin typeface="IBM Plex Mono" panose="020B0509050203000203" pitchFamily="49" charset="0"/>
                <a:ea typeface="IBM Plex Mono" panose="020B0509050203000203" pitchFamily="49" charset="-122"/>
                <a:cs typeface="IBM Plex Mono" panose="020B0509050203000203" pitchFamily="49" charset="-120"/>
              </a:rPr>
              <a:t>02</a:t>
            </a:r>
            <a:endParaRPr lang="en-US" sz="1050" dirty="0"/>
          </a:p>
        </p:txBody>
      </p:sp>
      <p:sp>
        <p:nvSpPr>
          <p:cNvPr id="40" name="Text 38"/>
          <p:cNvSpPr txBox="1"/>
          <p:nvPr/>
        </p:nvSpPr>
        <p:spPr>
          <a:xfrm>
            <a:off x="7379208" y="2935224"/>
            <a:ext cx="1828800" cy="292608"/>
          </a:xfrm>
          <a:prstGeom prst="rect">
            <a:avLst/>
          </a:prstGeom>
          <a:noFill/>
          <a:ln/>
        </p:spPr>
        <p:txBody>
          <a:bodyPr wrap="square" lIns="0" tIns="0" rIns="0" bIns="0" rtlCol="0" anchor="t"/>
          <a:lstStyle/>
          <a:p>
            <a:pPr indent="0" marL="0">
              <a:buNone/>
            </a:pPr>
            <a:r>
              <a:rPr lang="en-US" sz="1500" b="1" dirty="0">
                <a:solidFill>
                  <a:schemeClr val="tx1"/>
                </a:solidFill>
                <a:latin typeface="Inter" panose="02000503000000020004" pitchFamily="34" charset="0"/>
                <a:ea typeface="Inter" panose="02000503000000020004" pitchFamily="34" charset="-122"/>
                <a:cs typeface="Inter" panose="02000503000000020004" pitchFamily="34" charset="-120"/>
              </a:rPr>
              <a:t>Next</a:t>
            </a:r>
            <a:endParaRPr lang="en-US" sz="1500" dirty="0"/>
          </a:p>
        </p:txBody>
      </p:sp>
      <p:sp>
        <p:nvSpPr>
          <p:cNvPr id="41" name="Roadmap 2 status"/>
          <p:cNvSpPr/>
          <p:nvPr/>
        </p:nvSpPr>
        <p:spPr>
          <a:xfrm>
            <a:off x="10479024" y="2962656"/>
            <a:ext cx="1024128" cy="237744"/>
          </a:xfrm>
          <a:prstGeom prst="roundRect">
            <a:avLst>
              <a:gd name="adj" fmla="val 50000"/>
            </a:avLst>
          </a:prstGeom>
          <a:ln w="12700">
            <a:solidFill>
              <a:srgbClr val="BC3834"/>
            </a:solidFill>
            <a:prstDash val="solid"/>
          </a:ln>
        </p:spPr>
        <p:txBody>
          <a:bodyPr/>
          <a:p/>
        </p:txBody>
      </p:sp>
      <p:sp>
        <p:nvSpPr>
          <p:cNvPr id="42" name="Roadmap 2 status text"/>
          <p:cNvSpPr txBox="1"/>
          <p:nvPr/>
        </p:nvSpPr>
        <p:spPr>
          <a:xfrm>
            <a:off x="10479024" y="2962656"/>
            <a:ext cx="1024128" cy="237744"/>
          </a:xfrm>
          <a:prstGeom prst="rect">
            <a:avLst/>
          </a:prstGeom>
          <a:noFill/>
          <a:ln/>
        </p:spPr>
        <p:txBody>
          <a:bodyPr wrap="square" lIns="0" tIns="0" rIns="0" bIns="0" rtlCol="0" anchor="ctr"/>
          <a:lstStyle/>
          <a:p>
            <a:pPr algn="ctr" indent="0" marL="0">
              <a:buNone/>
            </a:pPr>
            <a:r>
              <a:rPr lang="en-US" sz="900" b="1" spc="100" kern="0" dirty="0">
                <a:solidFill>
                  <a:srgbClr val="BC3834"/>
                </a:solidFill>
                <a:latin typeface="IBM Plex Mono" panose="020B0509050203000203" pitchFamily="49" charset="0"/>
                <a:ea typeface="IBM Plex Mono" panose="020B0509050203000203" pitchFamily="49" charset="-122"/>
                <a:cs typeface="IBM Plex Mono" panose="020B0509050203000203" pitchFamily="49" charset="-120"/>
              </a:rPr>
              <a:t>PLANNED</a:t>
            </a:r>
            <a:endParaRPr lang="en-US" sz="900" dirty="0"/>
          </a:p>
        </p:txBody>
      </p:sp>
      <p:sp>
        <p:nvSpPr>
          <p:cNvPr id="43" name="Text 41"/>
          <p:cNvSpPr txBox="1"/>
          <p:nvPr/>
        </p:nvSpPr>
        <p:spPr>
          <a:xfrm>
            <a:off x="7379208" y="3255264"/>
            <a:ext cx="4050792" cy="658368"/>
          </a:xfrm>
          <a:prstGeom prst="rect">
            <a:avLst/>
          </a:prstGeom>
          <a:noFill/>
          <a:ln/>
        </p:spPr>
        <p:txBody>
          <a:bodyPr wrap="square" lIns="0" tIns="0" rIns="0" bIns="0" rtlCol="0" anchor="t"/>
          <a:lstStyle/>
          <a:p>
            <a:pPr indent="0" marL="0">
              <a:buNone/>
            </a:pPr>
            <a:r>
              <a:rPr lang="en-US" sz="1300" dirty="0">
                <a:solidFill>
                  <a:srgbClr val="5B6577"/>
                </a:solidFill>
                <a:latin typeface="Inter" panose="02000503000000020004" pitchFamily="34" charset="0"/>
                <a:ea typeface="Inter" panose="02000503000000020004" pitchFamily="34" charset="-122"/>
                <a:cs typeface="Inter" panose="02000503000000020004" pitchFamily="34" charset="-120"/>
              </a:rPr>
              <a:t>Harden the ledger: chains of three or more answers, means, cumulative release accounting</a:t>
            </a:r>
            <a:endParaRPr lang="en-US" sz="1300" dirty="0"/>
          </a:p>
        </p:txBody>
      </p:sp>
      <p:sp>
        <p:nvSpPr>
          <p:cNvPr id="44" name="Text 42"/>
          <p:cNvSpPr/>
          <p:nvPr/>
        </p:nvSpPr>
        <p:spPr>
          <a:xfrm>
            <a:off x="6812280" y="4014216"/>
            <a:ext cx="384048" cy="384048"/>
          </a:xfrm>
          <a:prstGeom prst="ellipse">
            <a:avLst/>
          </a:prstGeom>
          <a:solidFill>
            <a:schemeClr val="bg1"/>
          </a:solidFill>
          <a:ln w="15875">
            <a:solidFill>
              <a:schemeClr val="accent6"/>
            </a:solidFill>
          </a:ln>
        </p:spPr>
        <p:txBody>
          <a:bodyPr wrap="square" lIns="0" tIns="0" rIns="0" bIns="0" rtlCol="0" anchor="ctr"/>
          <a:lstStyle/>
          <a:p>
            <a:pPr algn="ctr" indent="0" marL="0">
              <a:buNone/>
            </a:pPr>
            <a:r>
              <a:rPr lang="en-US" sz="1050" dirty="0">
                <a:solidFill>
                  <a:schemeClr val="accent6"/>
                </a:solidFill>
                <a:latin typeface="IBM Plex Mono" panose="020B0509050203000203" pitchFamily="49" charset="0"/>
                <a:ea typeface="IBM Plex Mono" panose="020B0509050203000203" pitchFamily="49" charset="-122"/>
                <a:cs typeface="IBM Plex Mono" panose="020B0509050203000203" pitchFamily="49" charset="-120"/>
              </a:rPr>
              <a:t>03</a:t>
            </a:r>
            <a:endParaRPr lang="en-US" sz="1050" dirty="0"/>
          </a:p>
        </p:txBody>
      </p:sp>
      <p:sp>
        <p:nvSpPr>
          <p:cNvPr id="45" name="Text 43"/>
          <p:cNvSpPr txBox="1"/>
          <p:nvPr/>
        </p:nvSpPr>
        <p:spPr>
          <a:xfrm>
            <a:off x="7379208" y="4005072"/>
            <a:ext cx="1828800" cy="292608"/>
          </a:xfrm>
          <a:prstGeom prst="rect">
            <a:avLst/>
          </a:prstGeom>
          <a:noFill/>
          <a:ln/>
        </p:spPr>
        <p:txBody>
          <a:bodyPr wrap="square" lIns="0" tIns="0" rIns="0" bIns="0" rtlCol="0" anchor="t"/>
          <a:lstStyle/>
          <a:p>
            <a:pPr indent="0" marL="0">
              <a:buNone/>
            </a:pPr>
            <a:r>
              <a:rPr lang="en-US" sz="1500" b="1" dirty="0">
                <a:solidFill>
                  <a:schemeClr val="tx1"/>
                </a:solidFill>
                <a:latin typeface="Inter" panose="02000503000000020004" pitchFamily="34" charset="0"/>
                <a:ea typeface="Inter" panose="02000503000000020004" pitchFamily="34" charset="-122"/>
                <a:cs typeface="Inter" panose="02000503000000020004" pitchFamily="34" charset="-120"/>
              </a:rPr>
              <a:t>Then</a:t>
            </a:r>
            <a:endParaRPr lang="en-US" sz="1500" dirty="0"/>
          </a:p>
        </p:txBody>
      </p:sp>
      <p:sp>
        <p:nvSpPr>
          <p:cNvPr id="46" name="Roadmap 3 status"/>
          <p:cNvSpPr/>
          <p:nvPr/>
        </p:nvSpPr>
        <p:spPr>
          <a:xfrm>
            <a:off x="10479024" y="4032504"/>
            <a:ext cx="1024128" cy="237744"/>
          </a:xfrm>
          <a:prstGeom prst="roundRect">
            <a:avLst>
              <a:gd name="adj" fmla="val 50000"/>
            </a:avLst>
          </a:prstGeom>
          <a:ln w="12700">
            <a:solidFill>
              <a:srgbClr val="5B6577"/>
            </a:solidFill>
            <a:prstDash val="dash"/>
          </a:ln>
        </p:spPr>
        <p:txBody>
          <a:bodyPr/>
          <a:p/>
        </p:txBody>
      </p:sp>
      <p:sp>
        <p:nvSpPr>
          <p:cNvPr id="47" name="Roadmap 3 status text"/>
          <p:cNvSpPr txBox="1"/>
          <p:nvPr/>
        </p:nvSpPr>
        <p:spPr>
          <a:xfrm>
            <a:off x="10479024" y="4032504"/>
            <a:ext cx="1024128" cy="237744"/>
          </a:xfrm>
          <a:prstGeom prst="rect">
            <a:avLst/>
          </a:prstGeom>
          <a:noFill/>
          <a:ln/>
        </p:spPr>
        <p:txBody>
          <a:bodyPr wrap="square" lIns="0" tIns="0" rIns="0" bIns="0" rtlCol="0" anchor="ctr"/>
          <a:lstStyle/>
          <a:p>
            <a:pPr algn="ctr" indent="0" marL="0">
              <a:buNone/>
            </a:pPr>
            <a:r>
              <a:rPr lang="en-US" sz="900" b="1" spc="100" kern="0" dirty="0">
                <a:solidFill>
                  <a:srgbClr val="5B6577"/>
                </a:solidFill>
                <a:latin typeface="IBM Plex Mono" panose="020B0509050203000203" pitchFamily="49" charset="0"/>
                <a:ea typeface="IBM Plex Mono" panose="020B0509050203000203" pitchFamily="49" charset="-122"/>
                <a:cs typeface="IBM Plex Mono" panose="020B0509050203000203" pitchFamily="49" charset="-120"/>
              </a:rPr>
              <a:t>FUTURE</a:t>
            </a:r>
            <a:endParaRPr lang="en-US" sz="900" dirty="0"/>
          </a:p>
        </p:txBody>
      </p:sp>
      <p:sp>
        <p:nvSpPr>
          <p:cNvPr id="48" name="Text 46"/>
          <p:cNvSpPr txBox="1"/>
          <p:nvPr/>
        </p:nvSpPr>
        <p:spPr>
          <a:xfrm>
            <a:off x="7379208" y="4325112"/>
            <a:ext cx="4050792" cy="658368"/>
          </a:xfrm>
          <a:prstGeom prst="rect">
            <a:avLst/>
          </a:prstGeom>
          <a:noFill/>
          <a:ln/>
        </p:spPr>
        <p:txBody>
          <a:bodyPr wrap="square" lIns="0" tIns="0" rIns="0" bIns="0" rtlCol="0" anchor="t"/>
          <a:lstStyle/>
          <a:p>
            <a:pPr indent="0" marL="0">
              <a:buNone/>
            </a:pPr>
            <a:r>
              <a:rPr lang="en-US" sz="1300" dirty="0">
                <a:solidFill>
                  <a:srgbClr val="5B6577"/>
                </a:solidFill>
                <a:latin typeface="Inter" panose="02000503000000020004" pitchFamily="34" charset="0"/>
                <a:ea typeface="Inter" panose="02000503000000020004" pitchFamily="34" charset="-122"/>
                <a:cs typeface="Inter" panose="02000503000000020004" pitchFamily="34" charset="-120"/>
              </a:rPr>
              <a:t>Test the optional AI adapters against the rule-based interpreter, with documented data flows</a:t>
            </a:r>
            <a:endParaRPr lang="en-US" sz="1300" dirty="0"/>
          </a:p>
        </p:txBody>
      </p:sp>
      <p:sp>
        <p:nvSpPr>
          <p:cNvPr id="49" name="Text 47"/>
          <p:cNvSpPr/>
          <p:nvPr/>
        </p:nvSpPr>
        <p:spPr>
          <a:xfrm>
            <a:off x="6812280" y="5084064"/>
            <a:ext cx="384048" cy="384048"/>
          </a:xfrm>
          <a:prstGeom prst="ellipse">
            <a:avLst/>
          </a:prstGeom>
          <a:solidFill>
            <a:schemeClr val="bg1"/>
          </a:solidFill>
          <a:ln w="15875">
            <a:solidFill>
              <a:schemeClr val="accent6"/>
            </a:solidFill>
          </a:ln>
        </p:spPr>
        <p:txBody>
          <a:bodyPr wrap="square" lIns="0" tIns="0" rIns="0" bIns="0" rtlCol="0" anchor="ctr"/>
          <a:lstStyle/>
          <a:p>
            <a:pPr algn="ctr" indent="0" marL="0">
              <a:buNone/>
            </a:pPr>
            <a:r>
              <a:rPr lang="en-US" sz="1050" dirty="0">
                <a:solidFill>
                  <a:schemeClr val="accent6"/>
                </a:solidFill>
                <a:latin typeface="IBM Plex Mono" panose="020B0509050203000203" pitchFamily="49" charset="0"/>
                <a:ea typeface="IBM Plex Mono" panose="020B0509050203000203" pitchFamily="49" charset="-122"/>
                <a:cs typeface="IBM Plex Mono" panose="020B0509050203000203" pitchFamily="49" charset="-120"/>
              </a:rPr>
              <a:t>04</a:t>
            </a:r>
            <a:endParaRPr lang="en-US" sz="1050" dirty="0"/>
          </a:p>
        </p:txBody>
      </p:sp>
      <p:sp>
        <p:nvSpPr>
          <p:cNvPr id="50" name="Text 48"/>
          <p:cNvSpPr txBox="1"/>
          <p:nvPr/>
        </p:nvSpPr>
        <p:spPr>
          <a:xfrm>
            <a:off x="7379208" y="5074920"/>
            <a:ext cx="1828800" cy="292608"/>
          </a:xfrm>
          <a:prstGeom prst="rect">
            <a:avLst/>
          </a:prstGeom>
          <a:noFill/>
          <a:ln/>
        </p:spPr>
        <p:txBody>
          <a:bodyPr wrap="square" lIns="0" tIns="0" rIns="0" bIns="0" rtlCol="0" anchor="t"/>
          <a:lstStyle/>
          <a:p>
            <a:pPr indent="0" marL="0">
              <a:buNone/>
            </a:pPr>
            <a:r>
              <a:rPr lang="en-US" sz="1500" b="1" dirty="0">
                <a:solidFill>
                  <a:schemeClr val="tx1"/>
                </a:solidFill>
                <a:latin typeface="Inter" panose="02000503000000020004" pitchFamily="34" charset="0"/>
                <a:ea typeface="Inter" panose="02000503000000020004" pitchFamily="34" charset="-122"/>
                <a:cs typeface="Inter" panose="02000503000000020004" pitchFamily="34" charset="-120"/>
              </a:rPr>
              <a:t>Pilot</a:t>
            </a:r>
            <a:endParaRPr lang="en-US" sz="1500" dirty="0"/>
          </a:p>
        </p:txBody>
      </p:sp>
      <p:sp>
        <p:nvSpPr>
          <p:cNvPr id="51" name="Roadmap 4 status"/>
          <p:cNvSpPr/>
          <p:nvPr/>
        </p:nvSpPr>
        <p:spPr>
          <a:xfrm>
            <a:off x="10479024" y="5102352"/>
            <a:ext cx="1024128" cy="237744"/>
          </a:xfrm>
          <a:prstGeom prst="roundRect">
            <a:avLst>
              <a:gd name="adj" fmla="val 50000"/>
            </a:avLst>
          </a:prstGeom>
          <a:ln w="12700">
            <a:solidFill>
              <a:srgbClr val="5B6577"/>
            </a:solidFill>
            <a:prstDash val="dash"/>
          </a:ln>
        </p:spPr>
        <p:txBody>
          <a:bodyPr/>
          <a:p/>
        </p:txBody>
      </p:sp>
      <p:sp>
        <p:nvSpPr>
          <p:cNvPr id="52" name="Roadmap 4 status text"/>
          <p:cNvSpPr txBox="1"/>
          <p:nvPr/>
        </p:nvSpPr>
        <p:spPr>
          <a:xfrm>
            <a:off x="10479024" y="5102352"/>
            <a:ext cx="1024128" cy="237744"/>
          </a:xfrm>
          <a:prstGeom prst="rect">
            <a:avLst/>
          </a:prstGeom>
          <a:noFill/>
          <a:ln/>
        </p:spPr>
        <p:txBody>
          <a:bodyPr wrap="square" lIns="0" tIns="0" rIns="0" bIns="0" rtlCol="0" anchor="ctr"/>
          <a:lstStyle/>
          <a:p>
            <a:pPr algn="ctr" indent="0" marL="0">
              <a:buNone/>
            </a:pPr>
            <a:r>
              <a:rPr lang="en-US" sz="900" b="1" spc="100" kern="0" dirty="0">
                <a:solidFill>
                  <a:srgbClr val="5B6577"/>
                </a:solidFill>
                <a:latin typeface="IBM Plex Mono" panose="020B0509050203000203" pitchFamily="49" charset="0"/>
                <a:ea typeface="IBM Plex Mono" panose="020B0509050203000203" pitchFamily="49" charset="-122"/>
                <a:cs typeface="IBM Plex Mono" panose="020B0509050203000203" pitchFamily="49" charset="-120"/>
              </a:rPr>
              <a:t>FUTURE</a:t>
            </a:r>
            <a:endParaRPr lang="en-US" sz="900" dirty="0"/>
          </a:p>
        </p:txBody>
      </p:sp>
      <p:sp>
        <p:nvSpPr>
          <p:cNvPr id="53" name="Text 51"/>
          <p:cNvSpPr txBox="1"/>
          <p:nvPr/>
        </p:nvSpPr>
        <p:spPr>
          <a:xfrm>
            <a:off x="7379208" y="5394960"/>
            <a:ext cx="4050792" cy="658368"/>
          </a:xfrm>
          <a:prstGeom prst="rect">
            <a:avLst/>
          </a:prstGeom>
          <a:noFill/>
          <a:ln/>
        </p:spPr>
        <p:txBody>
          <a:bodyPr wrap="square" lIns="0" tIns="0" rIns="0" bIns="0" rtlCol="0" anchor="t"/>
          <a:lstStyle/>
          <a:p>
            <a:pPr indent="0" marL="0">
              <a:buNone/>
            </a:pPr>
            <a:r>
              <a:rPr lang="en-US" sz="1300" dirty="0">
                <a:solidFill>
                  <a:srgbClr val="5B6577"/>
                </a:solidFill>
                <a:latin typeface="Inter" panose="02000503000000020004" pitchFamily="34" charset="0"/>
                <a:ea typeface="Inter" panose="02000503000000020004" pitchFamily="34" charset="-122"/>
                <a:cs typeface="Inter" panose="02000503000000020004" pitchFamily="34" charset="-120"/>
              </a:rPr>
              <a:t>With access-body staff and researchers, on harmonised real-world data</a:t>
            </a:r>
            <a:endParaRPr lang="en-US" sz="1300" dirty="0"/>
          </a:p>
        </p:txBody>
      </p:sp>
      <p:sp>
        <p:nvSpPr>
          <p:cNvPr id="25" name="Slide Number Placeholder 0"/>
          <p:cNvSpPr>
            <a:spLocks noGrp="1"/>
          </p:cNvSpPr>
          <p:nvPr>
            <p:ph type="sldNum" sz="quarter" idx="4294967295"/>
          </p:nvPr>
        </p:nvSpPr>
        <p:spPr>
          <a:xfrm>
            <a:off x="11045952" y="6373368"/>
            <a:ext cx="45720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B6577"/>
                </a:solidFill>
                <a:latin typeface="IBM Plex Mono" panose="020B0509050203000203" pitchFamily="49" charset="0"/>
                <a:ea typeface="IBM Plex Mono" panose="020B0509050203000203" pitchFamily="49" charset="0"/>
                <a:cs typeface="IBM Plex Mono" panose="020B0509050203000203" pitchFamily="49" charset="0"/>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Gateway Pitch">
  <a:themeElements>
    <a:clrScheme name="Gateway Pitch">
      <a:dk1>
        <a:srgbClr val="0E2848"/>
      </a:dk1>
      <a:lt1>
        <a:srgbClr val="FAFAF8"/>
      </a:lt1>
      <a:dk2>
        <a:srgbClr val="15335A"/>
      </a:dk2>
      <a:lt2>
        <a:srgbClr val="F0EEEA"/>
      </a:lt2>
      <a:accent1>
        <a:srgbClr val="BDB3F6"/>
      </a:accent1>
      <a:accent2>
        <a:srgbClr val="EEEAF8"/>
      </a:accent2>
      <a:accent3>
        <a:srgbClr val="EAF2F0"/>
      </a:accent3>
      <a:accent4>
        <a:srgbClr val="FAEEE8"/>
      </a:accent4>
      <a:accent5>
        <a:srgbClr val="F2675C"/>
      </a:accent5>
      <a:accent6>
        <a:srgbClr val="5A5CC8"/>
      </a:accent6>
      <a:hlink>
        <a:srgbClr val="5A5CC8"/>
      </a:hlink>
      <a:folHlink>
        <a:srgbClr val="4B4DB8"/>
      </a:folHlink>
    </a:clrScheme>
    <a:fontScheme name="Gateway Pitch">
      <a:majorFont>
        <a:latin typeface="Instrument Serif" panose="02020603050405020304" pitchFamily="18"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000503000000020004"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Health Data Access Gateway</dc:title>
  <dc:subject>AIM Healthcare Hackathon Vienna 2026, Track 3: European Health Data Space</dc:subject>
  <dc:creator>Intelligent Health Data Access Gateway team</dc:creator>
  <cp:lastModifiedBy>Intelligent Health Data Access Gateway team</cp:lastModifiedBy>
  <cp:revision>1</cp:revision>
  <dcterms:created xsi:type="dcterms:W3CDTF">2026-10-30T09:04:47Z</dcterms:created>
  <dcterms:modified xsi:type="dcterms:W3CDTF">2026-10-30T09:04:47Z</dcterms:modified>
</cp:coreProperties>
</file>